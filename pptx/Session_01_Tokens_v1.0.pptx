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73" r:id="rId3"/>
    <p:sldId id="274" r:id="rId4"/>
    <p:sldId id="256" r:id="rId5"/>
    <p:sldId id="257" r:id="rId6"/>
    <p:sldId id="258" r:id="rId7"/>
    <p:sldId id="259" r:id="rId8"/>
    <p:sldId id="267" r:id="rId9"/>
    <p:sldId id="260" r:id="rId10"/>
    <p:sldId id="268" r:id="rId11"/>
    <p:sldId id="275" r:id="rId12"/>
    <p:sldId id="261" r:id="rId13"/>
    <p:sldId id="269" r:id="rId14"/>
    <p:sldId id="262" r:id="rId15"/>
    <p:sldId id="276" r:id="rId16"/>
    <p:sldId id="277" r:id="rId17"/>
    <p:sldId id="263" r:id="rId18"/>
    <p:sldId id="270" r:id="rId19"/>
    <p:sldId id="271" r:id="rId20"/>
    <p:sldId id="272" r:id="rId21"/>
    <p:sldId id="264" r:id="rId22"/>
    <p:sldId id="265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126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0216-417D-AA01-6848-0003ED35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8801" y="4800600"/>
            <a:ext cx="5486400" cy="566738"/>
          </a:xfrm>
        </p:spPr>
        <p:txBody>
          <a:bodyPr>
            <a:normAutofit fontScale="90000"/>
          </a:bodyPr>
          <a:lstStyle/>
          <a:p>
            <a:r>
              <a:rPr lang="en-US" dirty="0"/>
              <a:t>MAGPAI </a:t>
            </a:r>
            <a:br>
              <a:rPr lang="en-US" dirty="0"/>
            </a:br>
            <a:r>
              <a:rPr lang="en-US" dirty="0"/>
              <a:t> </a:t>
            </a:r>
            <a:r>
              <a:rPr lang="en-US" sz="1100" b="0" dirty="0"/>
              <a:t>( mag practical AI , pronounced </a:t>
            </a:r>
            <a:r>
              <a:rPr lang="en-US" sz="1050" b="0" dirty="0"/>
              <a:t>(/ˈ</a:t>
            </a:r>
            <a:r>
              <a:rPr lang="en-US" sz="1050" b="0" dirty="0" err="1"/>
              <a:t>mæɡ.paɪ</a:t>
            </a:r>
            <a:r>
              <a:rPr lang="en-US" sz="1050" b="0" dirty="0"/>
              <a:t>/) </a:t>
            </a:r>
            <a:r>
              <a:rPr lang="en-US" sz="1100" b="0" dirty="0"/>
              <a:t>)</a:t>
            </a:r>
            <a:endParaRPr lang="en-US" b="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C56227F-0E35-3518-A770-5486C9C41A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333" r="3333"/>
          <a:stretch>
            <a:fillRect/>
          </a:stretch>
        </p:blipFill>
        <p:spPr>
          <a:xfrm>
            <a:off x="3068801" y="612775"/>
            <a:ext cx="5486400" cy="411480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1F9436-B15D-60B6-5226-1A31DDDD2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8801" y="5564188"/>
            <a:ext cx="5486400" cy="107200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AI Under the Hood</a:t>
            </a:r>
          </a:p>
          <a:p>
            <a:r>
              <a:rPr lang="en-US" dirty="0"/>
              <a:t>Text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Tokens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Vectors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Model Input</a:t>
            </a:r>
          </a:p>
          <a:p>
            <a:endParaRPr lang="en-US" dirty="0"/>
          </a:p>
          <a:p>
            <a:r>
              <a:rPr lang="en-US" dirty="0"/>
              <a:t>Vasilis Katsoulis</a:t>
            </a:r>
          </a:p>
        </p:txBody>
      </p:sp>
    </p:spTree>
    <p:extLst>
      <p:ext uri="{BB962C8B-B14F-4D97-AF65-F5344CB8AC3E}">
        <p14:creationId xmlns:p14="http://schemas.microsoft.com/office/powerpoint/2010/main" val="262881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tretch>
            <a:fillRect/>
          </a:stretch>
        </p:blipFill>
        <p:spPr>
          <a:xfrm>
            <a:off x="1158844" y="274320"/>
            <a:ext cx="10933567" cy="6199603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2</a:t>
            </a:r>
          </a:p>
        </p:txBody>
      </p:sp>
      <p:sp>
        <p:nvSpPr>
          <p:cNvPr id="91" name="MAGPAI Session 1 Start Badge"/>
          <p:cNvSpPr txBox="1"/>
          <p:nvPr/>
        </p:nvSpPr>
        <p:spPr>
          <a:xfrm>
            <a:off x="99589" y="233597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92" name="MAGPAI Session 1 Start Arrow"/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rcRect/>
          <a:stretch/>
        </p:blipFill>
        <p:spPr>
          <a:xfrm>
            <a:off x="1204110" y="316871"/>
            <a:ext cx="10782677" cy="6083929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3</a:t>
            </a:r>
          </a:p>
        </p:txBody>
      </p:sp>
      <p:sp>
        <p:nvSpPr>
          <p:cNvPr id="4" name="MAGPAI Session 1 Start Badge">
            <a:extLst>
              <a:ext uri="{FF2B5EF4-FFF2-40B4-BE49-F238E27FC236}">
                <a16:creationId xmlns:a16="http://schemas.microsoft.com/office/drawing/2014/main" id="{73AA6902-7D46-F48F-D8C4-EB89E4E0A335}"/>
              </a:ext>
            </a:extLst>
          </p:cNvPr>
          <p:cNvSpPr txBox="1"/>
          <p:nvPr/>
        </p:nvSpPr>
        <p:spPr>
          <a:xfrm>
            <a:off x="15391" y="244558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5" name="MAGPAI Session 1 Start Arrow">
            <a:extLst>
              <a:ext uri="{FF2B5EF4-FFF2-40B4-BE49-F238E27FC236}">
                <a16:creationId xmlns:a16="http://schemas.microsoft.com/office/drawing/2014/main" id="{D6613EED-CF3E-7623-A36B-7277C0E96ABD}"/>
              </a:ext>
            </a:extLst>
          </p:cNvPr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189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50842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MAGPAI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From Sentence to Tokens to Vectors -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B2F5B"/>
                </a:solidFill>
              </a:defRPr>
            </a:pPr>
            <a:r>
              <a:t>How Text Becomes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88975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Core idea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AI models do not read words directly. They process numeric patterns.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rPr dirty="0"/>
              <a:t>AI Under the hood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People read words. Neural-network models process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71600"/>
            <a:ext cx="10623336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Text -&gt; Tokens -&gt; Token IDs -&gt; Vectors -&gt; Neural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Human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We see words, grammar, context, and meaning.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5928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Model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Here, model means a machine-learning model: a learned function that takes numbers as input and computes an output.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2CEB0B-E878-A3E2-5B4E-510F733B5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139101"/>
            <a:ext cx="4711876" cy="17619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55323B-2384-715E-3E27-8FFF6BD7F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4" y="4015827"/>
            <a:ext cx="3666948" cy="26867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Starting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A simple business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737360"/>
            <a:ext cx="1014984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3000">
                <a:solidFill>
                  <a:srgbClr val="172B4D"/>
                </a:solidFill>
                <a:latin typeface="Consolas"/>
              </a:defRPr>
            </a:pPr>
            <a:r>
              <a:rPr dirty="0"/>
              <a:t>"</a:t>
            </a:r>
            <a:r>
              <a:rPr lang="en-US" dirty="0"/>
              <a:t>are MAG s</a:t>
            </a:r>
            <a:r>
              <a:rPr dirty="0"/>
              <a:t>ales up in chicago?"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108960"/>
            <a:ext cx="10149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  <a:endParaRPr dirty="0"/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This looks simple to us, but the model cannot process this raw English sentence directly. It first has to be converted into a numeric representation.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1 -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Break the sentence into known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rPr dirty="0"/>
              <a:t>Demo simplification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rPr dirty="0"/>
              <a:t>For </a:t>
            </a:r>
            <a:r>
              <a:rPr lang="en-US" dirty="0"/>
              <a:t>this s</a:t>
            </a:r>
            <a:r>
              <a:rPr dirty="0"/>
              <a:t>ession, we use word-level tokens </a:t>
            </a:r>
            <a:r>
              <a:rPr lang="en-US" dirty="0"/>
              <a:t>to </a:t>
            </a:r>
            <a:r>
              <a:rPr dirty="0"/>
              <a:t>make the concept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Real LLM tokenizers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Real tokenizers may use word pieces, subwords, punctuation, spaces, and special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Are Tokens and Tokenizers?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tokenizer is the first translation step</a:t>
            </a:r>
          </a:p>
        </p:txBody>
      </p:sp>
      <p:sp>
        <p:nvSpPr>
          <p:cNvPr id="4" name="Token Card"/>
          <p:cNvSpPr/>
          <p:nvPr/>
        </p:nvSpPr>
        <p:spPr>
          <a:xfrm>
            <a:off x="82296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 is a known text piece the model can look up: a word, word piece, punctuation mark, or special marker.</a:t>
            </a:r>
          </a:p>
        </p:txBody>
      </p:sp>
      <p:sp>
        <p:nvSpPr>
          <p:cNvPr id="5" name="Tokenizer Card"/>
          <p:cNvSpPr/>
          <p:nvPr/>
        </p:nvSpPr>
        <p:spPr>
          <a:xfrm>
            <a:off x="438912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Tokenizer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tokenizer is the rule or system that breaks raw text into tokens and prepares them for lookup.</a:t>
            </a:r>
          </a:p>
        </p:txBody>
      </p:sp>
      <p:sp>
        <p:nvSpPr>
          <p:cNvPr id="6" name="Demo Rule Card"/>
          <p:cNvSpPr/>
          <p:nvPr/>
        </p:nvSpPr>
        <p:spPr>
          <a:xfrm>
            <a:off x="795528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rule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Input:  are MAG sales up in chicago?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Tokens: ["are", "MAG", "sales", "up", "in", "chicago", "?"]</a:t>
            </a:r>
          </a:p>
        </p:txBody>
      </p:sp>
      <p:sp>
        <p:nvSpPr>
          <p:cNvPr id="7" name="Key takeaway"/>
          <p:cNvSpPr/>
          <p:nvPr/>
        </p:nvSpPr>
        <p:spPr>
          <a:xfrm>
            <a:off x="822960" y="5788152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Tokenization does not understand meaning yet. It creates stable pieces that can be mapped to IDs.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8</a:t>
            </a:r>
          </a:p>
        </p:txBody>
      </p:sp>
      <p:sp>
        <p:nvSpPr>
          <p:cNvPr id="8" name="Token Card">
            <a:extLst>
              <a:ext uri="{FF2B5EF4-FFF2-40B4-BE49-F238E27FC236}">
                <a16:creationId xmlns:a16="http://schemas.microsoft.com/office/drawing/2014/main" id="{C1C42F9A-1A19-5862-1361-FF3109AFEA5F}"/>
              </a:ext>
            </a:extLst>
          </p:cNvPr>
          <p:cNvSpPr/>
          <p:nvPr/>
        </p:nvSpPr>
        <p:spPr>
          <a:xfrm>
            <a:off x="1645920" y="7237477"/>
            <a:ext cx="1042416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  <p:pic>
        <p:nvPicPr>
          <p:cNvPr id="1025" name="Picture 2">
            <a:extLst>
              <a:ext uri="{FF2B5EF4-FFF2-40B4-BE49-F238E27FC236}">
                <a16:creationId xmlns:a16="http://schemas.microsoft.com/office/drawing/2014/main" id="{4F95BBDA-590B-270B-BC04-AF1E191FAA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" y="3266555"/>
            <a:ext cx="6651625" cy="525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6167B4C7-FC18-6352-3591-BE6185B06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8081" y="3956758"/>
            <a:ext cx="6142387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 set of all tokens a model can work with is called the model’s 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</a:rPr>
              <a:t>vocabulary</a:t>
            </a: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.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process of breaking an original text into tokens is called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tokenization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. </a:t>
            </a:r>
          </a:p>
          <a:p>
            <a:endParaRPr lang="en-US" sz="1400" dirty="0"/>
          </a:p>
          <a:p>
            <a:r>
              <a:rPr lang="en-US" sz="1400" dirty="0"/>
              <a:t>An example phrase is:</a:t>
            </a:r>
          </a:p>
          <a:p>
            <a:r>
              <a:rPr lang="en-US" sz="1400" b="1" dirty="0"/>
              <a:t>“The unbelievable replay was replayed unbelievably.”</a:t>
            </a:r>
            <a:endParaRPr lang="en-US" sz="1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was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ed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ly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The model can store </a:t>
            </a:r>
            <a:r>
              <a:rPr lang="en-US" sz="1400" u="sng" dirty="0"/>
              <a:t>reusable token fragments</a:t>
            </a:r>
            <a:endParaRPr kumimoji="0" lang="en-US" altLang="en-US" sz="14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802190-2FB1-3317-D97F-381C8AC829A6}"/>
              </a:ext>
            </a:extLst>
          </p:cNvPr>
          <p:cNvSpPr txBox="1"/>
          <p:nvPr/>
        </p:nvSpPr>
        <p:spPr>
          <a:xfrm>
            <a:off x="822960" y="3755395"/>
            <a:ext cx="60975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/>
              <a:t>An example of how GPT-4 tokenizes a phrase.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2 - Token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Use the vocabulary lookup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21208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Vocabulary</a:t>
            </a:r>
            <a:br>
              <a:rPr dirty="0"/>
            </a:br>
            <a:br>
              <a:rPr dirty="0"/>
            </a:br>
            <a:r>
              <a:rPr dirty="0"/>
              <a:t>"&lt;PAD&gt;"   -&gt; 0</a:t>
            </a:r>
            <a:br>
              <a:rPr dirty="0"/>
            </a:br>
            <a:r>
              <a:rPr dirty="0"/>
              <a:t>"are"     -&gt; 1</a:t>
            </a:r>
            <a:br>
              <a:rPr dirty="0"/>
            </a:br>
            <a:r>
              <a:rPr dirty="0"/>
              <a:t>"MAG"     -&gt; 2</a:t>
            </a:r>
            <a:br>
              <a:rPr dirty="0"/>
            </a:br>
            <a:r>
              <a:rPr dirty="0"/>
              <a:t>"sales"   -&gt; 3</a:t>
            </a:r>
            <a:br>
              <a:rPr dirty="0"/>
            </a:br>
            <a:r>
              <a:rPr dirty="0"/>
              <a:t>"up"      -&gt; 4</a:t>
            </a:r>
            <a:br>
              <a:rPr dirty="0"/>
            </a:br>
            <a:r>
              <a:rPr dirty="0"/>
              <a:t>"in"      -&gt; 5</a:t>
            </a:r>
            <a:br>
              <a:rPr dirty="0"/>
            </a:br>
            <a:r>
              <a:rPr dirty="0"/>
              <a:t>"chicago" -&gt; 6</a:t>
            </a:r>
            <a:br>
              <a:rPr dirty="0"/>
            </a:br>
            <a:r>
              <a:rPr dirty="0"/>
              <a:t>"?"       -&gt;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34440"/>
            <a:ext cx="493776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  <a:br>
              <a:rPr dirty="0"/>
            </a:br>
            <a:r>
              <a:rPr dirty="0"/>
              <a:t>        </a:t>
            </a:r>
            <a:r>
              <a:rPr lang="en-US" dirty="0"/>
              <a:t>↓</a:t>
            </a:r>
            <a:br>
              <a:rPr dirty="0"/>
            </a:br>
            <a:r>
              <a:rPr dirty="0"/>
              <a:t>[1, 2, 3, 4, 5, 6, 7]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tokenizer does not define meaning. It maps known text pieces to integer 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an Embedding?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learned table that turns token IDs into numeric rows</a:t>
            </a:r>
          </a:p>
        </p:txBody>
      </p:sp>
      <p:sp>
        <p:nvSpPr>
          <p:cNvPr id="4" name="Definition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Embedding table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An embedding table is a matrix learned during training. Each token ID selects one row from that matrix.</a:t>
            </a:r>
          </a:p>
        </p:txBody>
      </p:sp>
      <p:sp>
        <p:nvSpPr>
          <p:cNvPr id="5" name="Example Table"/>
          <p:cNvSpPr/>
          <p:nvPr/>
        </p:nvSpPr>
        <p:spPr>
          <a:xfrm>
            <a:off x="4846320" y="1188720"/>
            <a:ext cx="5760720" cy="256032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Tiny example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ID   token      vector row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    are        [ 0.21, -0.44,  0.78,  0.12]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    MAG        [ 0.03,  0.91, -0.14,  0.36]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    sales      [-0.62,  0.18, 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55778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During inference, we do not calculate these numbers from spelling. We look up the learned row.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10</a:t>
            </a:r>
          </a:p>
        </p:txBody>
      </p:sp>
      <p:sp>
        <p:nvSpPr>
          <p:cNvPr id="9" name="Definition">
            <a:extLst>
              <a:ext uri="{FF2B5EF4-FFF2-40B4-BE49-F238E27FC236}">
                <a16:creationId xmlns:a16="http://schemas.microsoft.com/office/drawing/2014/main" id="{0FCD2D10-DB6A-EBB2-1E45-F3B0AF2ABB4B}"/>
              </a:ext>
            </a:extLst>
          </p:cNvPr>
          <p:cNvSpPr/>
          <p:nvPr/>
        </p:nvSpPr>
        <p:spPr>
          <a:xfrm>
            <a:off x="822959" y="3831882"/>
            <a:ext cx="9784081" cy="1654518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A neural network contains a gigantic Embedding table matrix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Example dimensions:  Vocabulary size * Embedding dimension</a:t>
            </a: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GPT4                                            100,256          *               1,536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Meaning: each token is represented by 1,536 floating point numbers</a:t>
            </a:r>
            <a:endParaRPr lang="en-US" sz="1550" dirty="0">
              <a:latin typeface="Aptos" panose="020B0004020202020204" pitchFamily="34" charset="0"/>
            </a:endParaRPr>
          </a:p>
          <a:p>
            <a:pPr algn="l">
              <a:defRPr sz="1750"/>
            </a:pPr>
            <a:endParaRPr sz="1750" dirty="0">
              <a:solidFill>
                <a:srgbClr val="0B2F5B"/>
              </a:solidFill>
              <a:latin typeface="Aptos"/>
            </a:endParaRPr>
          </a:p>
          <a:p>
            <a:pPr algn="l">
              <a:defRPr sz="15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2600"/>
            </a:pPr>
            <a:r>
              <a:rPr sz="2600" b="1" dirty="0">
                <a:solidFill>
                  <a:srgbClr val="0B2F5B"/>
                </a:solidFill>
                <a:latin typeface="Aptos"/>
              </a:rPr>
              <a:t>Embeddings: Learned Geometric Coordinates of Meaning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94360" y="777240"/>
            <a:ext cx="1082040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550"/>
            </a:pPr>
            <a:r>
              <a:rPr sz="1550" dirty="0">
                <a:solidFill>
                  <a:srgbClr val="52616B"/>
                </a:solidFill>
                <a:latin typeface="Aptos"/>
              </a:rPr>
              <a:t>Training turns random vectors into a map where distance carries semantics.</a:t>
            </a:r>
          </a:p>
        </p:txBody>
      </p:sp>
      <p:sp>
        <p:nvSpPr>
          <p:cNvPr id="4" name="Initially Random"/>
          <p:cNvSpPr/>
          <p:nvPr/>
        </p:nvSpPr>
        <p:spPr>
          <a:xfrm>
            <a:off x="640080" y="1280160"/>
            <a:ext cx="329184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Initially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MAG  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sales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Chicago = [random garbage]</a:t>
            </a:r>
          </a:p>
        </p:txBody>
      </p:sp>
      <p:sp>
        <p:nvSpPr>
          <p:cNvPr id="5" name="Training Contexts"/>
          <p:cNvSpPr/>
          <p:nvPr/>
        </p:nvSpPr>
        <p:spPr>
          <a:xfrm>
            <a:off x="4389120" y="1280160"/>
            <a:ext cx="320040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During training</a:t>
            </a:r>
          </a:p>
          <a:p>
            <a:pPr algn="l">
              <a:defRPr sz="1350"/>
            </a:pPr>
            <a:r>
              <a:rPr sz="1350" dirty="0">
                <a:solidFill>
                  <a:srgbClr val="172B4D"/>
                </a:solidFill>
                <a:latin typeface="Consolas"/>
              </a:rPr>
              <a:t>sales up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sales increased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revenue growth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Chicago region</a:t>
            </a:r>
          </a:p>
        </p:txBody>
      </p:sp>
      <p:sp>
        <p:nvSpPr>
          <p:cNvPr id="6" name="Geometry Meaning"/>
          <p:cNvSpPr/>
          <p:nvPr/>
        </p:nvSpPr>
        <p:spPr>
          <a:xfrm>
            <a:off x="8138160" y="1280160"/>
            <a:ext cx="3200400" cy="1737360"/>
          </a:xfrm>
          <a:prstGeom prst="roundRect">
            <a:avLst/>
          </a:prstGeom>
          <a:solidFill>
            <a:srgbClr val="EAF3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Backprop moves vectors</a:t>
            </a:r>
          </a:p>
          <a:p>
            <a:pPr algn="l">
              <a:defRPr sz="1375"/>
            </a:pPr>
            <a:r>
              <a:rPr sz="1375" dirty="0">
                <a:solidFill>
                  <a:srgbClr val="172B4D"/>
                </a:solidFill>
                <a:latin typeface="Aptos"/>
              </a:rPr>
              <a:t>similar words move closer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unrelated words move apart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geometry stores meaning</a:t>
            </a:r>
          </a:p>
        </p:txBody>
      </p:sp>
      <p:sp>
        <p:nvSpPr>
          <p:cNvPr id="7" name="Visual Intuition"/>
          <p:cNvSpPr/>
          <p:nvPr/>
        </p:nvSpPr>
        <p:spPr>
          <a:xfrm>
            <a:off x="640080" y="3370320"/>
            <a:ext cx="50292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Visual intuition: distances encode relationships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king   (2, 9, 4)    queen  (2, 9, 5)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man    (1, 4, 3)    woman  (1, 4, 4)</a:t>
            </a:r>
          </a:p>
          <a:p>
            <a:pPr algn="l">
              <a:defRPr sz="1550"/>
            </a:pPr>
            <a:r>
              <a:rPr sz="1550" b="1" dirty="0">
                <a:solidFill>
                  <a:srgbClr val="0B5CAD"/>
                </a:solidFill>
                <a:latin typeface="Consolas"/>
              </a:rPr>
              <a:t>king - man + woman ~= queen</a:t>
            </a:r>
          </a:p>
        </p:txBody>
      </p:sp>
      <p:sp>
        <p:nvSpPr>
          <p:cNvPr id="8" name="Sentence Embeddings"/>
          <p:cNvSpPr/>
          <p:nvPr/>
        </p:nvSpPr>
        <p:spPr>
          <a:xfrm>
            <a:off x="5989320" y="3370320"/>
            <a:ext cx="5394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Sentence embeddings combine token vectors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Aptos"/>
              </a:rPr>
              <a:t>averaging | attention | transformers | pooling</a:t>
            </a:r>
          </a:p>
          <a:p>
            <a:pPr algn="l">
              <a:defRPr sz="1200"/>
            </a:pPr>
            <a:r>
              <a:rPr sz="1200" dirty="0">
                <a:solidFill>
                  <a:srgbClr val="172B4D"/>
                </a:solidFill>
                <a:latin typeface="Consolas"/>
              </a:rPr>
              <a:t>"MAG sales are up in Chicago"</a:t>
            </a:r>
            <a:br/>
            <a:r>
              <a:rPr sz="1200" dirty="0">
                <a:solidFill>
                  <a:srgbClr val="172B4D"/>
                </a:solidFill>
                <a:latin typeface="Consolas"/>
              </a:rPr>
              <a:t>-&gt; [0.192, -0.551, 0.882, ... 1536 dims ...]</a:t>
            </a:r>
          </a:p>
          <a:p>
            <a:pPr algn="l">
              <a:defRPr sz="1225"/>
            </a:pPr>
            <a:r>
              <a:rPr sz="1225" dirty="0">
                <a:solidFill>
                  <a:srgbClr val="52616B"/>
                </a:solidFill>
                <a:latin typeface="Aptos"/>
              </a:rPr>
              <a:t>captures business context, trend, location, and organization semantics</a:t>
            </a:r>
          </a:p>
        </p:txBody>
      </p:sp>
      <p:sp>
        <p:nvSpPr>
          <p:cNvPr id="9" name="Why This Works"/>
          <p:cNvSpPr/>
          <p:nvPr/>
        </p:nvSpPr>
        <p:spPr>
          <a:xfrm>
            <a:off x="914400" y="5791200"/>
            <a:ext cx="10393680" cy="5486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Why it works: language has statistical structure. Context patterns -&gt; geometric relationships. Foundation for Word2Vec, GloVe, BERT, GPT, and LLMs.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Embedding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Token IDs become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1 -&gt; [ 0.21, -0.44,  0.78,  0.12]</a:t>
            </a:r>
            <a:br>
              <a:rPr dirty="0"/>
            </a:br>
            <a:r>
              <a:rPr dirty="0"/>
              <a:t>2 -&gt; [ 0.03,  0.91, -0.14,  0.36]</a:t>
            </a:r>
            <a:br>
              <a:rPr dirty="0"/>
            </a:br>
            <a:r>
              <a:rPr dirty="0"/>
              <a:t>3 -&gt; [-0.62,  0.18, 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5288128"/>
            <a:ext cx="10424160" cy="10972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 ID is an index. It selects a row from the embedding matrix. The selected row is the token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12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4D62C980-9521-DFEE-0DCD-FEEC67E8FE40}"/>
              </a:ext>
            </a:extLst>
          </p:cNvPr>
          <p:cNvSpPr/>
          <p:nvPr/>
        </p:nvSpPr>
        <p:spPr>
          <a:xfrm>
            <a:off x="883920" y="3307531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lang="en-US" dirty="0"/>
              <a:t>Conceptually: </a:t>
            </a:r>
            <a:r>
              <a:rPr lang="en-US" dirty="0" err="1"/>
              <a:t>EmbeddingMatrix</a:t>
            </a:r>
            <a:r>
              <a:rPr lang="en-US" dirty="0"/>
              <a:t>[ </a:t>
            </a:r>
            <a:r>
              <a:rPr lang="en-US" dirty="0" err="1"/>
              <a:t>token_id</a:t>
            </a:r>
            <a:r>
              <a:rPr lang="en-US" dirty="0"/>
              <a:t> ] returns a vector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Vector?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compact list of numbers the neural network can compute with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sales vector: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[-0.62, 0.18, 0.45, -0.09]</a:t>
            </a:r>
          </a:p>
        </p:txBody>
      </p:sp>
      <p:sp>
        <p:nvSpPr>
          <p:cNvPr id="5" name="Algorithm"/>
          <p:cNvSpPr/>
          <p:nvPr/>
        </p:nvSpPr>
        <p:spPr>
          <a:xfrm>
            <a:off x="4846320" y="1188720"/>
            <a:ext cx="5760720" cy="23774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algorithm for sales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1. Token: "sales"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2. Vocabulary lookup: "sales" -&gt; 3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3. Embedding lookup: E[3]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4. Output</a:t>
            </a:r>
            <a:r>
              <a:rPr lang="en-US" sz="1500" dirty="0">
                <a:solidFill>
                  <a:srgbClr val="172B4D"/>
                </a:solidFill>
                <a:latin typeface="Consolas"/>
              </a:rPr>
              <a:t> Vector</a:t>
            </a:r>
            <a:r>
              <a:rPr sz="1500" dirty="0">
                <a:solidFill>
                  <a:srgbClr val="172B4D"/>
                </a:solidFill>
                <a:latin typeface="Consolas"/>
              </a:rPr>
              <a:t>: [-0.62, 0.18,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4346840"/>
            <a:ext cx="9966960" cy="1807072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  <a:endParaRPr lang="en-US" sz="185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A vector is the numeric representation that moves forward. 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The values are learned, then selected by ID.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lang="en-US" sz="1700" dirty="0">
                <a:solidFill>
                  <a:srgbClr val="172B4D"/>
                </a:solidFill>
                <a:latin typeface="Aptos"/>
              </a:rPr>
              <a:t>The word “Sales” </a:t>
            </a:r>
            <a:r>
              <a:rPr lang="en-US" sz="1700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now is a point in multidimensional space</a:t>
            </a:r>
            <a:r>
              <a:rPr lang="en-US" sz="1700" dirty="0">
                <a:solidFill>
                  <a:srgbClr val="172B4D"/>
                </a:solidFill>
                <a:latin typeface="Aptos"/>
              </a:rPr>
              <a:t>.</a:t>
            </a:r>
            <a:endParaRPr sz="1700" dirty="0">
              <a:solidFill>
                <a:srgbClr val="172B4D"/>
              </a:solidFill>
              <a:latin typeface="Aptos"/>
            </a:endParaRP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557774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How Token ID </a:t>
            </a:r>
            <a:r>
              <a:rPr lang="en-US" dirty="0"/>
              <a:t>3</a:t>
            </a:r>
            <a:r>
              <a:rPr dirty="0"/>
              <a:t> Becomes a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algorithm is a row lookup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289" y="1234440"/>
            <a:ext cx="3062113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Token ID </a:t>
            </a:r>
            <a:r>
              <a:rPr lang="en-US" dirty="0"/>
              <a:t>3</a:t>
            </a:r>
            <a:endParaRPr dirty="0"/>
          </a:p>
        </p:txBody>
      </p:sp>
      <p:cxnSp>
        <p:nvCxnSpPr>
          <p:cNvPr id="5" name="Connector 4"/>
          <p:cNvCxnSpPr>
            <a:cxnSpLocks/>
          </p:cNvCxnSpPr>
          <p:nvPr/>
        </p:nvCxnSpPr>
        <p:spPr>
          <a:xfrm>
            <a:off x="3793402" y="1691640"/>
            <a:ext cx="67564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96474" y="1234440"/>
            <a:ext cx="2485901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E[</a:t>
            </a:r>
            <a:r>
              <a:rPr lang="en-US" dirty="0"/>
              <a:t>3</a:t>
            </a:r>
            <a:r>
              <a:rPr dirty="0"/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82375" y="1691640"/>
            <a:ext cx="68580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8174" y="1228555"/>
            <a:ext cx="3670385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-0.62,  0.18,  0.45, -0.09</a:t>
            </a:r>
            <a:r>
              <a:rPr dirty="0"/>
              <a:t>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104241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Important distinction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integer </a:t>
            </a:r>
            <a:r>
              <a:rPr lang="en-US" dirty="0"/>
              <a:t>3</a:t>
            </a:r>
            <a:r>
              <a:rPr dirty="0"/>
              <a:t> does not contain the meaning of “sales.” It points to a learned row in the embedding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365760"/>
            <a:ext cx="865717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B2F5B"/>
                </a:solidFill>
                <a:latin typeface="Aptos"/>
              </a:defRPr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Embeddings Become 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Neural Network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Activations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5E6C84"/>
                </a:solidFill>
                <a:latin typeface="Aptos"/>
              </a:defRPr>
            </a:pPr>
            <a:r>
              <a:rPr sz="1600">
                <a:solidFill>
                  <a:srgbClr val="5E6C84"/>
                </a:solidFill>
                <a:latin typeface="Aptos"/>
              </a:rPr>
              <a:t>The vectors are the live numeric input flowing into the neural network</a:t>
            </a:r>
          </a:p>
        </p:txBody>
      </p:sp>
      <p:sp>
        <p:nvSpPr>
          <p:cNvPr id="4" name="Text"/>
          <p:cNvSpPr/>
          <p:nvPr/>
        </p:nvSpPr>
        <p:spPr>
          <a:xfrm>
            <a:off x="365760" y="1548384"/>
            <a:ext cx="1371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Text</a:t>
            </a:r>
          </a:p>
        </p:txBody>
      </p:sp>
      <p:sp>
        <p:nvSpPr>
          <p:cNvPr id="5" name="Arrow"/>
          <p:cNvSpPr txBox="1"/>
          <p:nvPr/>
        </p:nvSpPr>
        <p:spPr>
          <a:xfrm>
            <a:off x="179832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Token IDs"/>
          <p:cNvSpPr/>
          <p:nvPr/>
        </p:nvSpPr>
        <p:spPr>
          <a:xfrm>
            <a:off x="2164080" y="1548384"/>
            <a:ext cx="16459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Token IDs</a:t>
            </a:r>
          </a:p>
        </p:txBody>
      </p:sp>
      <p:sp>
        <p:nvSpPr>
          <p:cNvPr id="7" name="Arrow"/>
          <p:cNvSpPr txBox="1"/>
          <p:nvPr/>
        </p:nvSpPr>
        <p:spPr>
          <a:xfrm>
            <a:off x="39014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8" name="Embeddings"/>
          <p:cNvSpPr/>
          <p:nvPr/>
        </p:nvSpPr>
        <p:spPr>
          <a:xfrm>
            <a:off x="4267200" y="1487520"/>
            <a:ext cx="2133600" cy="89916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Embeddings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>
                <a:solidFill>
                  <a:srgbClr val="172B4D"/>
                </a:solidFill>
                <a:latin typeface="Aptos"/>
              </a:rPr>
              <a:t>vectors</a:t>
            </a:r>
          </a:p>
        </p:txBody>
      </p:sp>
      <p:sp>
        <p:nvSpPr>
          <p:cNvPr id="9" name="Arrow"/>
          <p:cNvSpPr txBox="1"/>
          <p:nvPr/>
        </p:nvSpPr>
        <p:spPr>
          <a:xfrm>
            <a:off x="64922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10" name="Transformer"/>
          <p:cNvSpPr/>
          <p:nvPr/>
        </p:nvSpPr>
        <p:spPr>
          <a:xfrm>
            <a:off x="6858000" y="1487520"/>
            <a:ext cx="2438400" cy="899160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Transformer A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rtificial </a:t>
            </a:r>
            <a:r>
              <a:rPr sz="15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eural </a:t>
            </a:r>
            <a:r>
              <a:rPr sz="15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etwork</a:t>
            </a:r>
            <a:endParaRPr sz="150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LLM core</a:t>
            </a:r>
          </a:p>
        </p:txBody>
      </p:sp>
      <p:sp>
        <p:nvSpPr>
          <p:cNvPr id="11" name="Arrow"/>
          <p:cNvSpPr txBox="1"/>
          <p:nvPr/>
        </p:nvSpPr>
        <p:spPr>
          <a:xfrm>
            <a:off x="93878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12" name="Output"/>
          <p:cNvSpPr/>
          <p:nvPr/>
        </p:nvSpPr>
        <p:spPr>
          <a:xfrm>
            <a:off x="9753600" y="1548384"/>
            <a:ext cx="1554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Output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>
                <a:solidFill>
                  <a:srgbClr val="172B4D"/>
                </a:solidFill>
                <a:latin typeface="Aptos"/>
              </a:rPr>
              <a:t>probabilities</a:t>
            </a:r>
          </a:p>
        </p:txBody>
      </p:sp>
      <p:sp>
        <p:nvSpPr>
          <p:cNvPr id="13" name="Key Point"/>
          <p:cNvSpPr/>
          <p:nvPr/>
        </p:nvSpPr>
        <p:spPr>
          <a:xfrm>
            <a:off x="320040" y="2878146"/>
            <a:ext cx="7024085" cy="914400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36B37E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2100" b="1">
                <a:solidFill>
                  <a:srgbClr val="0B2F5B"/>
                </a:solidFill>
                <a:latin typeface="Aptos"/>
              </a:defRPr>
            </a:pPr>
            <a:r>
              <a:rPr sz="2100" b="1">
                <a:solidFill>
                  <a:srgbClr val="0B2F5B"/>
                </a:solidFill>
                <a:latin typeface="Aptos"/>
              </a:rPr>
              <a:t>The embedding vectors become input activations.</a:t>
            </a:r>
          </a:p>
          <a:p>
            <a:pPr algn="ctr">
              <a:defRPr sz="1500">
                <a:solidFill>
                  <a:srgbClr val="172B4D"/>
                </a:solidFill>
                <a:latin typeface="Aptos"/>
              </a:defRPr>
            </a:pPr>
            <a:r>
              <a:rPr sz="1500">
                <a:solidFill>
                  <a:srgbClr val="172B4D"/>
                </a:solidFill>
                <a:latin typeface="Aptos"/>
              </a:rPr>
              <a:t>They are the live numeric values flowing into the neural network.</a:t>
            </a:r>
          </a:p>
        </p:txBody>
      </p:sp>
      <p:sp>
        <p:nvSpPr>
          <p:cNvPr id="14" name="No separate handoff"/>
          <p:cNvSpPr/>
          <p:nvPr/>
        </p:nvSpPr>
        <p:spPr>
          <a:xfrm>
            <a:off x="365760" y="4275510"/>
            <a:ext cx="7024085" cy="731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There is not usually a separate ANN handing data to the LLM.</a:t>
            </a:r>
          </a:p>
          <a:p>
            <a:pPr algn="ctr">
              <a:defRPr sz="1350">
                <a:solidFill>
                  <a:srgbClr val="172B4D"/>
                </a:solidFill>
                <a:latin typeface="Aptos"/>
              </a:defRPr>
            </a:pPr>
            <a:r>
              <a:rPr sz="1350">
                <a:solidFill>
                  <a:srgbClr val="172B4D"/>
                </a:solidFill>
                <a:latin typeface="Aptos"/>
              </a:rPr>
              <a:t>The neural network is the computational core of the LLM.</a:t>
            </a:r>
          </a:p>
        </p:txBody>
      </p:sp>
      <p:sp>
        <p:nvSpPr>
          <p:cNvPr id="99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52616B"/>
                </a:solidFill>
                <a:latin typeface="Aptos"/>
              </a:defRPr>
            </a:pPr>
            <a:r>
              <a:rPr sz="900">
                <a:solidFill>
                  <a:srgbClr val="52616B"/>
                </a:solidFill>
                <a:latin typeface="Aptos"/>
              </a:rPr>
              <a:t>AI Under the hood | Slide 15</a:t>
            </a:r>
          </a:p>
        </p:txBody>
      </p:sp>
      <p:sp>
        <p:nvSpPr>
          <p:cNvPr id="16" name="Embeddings">
            <a:extLst>
              <a:ext uri="{FF2B5EF4-FFF2-40B4-BE49-F238E27FC236}">
                <a16:creationId xmlns:a16="http://schemas.microsoft.com/office/drawing/2014/main" id="{569E4174-39F1-B08D-CAF0-BC5B5476C79B}"/>
              </a:ext>
            </a:extLst>
          </p:cNvPr>
          <p:cNvSpPr/>
          <p:nvPr/>
        </p:nvSpPr>
        <p:spPr>
          <a:xfrm>
            <a:off x="7962900" y="2617458"/>
            <a:ext cx="3345180" cy="4156566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500" b="1" dirty="0">
                <a:solidFill>
                  <a:srgbClr val="0B2F5B"/>
                </a:solidFill>
                <a:highlight>
                  <a:srgbClr val="00FF00"/>
                </a:highlight>
                <a:latin typeface="Aptos"/>
              </a:rPr>
              <a:t>MAGPAI</a:t>
            </a:r>
            <a:r>
              <a:rPr lang="en-US" sz="1200" b="1" dirty="0">
                <a:solidFill>
                  <a:srgbClr val="172B4D"/>
                </a:solidFill>
                <a:highlight>
                  <a:srgbClr val="00FF00"/>
                </a:highlight>
                <a:latin typeface="Aptos"/>
              </a:rPr>
              <a:t>    Mental Model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endParaRPr lang="en-US" sz="1200" b="1" dirty="0">
              <a:solidFill>
                <a:srgbClr val="172B4D"/>
              </a:solidFill>
              <a:latin typeface="Aptos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172B4D"/>
                </a:solidFill>
                <a:latin typeface="Aptos"/>
              </a:rPr>
              <a:t>User Question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600" dirty="0">
                <a:latin typeface="Aptos" panose="020B0004020202020204" pitchFamily="34" charset="0"/>
              </a:rPr>
              <a:t>↓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Tokenizer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Token IDs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Embeddings 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( Language -&gt; Geometry)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Transformer Neural Network 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(MAGPAI Brain)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Output Probabilities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Decoder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Answer</a:t>
            </a:r>
            <a:endParaRPr sz="1200" dirty="0">
              <a:solidFill>
                <a:srgbClr val="0B2F5B"/>
              </a:solidFill>
              <a:latin typeface="Aptos"/>
            </a:endParaRPr>
          </a:p>
        </p:txBody>
      </p:sp>
      <p:sp>
        <p:nvSpPr>
          <p:cNvPr id="17" name="No separate handoff">
            <a:extLst>
              <a:ext uri="{FF2B5EF4-FFF2-40B4-BE49-F238E27FC236}">
                <a16:creationId xmlns:a16="http://schemas.microsoft.com/office/drawing/2014/main" id="{4B113C0F-E5E6-12D8-824B-A8403943B497}"/>
              </a:ext>
            </a:extLst>
          </p:cNvPr>
          <p:cNvSpPr/>
          <p:nvPr/>
        </p:nvSpPr>
        <p:spPr>
          <a:xfrm>
            <a:off x="365759" y="5363107"/>
            <a:ext cx="7024085" cy="731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600" dirty="0"/>
              <a:t>The embedding layer, Transformer layers, output layers, and decoder all work together as one integrated system.</a:t>
            </a:r>
            <a:endParaRPr sz="13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lationships">
            <a:extLst>
              <a:ext uri="{FF2B5EF4-FFF2-40B4-BE49-F238E27FC236}">
                <a16:creationId xmlns:a16="http://schemas.microsoft.com/office/drawing/2014/main" id="{C88BB20F-4D33-8ACA-8F81-7BE2B93A0272}"/>
              </a:ext>
            </a:extLst>
          </p:cNvPr>
          <p:cNvSpPr/>
          <p:nvPr/>
        </p:nvSpPr>
        <p:spPr>
          <a:xfrm>
            <a:off x="150690" y="4024054"/>
            <a:ext cx="3710784" cy="212708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endParaRPr lang="en-US" sz="1500" b="1" dirty="0">
              <a:solidFill>
                <a:srgbClr val="0B2F5B"/>
              </a:solidFill>
              <a:latin typeface="Aptos"/>
            </a:endParaRPr>
          </a:p>
        </p:txBody>
      </p:sp>
      <p:sp>
        <p:nvSpPr>
          <p:cNvPr id="2" name="Title"/>
          <p:cNvSpPr txBox="1"/>
          <p:nvPr/>
        </p:nvSpPr>
        <p:spPr>
          <a:xfrm>
            <a:off x="640080" y="76425"/>
            <a:ext cx="10158487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B2F5B"/>
                </a:solidFill>
                <a:latin typeface="Aptos"/>
              </a:defRPr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The Transformer Artificial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eural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etwork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 Is the LLM Core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393433" y="571023"/>
            <a:ext cx="1091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5E6C84"/>
                </a:solidFill>
                <a:latin typeface="Aptos"/>
              </a:defRPr>
            </a:pPr>
            <a:r>
              <a:rPr sz="1600" dirty="0">
                <a:solidFill>
                  <a:srgbClr val="5E6C84"/>
                </a:solidFill>
                <a:latin typeface="Aptos"/>
              </a:rPr>
              <a:t>A modern LLM is one enormous neural network, not a separate system after embeddings</a:t>
            </a:r>
          </a:p>
        </p:txBody>
      </p:sp>
      <p:sp>
        <p:nvSpPr>
          <p:cNvPr id="4" name="Center"/>
          <p:cNvSpPr/>
          <p:nvPr/>
        </p:nvSpPr>
        <p:spPr>
          <a:xfrm>
            <a:off x="3962400" y="1168805"/>
            <a:ext cx="3962400" cy="772762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2200" b="1">
                <a:solidFill>
                  <a:srgbClr val="0B2F5B"/>
                </a:solidFill>
                <a:latin typeface="Aptos"/>
              </a:defRPr>
            </a:pPr>
            <a:r>
              <a:rPr sz="2200" b="1">
                <a:solidFill>
                  <a:srgbClr val="0B2F5B"/>
                </a:solidFill>
                <a:latin typeface="Aptos"/>
              </a:rPr>
              <a:t>Transformer ANN</a:t>
            </a:r>
          </a:p>
          <a:p>
            <a:pPr algn="ctr">
              <a:defRPr sz="1350">
                <a:solidFill>
                  <a:srgbClr val="172B4D"/>
                </a:solidFill>
                <a:latin typeface="Aptos"/>
              </a:defRPr>
            </a:pPr>
            <a:r>
              <a:rPr sz="1350">
                <a:solidFill>
                  <a:srgbClr val="172B4D"/>
                </a:solidFill>
                <a:latin typeface="Aptos"/>
              </a:rPr>
              <a:t>attention + feed-forward layers + weights</a:t>
            </a:r>
          </a:p>
        </p:txBody>
      </p:sp>
      <p:sp>
        <p:nvSpPr>
          <p:cNvPr id="5" name="Input"/>
          <p:cNvSpPr/>
          <p:nvPr/>
        </p:nvSpPr>
        <p:spPr>
          <a:xfrm>
            <a:off x="807720" y="1234440"/>
            <a:ext cx="2286000" cy="589882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Input activations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embedding vectors</a:t>
            </a:r>
          </a:p>
        </p:txBody>
      </p:sp>
      <p:sp>
        <p:nvSpPr>
          <p:cNvPr id="6" name="Arrow"/>
          <p:cNvSpPr txBox="1"/>
          <p:nvPr/>
        </p:nvSpPr>
        <p:spPr>
          <a:xfrm>
            <a:off x="3320040" y="141170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7" name="Arrow"/>
          <p:cNvSpPr txBox="1"/>
          <p:nvPr/>
        </p:nvSpPr>
        <p:spPr>
          <a:xfrm>
            <a:off x="8050864" y="141057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8" name="Output"/>
          <p:cNvSpPr/>
          <p:nvPr/>
        </p:nvSpPr>
        <p:spPr>
          <a:xfrm>
            <a:off x="8386560" y="1209319"/>
            <a:ext cx="2743200" cy="59778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Output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next-token probabilities</a:t>
            </a:r>
          </a:p>
        </p:txBody>
      </p:sp>
      <p:sp>
        <p:nvSpPr>
          <p:cNvPr id="9" name="Relationships"/>
          <p:cNvSpPr/>
          <p:nvPr/>
        </p:nvSpPr>
        <p:spPr>
          <a:xfrm>
            <a:off x="482081" y="2074101"/>
            <a:ext cx="3048000" cy="139646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The ANN learns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sales -&gt; revenue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Chicago -&gt; location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up -&gt; growth</a:t>
            </a:r>
            <a:endParaRPr lang="en-US" sz="1200" dirty="0">
              <a:solidFill>
                <a:srgbClr val="172B4D"/>
              </a:solidFill>
              <a:latin typeface="Aptos"/>
            </a:endParaRP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lang="en-US" sz="1200" dirty="0">
                <a:solidFill>
                  <a:srgbClr val="172B4D"/>
                </a:solidFill>
                <a:latin typeface="Aptos"/>
              </a:rPr>
              <a:t>“sales up in Chicago” -&gt; may imply positive business performance</a:t>
            </a:r>
            <a:endParaRPr sz="1200" dirty="0">
              <a:solidFill>
                <a:srgbClr val="172B4D"/>
              </a:solidFill>
              <a:latin typeface="Aptos"/>
            </a:endParaRPr>
          </a:p>
        </p:txBody>
      </p:sp>
      <p:sp>
        <p:nvSpPr>
          <p:cNvPr id="10" name="Weights"/>
          <p:cNvSpPr/>
          <p:nvPr/>
        </p:nvSpPr>
        <p:spPr>
          <a:xfrm>
            <a:off x="4409439" y="2060399"/>
            <a:ext cx="3048000" cy="912456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36B37E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Learned knowledge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stored in weights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billions of parameters</a:t>
            </a:r>
          </a:p>
        </p:txBody>
      </p:sp>
      <p:sp>
        <p:nvSpPr>
          <p:cNvPr id="11" name="Memory"/>
          <p:cNvSpPr/>
          <p:nvPr/>
        </p:nvSpPr>
        <p:spPr>
          <a:xfrm>
            <a:off x="8081760" y="2091645"/>
            <a:ext cx="3048000" cy="940953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AB00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Current state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context window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RAG documents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agent memory</a:t>
            </a:r>
          </a:p>
        </p:txBody>
      </p:sp>
      <p:sp>
        <p:nvSpPr>
          <p:cNvPr id="12" name="Bottom"/>
          <p:cNvSpPr txBox="1"/>
          <p:nvPr/>
        </p:nvSpPr>
        <p:spPr>
          <a:xfrm>
            <a:off x="1715063" y="5995403"/>
            <a:ext cx="8861337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B2F5B"/>
                </a:solidFill>
                <a:latin typeface="Aptos"/>
              </a:defRPr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Embeddings convert language into geometry. </a:t>
            </a:r>
            <a:endParaRPr lang="en-US" sz="170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700" b="1">
                <a:solidFill>
                  <a:srgbClr val="0B2F5B"/>
                </a:solidFill>
                <a:latin typeface="Aptos"/>
              </a:defRPr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The Transformer manipulates that geometry to infer meaning and predict the next token.</a:t>
            </a:r>
          </a:p>
        </p:txBody>
      </p:sp>
      <p:sp>
        <p:nvSpPr>
          <p:cNvPr id="99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52616B"/>
                </a:solidFill>
                <a:latin typeface="Aptos"/>
              </a:defRPr>
            </a:pPr>
            <a:r>
              <a:rPr sz="900">
                <a:solidFill>
                  <a:srgbClr val="52616B"/>
                </a:solidFill>
                <a:latin typeface="Aptos"/>
              </a:rPr>
              <a:t>AI Under the hood | Slide 16</a:t>
            </a:r>
          </a:p>
        </p:txBody>
      </p:sp>
      <p:sp>
        <p:nvSpPr>
          <p:cNvPr id="13" name="Relationships">
            <a:extLst>
              <a:ext uri="{FF2B5EF4-FFF2-40B4-BE49-F238E27FC236}">
                <a16:creationId xmlns:a16="http://schemas.microsoft.com/office/drawing/2014/main" id="{F39526A9-70FF-ECDD-A99C-1D1CDF85E97A}"/>
              </a:ext>
            </a:extLst>
          </p:cNvPr>
          <p:cNvSpPr/>
          <p:nvPr/>
        </p:nvSpPr>
        <p:spPr>
          <a:xfrm>
            <a:off x="150690" y="3709837"/>
            <a:ext cx="3710783" cy="228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500" b="1" dirty="0">
                <a:solidFill>
                  <a:srgbClr val="0B2F5B"/>
                </a:solidFill>
                <a:latin typeface="Aptos"/>
              </a:rPr>
              <a:t>Biological Analogy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D0C0DB92-DA00-4B0A-80A0-1364CB55BF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423091"/>
              </p:ext>
            </p:extLst>
          </p:nvPr>
        </p:nvGraphicFramePr>
        <p:xfrm>
          <a:off x="381156" y="4100052"/>
          <a:ext cx="3480318" cy="1920240"/>
        </p:xfrm>
        <a:graphic>
          <a:graphicData uri="http://schemas.openxmlformats.org/drawingml/2006/table">
            <a:tbl>
              <a:tblPr/>
              <a:tblGrid>
                <a:gridCol w="1735658">
                  <a:extLst>
                    <a:ext uri="{9D8B030D-6E8A-4147-A177-3AD203B41FA5}">
                      <a16:colId xmlns:a16="http://schemas.microsoft.com/office/drawing/2014/main" val="3404869905"/>
                    </a:ext>
                  </a:extLst>
                </a:gridCol>
                <a:gridCol w="1744660">
                  <a:extLst>
                    <a:ext uri="{9D8B030D-6E8A-4147-A177-3AD203B41FA5}">
                      <a16:colId xmlns:a16="http://schemas.microsoft.com/office/drawing/2014/main" val="2037086582"/>
                    </a:ext>
                  </a:extLst>
                </a:gridCol>
              </a:tblGrid>
              <a:tr h="253963">
                <a:tc>
                  <a:txBody>
                    <a:bodyPr/>
                    <a:lstStyle/>
                    <a:p>
                      <a:r>
                        <a:rPr lang="en-US" sz="1200" b="1" dirty="0">
                          <a:highlight>
                            <a:srgbClr val="00FF00"/>
                          </a:highlight>
                          <a:latin typeface="Aptos" panose="020B0004020202020204" pitchFamily="34" charset="0"/>
                        </a:rPr>
                        <a:t>Human Brain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highlight>
                            <a:srgbClr val="00FFFF"/>
                          </a:highlight>
                          <a:latin typeface="Aptos" panose="020B0004020202020204" pitchFamily="34" charset="0"/>
                        </a:rPr>
                        <a:t>LLM Equivalent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8026335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Sensory cortex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Embeddings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578982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Neurons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Artificial neurons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781149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Synapses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Weights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125041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Memory patterns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Parameter distributions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6228923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Attention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Transformer attention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6103619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Speech generation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Decoder/output layer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1975063"/>
                  </a:ext>
                </a:extLst>
              </a:tr>
            </a:tbl>
          </a:graphicData>
        </a:graphic>
      </p:graphicFrame>
      <p:sp>
        <p:nvSpPr>
          <p:cNvPr id="19" name="Center">
            <a:extLst>
              <a:ext uri="{FF2B5EF4-FFF2-40B4-BE49-F238E27FC236}">
                <a16:creationId xmlns:a16="http://schemas.microsoft.com/office/drawing/2014/main" id="{7E98D184-A805-C669-7A37-3955F82216AA}"/>
              </a:ext>
            </a:extLst>
          </p:cNvPr>
          <p:cNvSpPr/>
          <p:nvPr/>
        </p:nvSpPr>
        <p:spPr>
          <a:xfrm>
            <a:off x="4409439" y="3174777"/>
            <a:ext cx="6720321" cy="2814503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/>
            <a:r>
              <a:rPr lang="en-US" sz="1200" b="1" dirty="0">
                <a:latin typeface="Aptos" panose="020B0004020202020204" pitchFamily="34" charset="0"/>
              </a:rPr>
              <a:t>The Weights Are Learned Knowledge</a:t>
            </a:r>
          </a:p>
          <a:p>
            <a:pPr algn="ctr"/>
            <a:endParaRPr lang="en-US" sz="1200" b="1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 neural network contains billions of numerical parameters called weights.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Examples: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GPT-4:</a:t>
            </a:r>
            <a:br>
              <a:rPr lang="en-US" sz="1200" dirty="0">
                <a:latin typeface="Aptos" panose="020B0004020202020204" pitchFamily="34" charset="0"/>
              </a:rPr>
            </a:br>
            <a:r>
              <a:rPr lang="en-US" sz="1200" dirty="0">
                <a:latin typeface="Aptos" panose="020B0004020202020204" pitchFamily="34" charset="0"/>
              </a:rPr>
              <a:t>Hundreds of billions of parameters (estimated)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Llama 3:</a:t>
            </a:r>
            <a:br>
              <a:rPr lang="en-US" sz="1200" dirty="0">
                <a:latin typeface="Aptos" panose="020B0004020202020204" pitchFamily="34" charset="0"/>
              </a:rPr>
            </a:br>
            <a:r>
              <a:rPr lang="en-US" sz="1200" dirty="0">
                <a:latin typeface="Aptos" panose="020B0004020202020204" pitchFamily="34" charset="0"/>
              </a:rPr>
              <a:t>Tens to hundreds of billions of parameters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Mistral 7B:</a:t>
            </a:r>
            <a:br>
              <a:rPr lang="en-US" sz="1200" dirty="0">
                <a:latin typeface="Aptos" panose="020B0004020202020204" pitchFamily="34" charset="0"/>
              </a:rPr>
            </a:br>
            <a:r>
              <a:rPr lang="en-US" sz="1200" dirty="0">
                <a:latin typeface="Aptos" panose="020B0004020202020204" pitchFamily="34" charset="0"/>
              </a:rPr>
              <a:t>Approximately 7 billion parameters</a:t>
            </a:r>
          </a:p>
          <a:p>
            <a:pPr algn="ctr"/>
            <a:endParaRPr lang="en-US" sz="1200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These weights store the model's learned long-term knowledge.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They capture statistical patterns learned during training.</a:t>
            </a:r>
          </a:p>
          <a:p>
            <a:pPr algn="ctr">
              <a:defRPr sz="2200" b="1">
                <a:solidFill>
                  <a:srgbClr val="0B2F5B"/>
                </a:solidFill>
                <a:latin typeface="Aptos"/>
              </a:defRPr>
            </a:pPr>
            <a:endParaRPr sz="13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Linear Algebra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Embedding lookup is equivalent to one-hot matrix multiplication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607040" cy="19202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t>[0, 0, 0, 1, 0, 0, 0, 0] x E</a:t>
            </a:r>
            <a:br/>
            <a:r>
              <a:t>=</a:t>
            </a:r>
            <a:br/>
            <a:r>
              <a:t>[-0.62, 0.18,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18872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Runtime optimization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In real code, the framework usually skips the one-hot vector and directly retrieves the row. It is faster and memory-efficient.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Tensor?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NN input is a stored grid of token vectors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1-D list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[0.12, -0.08, 0.44]</a:t>
            </a:r>
          </a:p>
        </p:txBody>
      </p:sp>
      <p:sp>
        <p:nvSpPr>
          <p:cNvPr id="5" name="Matrix"/>
          <p:cNvSpPr/>
          <p:nvPr/>
        </p:nvSpPr>
        <p:spPr>
          <a:xfrm>
            <a:off x="44805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Matrix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2-D table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rows x columns</a:t>
            </a:r>
          </a:p>
        </p:txBody>
      </p:sp>
      <p:sp>
        <p:nvSpPr>
          <p:cNvPr id="6" name="Tensor"/>
          <p:cNvSpPr/>
          <p:nvPr/>
        </p:nvSpPr>
        <p:spPr>
          <a:xfrm>
            <a:off x="81381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Tensor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General numeric container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with shape metadata</a:t>
            </a:r>
          </a:p>
        </p:txBody>
      </p:sp>
      <p:sp>
        <p:nvSpPr>
          <p:cNvPr id="7" name="Prompt Shape"/>
          <p:cNvSpPr/>
          <p:nvPr/>
        </p:nvSpPr>
        <p:spPr>
          <a:xfrm>
            <a:off x="109728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For this prompt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7 tokens x 4 numbers per 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shape = [7, 4]</a:t>
            </a:r>
          </a:p>
        </p:txBody>
      </p:sp>
      <p:sp>
        <p:nvSpPr>
          <p:cNvPr id="8" name="Activation Tensor"/>
          <p:cNvSpPr/>
          <p:nvPr/>
        </p:nvSpPr>
        <p:spPr>
          <a:xfrm>
            <a:off x="621792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How the NN sees it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The framework stores the token-vector sequence as an activation tensor before the first neural-network layer.</a:t>
            </a:r>
          </a:p>
        </p:txBody>
      </p:sp>
      <p:sp>
        <p:nvSpPr>
          <p:cNvPr id="9" name="Key takeaway"/>
          <p:cNvSpPr/>
          <p:nvPr/>
        </p:nvSpPr>
        <p:spPr>
          <a:xfrm>
            <a:off x="1097280" y="5212080"/>
            <a:ext cx="99669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00"/>
            </a:pPr>
            <a:r>
              <a:rPr sz="180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600"/>
            </a:pPr>
            <a:r>
              <a:rPr sz="1600" dirty="0">
                <a:solidFill>
                  <a:srgbClr val="172B4D"/>
                </a:solidFill>
                <a:latin typeface="Aptos"/>
              </a:rPr>
              <a:t>A tensor is the in-memory numeric object that carries vectors into neural-network computation.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Prompt Stored as an Input Tensor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original prompt becomes a 7 x 4 numeric grid before NN layers run</a:t>
            </a:r>
          </a:p>
        </p:txBody>
      </p:sp>
      <p:sp>
        <p:nvSpPr>
          <p:cNvPr id="4" name="Prompt Text"/>
          <p:cNvSpPr/>
          <p:nvPr/>
        </p:nvSpPr>
        <p:spPr>
          <a:xfrm>
            <a:off x="822960" y="1280160"/>
            <a:ext cx="4754880" cy="54864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900"/>
            </a:pPr>
            <a:r>
              <a:rPr sz="1900" b="1" dirty="0">
                <a:solidFill>
                  <a:srgbClr val="0B2F5B"/>
                </a:solidFill>
                <a:latin typeface="Consolas"/>
              </a:rPr>
              <a:t>are MAG sales up in chicago?</a:t>
            </a:r>
          </a:p>
        </p:txBody>
      </p:sp>
      <p:sp>
        <p:nvSpPr>
          <p:cNvPr id="5" name="Arrow 1"/>
          <p:cNvSpPr/>
          <p:nvPr/>
        </p:nvSpPr>
        <p:spPr>
          <a:xfrm>
            <a:off x="5760720" y="139728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NN Box"/>
          <p:cNvSpPr/>
          <p:nvPr/>
        </p:nvSpPr>
        <p:spPr>
          <a:xfrm>
            <a:off x="9966960" y="2103120"/>
            <a:ext cx="1280160" cy="2377440"/>
          </a:xfrm>
          <a:prstGeom prst="roundRect">
            <a:avLst/>
          </a:prstGeom>
          <a:solidFill>
            <a:srgbClr val="0B5CAD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700"/>
            </a:pPr>
            <a:r>
              <a:rPr sz="1700" b="1" dirty="0">
                <a:solidFill>
                  <a:srgbClr val="FFFFFF"/>
                </a:solidFill>
                <a:latin typeface="Aptos"/>
              </a:rPr>
              <a:t>NN layers
start here</a:t>
            </a:r>
          </a:p>
        </p:txBody>
      </p:sp>
      <p:sp>
        <p:nvSpPr>
          <p:cNvPr id="7" name="Arrow 2"/>
          <p:cNvSpPr/>
          <p:nvPr/>
        </p:nvSpPr>
        <p:spPr>
          <a:xfrm>
            <a:off x="9144000" y="310896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20" name="Cell 20"/>
          <p:cNvSpPr/>
          <p:nvPr/>
        </p:nvSpPr>
        <p:spPr>
          <a:xfrm>
            <a:off x="115824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token</a:t>
            </a:r>
          </a:p>
        </p:txBody>
      </p:sp>
      <p:sp>
        <p:nvSpPr>
          <p:cNvPr id="21" name="Cell 21"/>
          <p:cNvSpPr/>
          <p:nvPr/>
        </p:nvSpPr>
        <p:spPr>
          <a:xfrm>
            <a:off x="234696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v1</a:t>
            </a:r>
          </a:p>
        </p:txBody>
      </p:sp>
      <p:sp>
        <p:nvSpPr>
          <p:cNvPr id="22" name="Cell 22"/>
          <p:cNvSpPr/>
          <p:nvPr/>
        </p:nvSpPr>
        <p:spPr>
          <a:xfrm>
            <a:off x="353568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v2</a:t>
            </a:r>
          </a:p>
        </p:txBody>
      </p:sp>
      <p:sp>
        <p:nvSpPr>
          <p:cNvPr id="23" name="Cell 23"/>
          <p:cNvSpPr/>
          <p:nvPr/>
        </p:nvSpPr>
        <p:spPr>
          <a:xfrm>
            <a:off x="472440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v3</a:t>
            </a:r>
          </a:p>
        </p:txBody>
      </p:sp>
      <p:sp>
        <p:nvSpPr>
          <p:cNvPr id="24" name="Cell 24"/>
          <p:cNvSpPr/>
          <p:nvPr/>
        </p:nvSpPr>
        <p:spPr>
          <a:xfrm>
            <a:off x="591312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v4</a:t>
            </a:r>
          </a:p>
        </p:txBody>
      </p:sp>
      <p:sp>
        <p:nvSpPr>
          <p:cNvPr id="25" name="Cell 25"/>
          <p:cNvSpPr/>
          <p:nvPr/>
        </p:nvSpPr>
        <p:spPr>
          <a:xfrm>
            <a:off x="115824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are</a:t>
            </a:r>
          </a:p>
        </p:txBody>
      </p:sp>
      <p:sp>
        <p:nvSpPr>
          <p:cNvPr id="26" name="Cell 26"/>
          <p:cNvSpPr/>
          <p:nvPr/>
        </p:nvSpPr>
        <p:spPr>
          <a:xfrm>
            <a:off x="234696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0.21</a:t>
            </a:r>
          </a:p>
        </p:txBody>
      </p:sp>
      <p:sp>
        <p:nvSpPr>
          <p:cNvPr id="27" name="Cell 27"/>
          <p:cNvSpPr/>
          <p:nvPr/>
        </p:nvSpPr>
        <p:spPr>
          <a:xfrm>
            <a:off x="353568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-0.44</a:t>
            </a:r>
          </a:p>
        </p:txBody>
      </p:sp>
      <p:sp>
        <p:nvSpPr>
          <p:cNvPr id="28" name="Cell 28"/>
          <p:cNvSpPr/>
          <p:nvPr/>
        </p:nvSpPr>
        <p:spPr>
          <a:xfrm>
            <a:off x="472440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0.78</a:t>
            </a:r>
          </a:p>
        </p:txBody>
      </p:sp>
      <p:sp>
        <p:nvSpPr>
          <p:cNvPr id="29" name="Cell 29"/>
          <p:cNvSpPr/>
          <p:nvPr/>
        </p:nvSpPr>
        <p:spPr>
          <a:xfrm>
            <a:off x="591312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30" name="Cell 30"/>
          <p:cNvSpPr/>
          <p:nvPr/>
        </p:nvSpPr>
        <p:spPr>
          <a:xfrm>
            <a:off x="115824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MAG</a:t>
            </a:r>
          </a:p>
        </p:txBody>
      </p:sp>
      <p:sp>
        <p:nvSpPr>
          <p:cNvPr id="31" name="Cell 31"/>
          <p:cNvSpPr/>
          <p:nvPr/>
        </p:nvSpPr>
        <p:spPr>
          <a:xfrm>
            <a:off x="234696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0.03</a:t>
            </a:r>
          </a:p>
        </p:txBody>
      </p:sp>
      <p:sp>
        <p:nvSpPr>
          <p:cNvPr id="32" name="Cell 32"/>
          <p:cNvSpPr/>
          <p:nvPr/>
        </p:nvSpPr>
        <p:spPr>
          <a:xfrm>
            <a:off x="353568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0.91</a:t>
            </a:r>
          </a:p>
        </p:txBody>
      </p:sp>
      <p:sp>
        <p:nvSpPr>
          <p:cNvPr id="33" name="Cell 33"/>
          <p:cNvSpPr/>
          <p:nvPr/>
        </p:nvSpPr>
        <p:spPr>
          <a:xfrm>
            <a:off x="472440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-0.14</a:t>
            </a:r>
          </a:p>
        </p:txBody>
      </p:sp>
      <p:sp>
        <p:nvSpPr>
          <p:cNvPr id="34" name="Cell 34"/>
          <p:cNvSpPr/>
          <p:nvPr/>
        </p:nvSpPr>
        <p:spPr>
          <a:xfrm>
            <a:off x="591312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0.36</a:t>
            </a:r>
          </a:p>
        </p:txBody>
      </p:sp>
      <p:sp>
        <p:nvSpPr>
          <p:cNvPr id="35" name="Cell 35"/>
          <p:cNvSpPr/>
          <p:nvPr/>
        </p:nvSpPr>
        <p:spPr>
          <a:xfrm>
            <a:off x="115824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sales</a:t>
            </a:r>
          </a:p>
        </p:txBody>
      </p:sp>
      <p:sp>
        <p:nvSpPr>
          <p:cNvPr id="36" name="Cell 36"/>
          <p:cNvSpPr/>
          <p:nvPr/>
        </p:nvSpPr>
        <p:spPr>
          <a:xfrm>
            <a:off x="234696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-0.62</a:t>
            </a:r>
          </a:p>
        </p:txBody>
      </p:sp>
      <p:sp>
        <p:nvSpPr>
          <p:cNvPr id="37" name="Cell 37"/>
          <p:cNvSpPr/>
          <p:nvPr/>
        </p:nvSpPr>
        <p:spPr>
          <a:xfrm>
            <a:off x="353568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0.18</a:t>
            </a:r>
          </a:p>
        </p:txBody>
      </p:sp>
      <p:sp>
        <p:nvSpPr>
          <p:cNvPr id="38" name="Cell 38"/>
          <p:cNvSpPr/>
          <p:nvPr/>
        </p:nvSpPr>
        <p:spPr>
          <a:xfrm>
            <a:off x="472440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0.45</a:t>
            </a:r>
          </a:p>
        </p:txBody>
      </p:sp>
      <p:sp>
        <p:nvSpPr>
          <p:cNvPr id="39" name="Cell 39"/>
          <p:cNvSpPr/>
          <p:nvPr/>
        </p:nvSpPr>
        <p:spPr>
          <a:xfrm>
            <a:off x="591312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-0.09</a:t>
            </a:r>
          </a:p>
        </p:txBody>
      </p:sp>
      <p:sp>
        <p:nvSpPr>
          <p:cNvPr id="40" name="Cell 40"/>
          <p:cNvSpPr/>
          <p:nvPr/>
        </p:nvSpPr>
        <p:spPr>
          <a:xfrm>
            <a:off x="115824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up</a:t>
            </a:r>
          </a:p>
        </p:txBody>
      </p:sp>
      <p:sp>
        <p:nvSpPr>
          <p:cNvPr id="41" name="Cell 41"/>
          <p:cNvSpPr/>
          <p:nvPr/>
        </p:nvSpPr>
        <p:spPr>
          <a:xfrm>
            <a:off x="234696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-0.31</a:t>
            </a:r>
          </a:p>
        </p:txBody>
      </p:sp>
      <p:sp>
        <p:nvSpPr>
          <p:cNvPr id="42" name="Cell 42"/>
          <p:cNvSpPr/>
          <p:nvPr/>
        </p:nvSpPr>
        <p:spPr>
          <a:xfrm>
            <a:off x="353568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0.67</a:t>
            </a:r>
          </a:p>
        </p:txBody>
      </p:sp>
      <p:sp>
        <p:nvSpPr>
          <p:cNvPr id="43" name="Cell 43"/>
          <p:cNvSpPr/>
          <p:nvPr/>
        </p:nvSpPr>
        <p:spPr>
          <a:xfrm>
            <a:off x="472440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0.11</a:t>
            </a:r>
          </a:p>
        </p:txBody>
      </p:sp>
      <p:sp>
        <p:nvSpPr>
          <p:cNvPr id="44" name="Cell 44"/>
          <p:cNvSpPr/>
          <p:nvPr/>
        </p:nvSpPr>
        <p:spPr>
          <a:xfrm>
            <a:off x="591312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0.28</a:t>
            </a:r>
          </a:p>
        </p:txBody>
      </p:sp>
      <p:sp>
        <p:nvSpPr>
          <p:cNvPr id="45" name="Cell 45"/>
          <p:cNvSpPr/>
          <p:nvPr/>
        </p:nvSpPr>
        <p:spPr>
          <a:xfrm>
            <a:off x="115824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in</a:t>
            </a:r>
          </a:p>
        </p:txBody>
      </p:sp>
      <p:sp>
        <p:nvSpPr>
          <p:cNvPr id="46" name="Cell 46"/>
          <p:cNvSpPr/>
          <p:nvPr/>
        </p:nvSpPr>
        <p:spPr>
          <a:xfrm>
            <a:off x="234696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0.08</a:t>
            </a:r>
          </a:p>
        </p:txBody>
      </p:sp>
      <p:sp>
        <p:nvSpPr>
          <p:cNvPr id="47" name="Cell 47"/>
          <p:cNvSpPr/>
          <p:nvPr/>
        </p:nvSpPr>
        <p:spPr>
          <a:xfrm>
            <a:off x="353568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-0.15</a:t>
            </a:r>
          </a:p>
        </p:txBody>
      </p:sp>
      <p:sp>
        <p:nvSpPr>
          <p:cNvPr id="48" name="Cell 48"/>
          <p:cNvSpPr/>
          <p:nvPr/>
        </p:nvSpPr>
        <p:spPr>
          <a:xfrm>
            <a:off x="472440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0.22</a:t>
            </a:r>
          </a:p>
        </p:txBody>
      </p:sp>
      <p:sp>
        <p:nvSpPr>
          <p:cNvPr id="49" name="Cell 49"/>
          <p:cNvSpPr/>
          <p:nvPr/>
        </p:nvSpPr>
        <p:spPr>
          <a:xfrm>
            <a:off x="591312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0.64</a:t>
            </a:r>
          </a:p>
        </p:txBody>
      </p:sp>
      <p:sp>
        <p:nvSpPr>
          <p:cNvPr id="50" name="Cell 50"/>
          <p:cNvSpPr/>
          <p:nvPr/>
        </p:nvSpPr>
        <p:spPr>
          <a:xfrm>
            <a:off x="115824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chicago</a:t>
            </a:r>
          </a:p>
        </p:txBody>
      </p:sp>
      <p:sp>
        <p:nvSpPr>
          <p:cNvPr id="51" name="Cell 51"/>
          <p:cNvSpPr/>
          <p:nvPr/>
        </p:nvSpPr>
        <p:spPr>
          <a:xfrm>
            <a:off x="234696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0.41</a:t>
            </a:r>
          </a:p>
        </p:txBody>
      </p:sp>
      <p:sp>
        <p:nvSpPr>
          <p:cNvPr id="52" name="Cell 52"/>
          <p:cNvSpPr/>
          <p:nvPr/>
        </p:nvSpPr>
        <p:spPr>
          <a:xfrm>
            <a:off x="353568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53" name="Cell 53"/>
          <p:cNvSpPr/>
          <p:nvPr/>
        </p:nvSpPr>
        <p:spPr>
          <a:xfrm>
            <a:off x="472440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-0.33</a:t>
            </a:r>
          </a:p>
        </p:txBody>
      </p:sp>
      <p:sp>
        <p:nvSpPr>
          <p:cNvPr id="54" name="Cell 54"/>
          <p:cNvSpPr/>
          <p:nvPr/>
        </p:nvSpPr>
        <p:spPr>
          <a:xfrm>
            <a:off x="591312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0.57</a:t>
            </a:r>
          </a:p>
        </p:txBody>
      </p:sp>
      <p:sp>
        <p:nvSpPr>
          <p:cNvPr id="55" name="Cell 55"/>
          <p:cNvSpPr/>
          <p:nvPr/>
        </p:nvSpPr>
        <p:spPr>
          <a:xfrm>
            <a:off x="115824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?</a:t>
            </a:r>
          </a:p>
        </p:txBody>
      </p:sp>
      <p:sp>
        <p:nvSpPr>
          <p:cNvPr id="56" name="Cell 56"/>
          <p:cNvSpPr/>
          <p:nvPr/>
        </p:nvSpPr>
        <p:spPr>
          <a:xfrm>
            <a:off x="234696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-0.07</a:t>
            </a:r>
          </a:p>
        </p:txBody>
      </p:sp>
      <p:sp>
        <p:nvSpPr>
          <p:cNvPr id="57" name="Cell 57"/>
          <p:cNvSpPr/>
          <p:nvPr/>
        </p:nvSpPr>
        <p:spPr>
          <a:xfrm>
            <a:off x="353568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0.04</a:t>
            </a:r>
          </a:p>
        </p:txBody>
      </p:sp>
      <p:sp>
        <p:nvSpPr>
          <p:cNvPr id="58" name="Cell 58"/>
          <p:cNvSpPr/>
          <p:nvPr/>
        </p:nvSpPr>
        <p:spPr>
          <a:xfrm>
            <a:off x="472440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0.19</a:t>
            </a:r>
          </a:p>
        </p:txBody>
      </p:sp>
      <p:sp>
        <p:nvSpPr>
          <p:cNvPr id="59" name="Cell 59"/>
          <p:cNvSpPr/>
          <p:nvPr/>
        </p:nvSpPr>
        <p:spPr>
          <a:xfrm>
            <a:off x="591312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-0.22</a:t>
            </a:r>
          </a:p>
        </p:txBody>
      </p:sp>
      <p:sp>
        <p:nvSpPr>
          <p:cNvPr id="80" name="Shape Label"/>
          <p:cNvSpPr/>
          <p:nvPr/>
        </p:nvSpPr>
        <p:spPr>
          <a:xfrm>
            <a:off x="1158240" y="5212080"/>
            <a:ext cx="59436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45720" tIns="45720" rIns="45720" bIns="4572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0B2F5B"/>
                </a:solidFill>
                <a:latin typeface="Consolas"/>
              </a:rPr>
              <a:t>activation tensor shape = [7 token positions, 4 vector dimensions]</a:t>
            </a:r>
          </a:p>
        </p:txBody>
      </p:sp>
      <p:sp>
        <p:nvSpPr>
          <p:cNvPr id="81" name="Bridge"/>
          <p:cNvSpPr/>
          <p:nvPr/>
        </p:nvSpPr>
        <p:spPr>
          <a:xfrm>
            <a:off x="7437120" y="5212080"/>
            <a:ext cx="36576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/>
            </a:pPr>
            <a:r>
              <a:rPr sz="1500" b="1" dirty="0">
                <a:solidFill>
                  <a:srgbClr val="172B4D"/>
                </a:solidFill>
                <a:latin typeface="Aptos"/>
              </a:rPr>
              <a:t>Next session: how layers transform this tensor.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GPAI From Question to Insight"/>
          <p:cNvPicPr/>
          <p:nvPr/>
        </p:nvPicPr>
        <p:blipFill>
          <a:blip r:embed="rId2"/>
          <a:stretch>
            <a:fillRect/>
          </a:stretch>
        </p:blipFill>
        <p:spPr>
          <a:xfrm>
            <a:off x="1466850" y="274320"/>
            <a:ext cx="9258300" cy="6172200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Live Demo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VS Code runs the demos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481" y="1188720"/>
            <a:ext cx="11887200" cy="12801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Sentence ? Tokens ? Token IDs ? Embedding Table ? Input</a:t>
            </a:r>
            <a:r>
              <a:rPr lang="en-US" dirty="0"/>
              <a:t> </a:t>
            </a:r>
            <a:r>
              <a:rPr dirty="0"/>
              <a:t>Tensor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1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Terminal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2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token_streamlit_app.py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Visual 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3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embedding_lookup_linear_algebra_demo.py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Lookup vs matrix multiply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Audience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first stable mental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700">
                <a:solidFill>
                  <a:srgbClr val="172B4D"/>
                </a:solidFill>
                <a:latin typeface="Consolas"/>
              </a:defRPr>
            </a:pPr>
            <a:r>
              <a:t>A model never sees “sales” as a word.</a:t>
            </a:r>
            <a:br/>
            <a:r>
              <a:t>It sees a numeric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10424160" cy="16002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Text becomes tokens.</a:t>
            </a:r>
            <a:br>
              <a:rPr dirty="0"/>
            </a:br>
            <a:r>
              <a:rPr dirty="0"/>
              <a:t>Tokens become IDs.</a:t>
            </a:r>
            <a:br>
              <a:rPr dirty="0"/>
            </a:br>
            <a:r>
              <a:rPr dirty="0"/>
              <a:t>IDs become vectors.</a:t>
            </a:r>
            <a:br>
              <a:rPr dirty="0"/>
            </a:br>
            <a:r>
              <a:rPr dirty="0"/>
              <a:t>Vectors become an </a:t>
            </a:r>
            <a:r>
              <a:rPr lang="en-US" dirty="0"/>
              <a:t>input tensor for the NN </a:t>
            </a:r>
            <a:r>
              <a:rPr dirty="0"/>
              <a:t>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1965</Words>
  <Application>Microsoft Office PowerPoint</Application>
  <PresentationFormat>Widescreen</PresentationFormat>
  <Paragraphs>314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Arial</vt:lpstr>
      <vt:lpstr>Calibri</vt:lpstr>
      <vt:lpstr>Consolas</vt:lpstr>
      <vt:lpstr>Wingdings</vt:lpstr>
      <vt:lpstr>Office Theme</vt:lpstr>
      <vt:lpstr>MAGPAI   ( mag practical AI , pronounced (/ˈmæɡ.paɪ/) 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Vasilis Katsoulis</cp:lastModifiedBy>
  <cp:revision>14</cp:revision>
  <dcterms:created xsi:type="dcterms:W3CDTF">2013-01-27T09:14:16Z</dcterms:created>
  <dcterms:modified xsi:type="dcterms:W3CDTF">2026-05-31T01:54:52Z</dcterms:modified>
  <cp:category/>
</cp:coreProperties>
</file>