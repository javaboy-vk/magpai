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6" r:id="rId2"/>
    <p:sldId id="273" r:id="rId3"/>
    <p:sldId id="274" r:id="rId4"/>
    <p:sldId id="256" r:id="rId5"/>
    <p:sldId id="257" r:id="rId6"/>
    <p:sldId id="258" r:id="rId7"/>
    <p:sldId id="259" r:id="rId8"/>
    <p:sldId id="267" r:id="rId9"/>
    <p:sldId id="260" r:id="rId10"/>
    <p:sldId id="268" r:id="rId11"/>
    <p:sldId id="275" r:id="rId12"/>
    <p:sldId id="261" r:id="rId13"/>
    <p:sldId id="269" r:id="rId14"/>
    <p:sldId id="262" r:id="rId15"/>
    <p:sldId id="276" r:id="rId16"/>
    <p:sldId id="277" r:id="rId17"/>
    <p:sldId id="263" r:id="rId18"/>
    <p:sldId id="270" r:id="rId19"/>
    <p:sldId id="271" r:id="rId20"/>
    <p:sldId id="272" r:id="rId21"/>
    <p:sldId id="264" r:id="rId22"/>
    <p:sldId id="265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14" d="100"/>
          <a:sy n="114" d="100"/>
        </p:scale>
        <p:origin x="102" y="4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40216-417D-AA01-6848-0003ED354B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8801" y="4800600"/>
            <a:ext cx="5486400" cy="566738"/>
          </a:xfrm>
        </p:spPr>
        <p:txBody>
          <a:bodyPr>
            <a:normAutofit fontScale="90000"/>
          </a:bodyPr>
          <a:lstStyle/>
          <a:p>
            <a:r>
              <a:rPr lang="en-US" dirty="0"/>
              <a:t>MAGPAI </a:t>
            </a:r>
            <a:br>
              <a:rPr lang="en-US" dirty="0"/>
            </a:br>
            <a:r>
              <a:rPr lang="en-US" dirty="0"/>
              <a:t> </a:t>
            </a:r>
            <a:r>
              <a:rPr lang="en-US" sz="1100" b="0" dirty="0"/>
              <a:t>( mag practical AI , pronounced </a:t>
            </a:r>
            <a:r>
              <a:rPr lang="en-US" sz="1050" b="0" dirty="0"/>
              <a:t>(/ˈ</a:t>
            </a:r>
            <a:r>
              <a:rPr lang="en-US" sz="1050" b="0" dirty="0" err="1"/>
              <a:t>mæɡ.paɪ</a:t>
            </a:r>
            <a:r>
              <a:rPr lang="en-US" sz="1050" b="0" dirty="0"/>
              <a:t>/) </a:t>
            </a:r>
            <a:r>
              <a:rPr lang="en-US" sz="1100" b="0" dirty="0"/>
              <a:t>)</a:t>
            </a:r>
            <a:endParaRPr lang="en-US" b="0" dirty="0"/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BC56227F-0E35-3518-A770-5486C9C41AE4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3333" r="3333"/>
          <a:stretch>
            <a:fillRect/>
          </a:stretch>
        </p:blipFill>
        <p:spPr>
          <a:xfrm>
            <a:off x="3068801" y="612775"/>
            <a:ext cx="5486400" cy="4114800"/>
          </a:xfr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1F9436-B15D-60B6-5226-1A31DDDD29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068800" y="5367338"/>
            <a:ext cx="5739639" cy="1268852"/>
          </a:xfrm>
        </p:spPr>
        <p:txBody>
          <a:bodyPr>
            <a:normAutofit fontScale="77500" lnSpcReduction="20000"/>
          </a:bodyPr>
          <a:lstStyle/>
          <a:p>
            <a:r>
              <a:rPr lang="en-US" b="1" dirty="0"/>
              <a:t>AI Under the Hood</a:t>
            </a:r>
          </a:p>
          <a:p>
            <a:endParaRPr lang="en-US" b="1" dirty="0"/>
          </a:p>
          <a:p>
            <a:r>
              <a:rPr lang="en-US" b="1" dirty="0"/>
              <a:t>Following a Business Question Through Tokens, Embeddings, Neural Networks, and Inference</a:t>
            </a:r>
          </a:p>
          <a:p>
            <a:r>
              <a:rPr lang="en-US" b="1" dirty="0"/>
              <a:t>What Really Happens When You Ask AI a Question?</a:t>
            </a:r>
          </a:p>
          <a:p>
            <a:endParaRPr lang="en-US" dirty="0"/>
          </a:p>
          <a:p>
            <a:r>
              <a:rPr lang="en-US" dirty="0"/>
              <a:t>Vasilis Katsoulis</a:t>
            </a:r>
          </a:p>
        </p:txBody>
      </p:sp>
    </p:spTree>
    <p:extLst>
      <p:ext uri="{BB962C8B-B14F-4D97-AF65-F5344CB8AC3E}">
        <p14:creationId xmlns:p14="http://schemas.microsoft.com/office/powerpoint/2010/main" val="26288182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ull Stack AI ML Mental Model"/>
          <p:cNvPicPr/>
          <p:nvPr/>
        </p:nvPicPr>
        <p:blipFill>
          <a:blip r:embed="rId2"/>
          <a:stretch>
            <a:fillRect/>
          </a:stretch>
        </p:blipFill>
        <p:spPr>
          <a:xfrm>
            <a:off x="1158844" y="274320"/>
            <a:ext cx="10933567" cy="6199603"/>
          </a:xfrm>
          <a:prstGeom prst="rect">
            <a:avLst/>
          </a:prstGeom>
        </p:spPr>
      </p:pic>
      <p:sp>
        <p:nvSpPr>
          <p:cNvPr id="3" name="Footer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/>
            <a:r>
              <a:rPr sz="850" dirty="0">
                <a:solidFill>
                  <a:srgbClr val="6B778C"/>
                </a:solidFill>
                <a:latin typeface="Aptos"/>
              </a:rPr>
              <a:t>AI Under the hood | Slide 2</a:t>
            </a:r>
          </a:p>
        </p:txBody>
      </p:sp>
      <p:sp>
        <p:nvSpPr>
          <p:cNvPr id="91" name="MAGPAI Session 1 Start Badge"/>
          <p:cNvSpPr txBox="1"/>
          <p:nvPr/>
        </p:nvSpPr>
        <p:spPr>
          <a:xfrm>
            <a:off x="99589" y="2335976"/>
            <a:ext cx="977773" cy="670000"/>
          </a:xfrm>
          <a:prstGeom prst="roundRect">
            <a:avLst/>
          </a:prstGeom>
          <a:solidFill>
            <a:srgbClr val="0B5CAD"/>
          </a:solidFill>
          <a:ln w="25400">
            <a:solidFill>
              <a:srgbClr val="FFFFFF"/>
            </a:solidFill>
          </a:ln>
        </p:spPr>
        <p:txBody>
          <a:bodyPr lIns="91440" tIns="68580" rIns="91440" bIns="68580" rtlCol="0" anchor="ctr"/>
          <a:lstStyle/>
          <a:p>
            <a:pPr algn="ctr"/>
            <a:r>
              <a:rPr sz="1500" b="1" dirty="0">
                <a:solidFill>
                  <a:srgbClr val="FFFFFF"/>
                </a:solidFill>
                <a:latin typeface="Aptos"/>
              </a:rPr>
              <a:t>MAGPAI </a:t>
            </a:r>
          </a:p>
          <a:p>
            <a:pPr algn="ctr"/>
            <a:r>
              <a:rPr sz="1350" b="1" dirty="0">
                <a:solidFill>
                  <a:srgbClr val="FFFFFF"/>
                </a:solidFill>
                <a:latin typeface="Aptos"/>
              </a:rPr>
              <a:t>STARTS HERE</a:t>
            </a:r>
          </a:p>
        </p:txBody>
      </p:sp>
      <p:sp>
        <p:nvSpPr>
          <p:cNvPr id="92" name="MAGPAI Session 1 Start Arrow"/>
          <p:cNvSpPr/>
          <p:nvPr/>
        </p:nvSpPr>
        <p:spPr>
          <a:xfrm>
            <a:off x="1008102" y="2780586"/>
            <a:ext cx="688062" cy="0"/>
          </a:xfrm>
          <a:prstGeom prst="line">
            <a:avLst/>
          </a:prstGeom>
          <a:ln w="45720">
            <a:solidFill>
              <a:srgbClr val="00E676"/>
            </a:solidFill>
            <a:tailEnd type="triangle" w="med" len="med"/>
          </a:ln>
        </p:spPr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ull Stack AI ML Mental Model"/>
          <p:cNvPicPr/>
          <p:nvPr/>
        </p:nvPicPr>
        <p:blipFill>
          <a:blip r:embed="rId2"/>
          <a:srcRect/>
          <a:stretch/>
        </p:blipFill>
        <p:spPr>
          <a:xfrm>
            <a:off x="1204110" y="316871"/>
            <a:ext cx="10782677" cy="6083929"/>
          </a:xfrm>
          <a:prstGeom prst="rect">
            <a:avLst/>
          </a:prstGeom>
        </p:spPr>
      </p:pic>
      <p:sp>
        <p:nvSpPr>
          <p:cNvPr id="3" name="Footer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/>
            <a:r>
              <a:rPr sz="850" dirty="0">
                <a:solidFill>
                  <a:srgbClr val="6B778C"/>
                </a:solidFill>
                <a:latin typeface="Aptos"/>
              </a:rPr>
              <a:t>AI Under the hood | Slide 3</a:t>
            </a:r>
          </a:p>
        </p:txBody>
      </p:sp>
      <p:sp>
        <p:nvSpPr>
          <p:cNvPr id="4" name="MAGPAI Session 1 Start Badge">
            <a:extLst>
              <a:ext uri="{FF2B5EF4-FFF2-40B4-BE49-F238E27FC236}">
                <a16:creationId xmlns:a16="http://schemas.microsoft.com/office/drawing/2014/main" id="{73AA6902-7D46-F48F-D8C4-EB89E4E0A335}"/>
              </a:ext>
            </a:extLst>
          </p:cNvPr>
          <p:cNvSpPr txBox="1"/>
          <p:nvPr/>
        </p:nvSpPr>
        <p:spPr>
          <a:xfrm>
            <a:off x="15391" y="2445586"/>
            <a:ext cx="977773" cy="670000"/>
          </a:xfrm>
          <a:prstGeom prst="roundRect">
            <a:avLst/>
          </a:prstGeom>
          <a:solidFill>
            <a:srgbClr val="0B5CAD"/>
          </a:solidFill>
          <a:ln w="25400">
            <a:solidFill>
              <a:srgbClr val="FFFFFF"/>
            </a:solidFill>
          </a:ln>
        </p:spPr>
        <p:txBody>
          <a:bodyPr lIns="91440" tIns="68580" rIns="91440" bIns="68580" rtlCol="0" anchor="ctr"/>
          <a:lstStyle/>
          <a:p>
            <a:pPr algn="ctr"/>
            <a:r>
              <a:rPr sz="1500" b="1" dirty="0">
                <a:solidFill>
                  <a:srgbClr val="FFFFFF"/>
                </a:solidFill>
                <a:latin typeface="Aptos"/>
              </a:rPr>
              <a:t>MAGPAI </a:t>
            </a:r>
          </a:p>
          <a:p>
            <a:pPr algn="ctr"/>
            <a:r>
              <a:rPr sz="1350" b="1" dirty="0">
                <a:solidFill>
                  <a:srgbClr val="FFFFFF"/>
                </a:solidFill>
                <a:latin typeface="Aptos"/>
              </a:rPr>
              <a:t>STARTS HERE</a:t>
            </a:r>
          </a:p>
        </p:txBody>
      </p:sp>
      <p:sp>
        <p:nvSpPr>
          <p:cNvPr id="5" name="MAGPAI Session 1 Start Arrow">
            <a:extLst>
              <a:ext uri="{FF2B5EF4-FFF2-40B4-BE49-F238E27FC236}">
                <a16:creationId xmlns:a16="http://schemas.microsoft.com/office/drawing/2014/main" id="{D6613EED-CF3E-7623-A36B-7277C0E96ABD}"/>
              </a:ext>
            </a:extLst>
          </p:cNvPr>
          <p:cNvSpPr/>
          <p:nvPr/>
        </p:nvSpPr>
        <p:spPr>
          <a:xfrm>
            <a:off x="1008102" y="2780586"/>
            <a:ext cx="688062" cy="0"/>
          </a:xfrm>
          <a:prstGeom prst="line">
            <a:avLst/>
          </a:prstGeom>
          <a:ln w="45720">
            <a:solidFill>
              <a:srgbClr val="00E676"/>
            </a:solidFill>
            <a:tailEnd type="triangle" w="med" len="med"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6189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508426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rPr dirty="0"/>
              <a:t>MAGPAI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From Sentence to Tokens to Vectors -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06070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B2F5B"/>
                </a:solidFill>
              </a:defRPr>
            </a:pPr>
            <a:r>
              <a:t>How Text Becomes Numbers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3657600"/>
            <a:ext cx="688975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Core idea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t>AI models do not read words directly. They process numeric patterns.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rPr dirty="0"/>
              <a:t>AI Under the hood | 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The Big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People read words. Neural-network models process numbers.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0352" y="1371600"/>
            <a:ext cx="10623336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600">
                <a:solidFill>
                  <a:srgbClr val="172B4D"/>
                </a:solidFill>
                <a:latin typeface="Consolas"/>
              </a:defRPr>
            </a:pPr>
            <a:r>
              <a:rPr dirty="0"/>
              <a:t>Text -&gt; Tokens -&gt; Token IDs -&gt; Vectors -&gt; Neural Network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459736"/>
            <a:ext cx="4937760" cy="128016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t>Human view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t>We see words, grammar, context, and meaning.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5928" y="2459736"/>
            <a:ext cx="4937760" cy="128016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rPr dirty="0"/>
              <a:t>Model view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dirty="0"/>
              <a:t>Here, model means a machine-learning model: a learned function that takes numbers as input and computes an output.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5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52CEB0B-E878-A3E2-5B4E-510F733B50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4139101"/>
            <a:ext cx="4711876" cy="176191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A55323B-2384-715E-3E27-8FFF6BD7FD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774" y="4015827"/>
            <a:ext cx="3666948" cy="26867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Starting Sentence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A simple business question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" y="1737360"/>
            <a:ext cx="10149840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3000">
                <a:solidFill>
                  <a:srgbClr val="172B4D"/>
                </a:solidFill>
                <a:latin typeface="Consolas"/>
              </a:defRPr>
            </a:pPr>
            <a:r>
              <a:rPr dirty="0"/>
              <a:t>"</a:t>
            </a:r>
            <a:r>
              <a:rPr lang="en-US" dirty="0"/>
              <a:t>are MAG s</a:t>
            </a:r>
            <a:r>
              <a:rPr dirty="0"/>
              <a:t>ales up in chicago?"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3108960"/>
            <a:ext cx="1014984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rPr lang="en-US" dirty="0"/>
              <a:t>Key takeaway</a:t>
            </a:r>
            <a:endParaRPr dirty="0"/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dirty="0"/>
              <a:t>This looks simple to us, but the model cannot process this raw English sentence directly. It first has to be converted into a numeric representation.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Tokenizer Step 1 - Tokens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Break the sentence into known pieces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463040"/>
            <a:ext cx="10424160" cy="109728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600">
                <a:solidFill>
                  <a:srgbClr val="172B4D"/>
                </a:solidFill>
                <a:latin typeface="Consolas"/>
              </a:defRPr>
            </a:pPr>
            <a:r>
              <a:rPr dirty="0"/>
              <a:t>[</a:t>
            </a:r>
            <a:r>
              <a:rPr lang="en-US" dirty="0"/>
              <a:t>"are", "MAG", </a:t>
            </a:r>
            <a:r>
              <a:rPr dirty="0"/>
              <a:t>"sales", "up", "in", "</a:t>
            </a:r>
            <a:r>
              <a:rPr dirty="0" err="1"/>
              <a:t>chicago</a:t>
            </a:r>
            <a:r>
              <a:rPr dirty="0"/>
              <a:t>", "?"]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971800"/>
            <a:ext cx="4846320" cy="155448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rPr dirty="0"/>
              <a:t>Demo simplification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rPr dirty="0"/>
              <a:t>For </a:t>
            </a:r>
            <a:r>
              <a:rPr lang="en-US" dirty="0"/>
              <a:t>this s</a:t>
            </a:r>
            <a:r>
              <a:rPr dirty="0"/>
              <a:t>ession, we use word-level tokens </a:t>
            </a:r>
            <a:r>
              <a:rPr lang="en-US" dirty="0"/>
              <a:t>to </a:t>
            </a:r>
            <a:r>
              <a:rPr dirty="0"/>
              <a:t>make the concept visible.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2971800"/>
            <a:ext cx="4846320" cy="155448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Real LLM tokenizers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Real tokenizers may use word pieces, subwords, punctuation, spaces, and special tokens.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40080" y="365760"/>
            <a:ext cx="1091184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3000"/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What Are Tokens and Tokenizers?</a:t>
            </a:r>
          </a:p>
        </p:txBody>
      </p:sp>
      <p:sp>
        <p:nvSpPr>
          <p:cNvPr id="3" name="Subtitle"/>
          <p:cNvSpPr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600"/>
            </a:pPr>
            <a:r>
              <a:rPr sz="1600" dirty="0">
                <a:solidFill>
                  <a:srgbClr val="5E6C84"/>
                </a:solidFill>
                <a:latin typeface="Aptos"/>
              </a:rPr>
              <a:t>The tokenizer is the first translation step</a:t>
            </a:r>
          </a:p>
        </p:txBody>
      </p:sp>
      <p:sp>
        <p:nvSpPr>
          <p:cNvPr id="4" name="Token Card"/>
          <p:cNvSpPr/>
          <p:nvPr/>
        </p:nvSpPr>
        <p:spPr>
          <a:xfrm>
            <a:off x="822960" y="1371600"/>
            <a:ext cx="3291840" cy="18288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Token</a:t>
            </a:r>
          </a:p>
          <a:p>
            <a:pPr algn="l">
              <a:defRPr sz="1550"/>
            </a:pPr>
            <a:r>
              <a:rPr sz="1550" dirty="0">
                <a:solidFill>
                  <a:srgbClr val="172B4D"/>
                </a:solidFill>
                <a:latin typeface="Aptos"/>
              </a:rPr>
              <a:t>A token is a known text piece the model can look up: a word, word piece, punctuation mark, or special marker.</a:t>
            </a:r>
          </a:p>
        </p:txBody>
      </p:sp>
      <p:sp>
        <p:nvSpPr>
          <p:cNvPr id="5" name="Tokenizer Card"/>
          <p:cNvSpPr/>
          <p:nvPr/>
        </p:nvSpPr>
        <p:spPr>
          <a:xfrm>
            <a:off x="4389120" y="1371600"/>
            <a:ext cx="3291840" cy="18288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Tokenizer</a:t>
            </a:r>
          </a:p>
          <a:p>
            <a:pPr algn="l">
              <a:defRPr sz="1550"/>
            </a:pPr>
            <a:r>
              <a:rPr sz="1550" dirty="0">
                <a:solidFill>
                  <a:srgbClr val="172B4D"/>
                </a:solidFill>
                <a:latin typeface="Aptos"/>
              </a:rPr>
              <a:t>A tokenizer is the rule or system that breaks raw text into tokens and prepares them for lookup.</a:t>
            </a:r>
          </a:p>
        </p:txBody>
      </p:sp>
      <p:sp>
        <p:nvSpPr>
          <p:cNvPr id="6" name="Demo Rule Card"/>
          <p:cNvSpPr/>
          <p:nvPr/>
        </p:nvSpPr>
        <p:spPr>
          <a:xfrm>
            <a:off x="7955280" y="1371600"/>
            <a:ext cx="3291840" cy="18288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Demo rule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Input:  are MAG sales up in chicago?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Tokens: ["are", "MAG", "sales", "up", "in", "chicago", "?"]</a:t>
            </a:r>
          </a:p>
        </p:txBody>
      </p:sp>
      <p:sp>
        <p:nvSpPr>
          <p:cNvPr id="7" name="Key takeaway"/>
          <p:cNvSpPr/>
          <p:nvPr/>
        </p:nvSpPr>
        <p:spPr>
          <a:xfrm>
            <a:off x="822960" y="5788152"/>
            <a:ext cx="996696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850"/>
            </a:pPr>
            <a:r>
              <a:rPr sz="1850" b="1" dirty="0">
                <a:solidFill>
                  <a:srgbClr val="0B2F5B"/>
                </a:solidFill>
                <a:latin typeface="Aptos"/>
              </a:rPr>
              <a:t>Key takeaway</a:t>
            </a:r>
          </a:p>
          <a:p>
            <a:pPr algn="ctr">
              <a:defRPr sz="1700"/>
            </a:pPr>
            <a:r>
              <a:rPr sz="1700" dirty="0">
                <a:solidFill>
                  <a:srgbClr val="172B4D"/>
                </a:solidFill>
                <a:latin typeface="Aptos"/>
              </a:rPr>
              <a:t>Tokenization does not understand meaning yet. It creates stable pieces that can be mapped to IDs.</a:t>
            </a:r>
          </a:p>
        </p:txBody>
      </p:sp>
      <p:sp>
        <p:nvSpPr>
          <p:cNvPr id="40" name="Footer"/>
          <p:cNvSpPr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>
              <a:defRPr sz="850"/>
            </a:pPr>
            <a:r>
              <a:rPr sz="850" dirty="0">
                <a:solidFill>
                  <a:srgbClr val="6B778C"/>
                </a:solidFill>
                <a:latin typeface="Aptos"/>
              </a:rPr>
              <a:t>AI Under the hood | Slide 8</a:t>
            </a:r>
          </a:p>
        </p:txBody>
      </p:sp>
      <p:sp>
        <p:nvSpPr>
          <p:cNvPr id="8" name="Token Card">
            <a:extLst>
              <a:ext uri="{FF2B5EF4-FFF2-40B4-BE49-F238E27FC236}">
                <a16:creationId xmlns:a16="http://schemas.microsoft.com/office/drawing/2014/main" id="{C1C42F9A-1A19-5862-1361-FF3109AFEA5F}"/>
              </a:ext>
            </a:extLst>
          </p:cNvPr>
          <p:cNvSpPr/>
          <p:nvPr/>
        </p:nvSpPr>
        <p:spPr>
          <a:xfrm>
            <a:off x="1645920" y="7237477"/>
            <a:ext cx="10424160" cy="18288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endParaRPr sz="1550" dirty="0">
              <a:solidFill>
                <a:srgbClr val="172B4D"/>
              </a:solidFill>
              <a:latin typeface="Aptos"/>
            </a:endParaRPr>
          </a:p>
        </p:txBody>
      </p:sp>
      <p:pic>
        <p:nvPicPr>
          <p:cNvPr id="1025" name="Picture 2">
            <a:extLst>
              <a:ext uri="{FF2B5EF4-FFF2-40B4-BE49-F238E27FC236}">
                <a16:creationId xmlns:a16="http://schemas.microsoft.com/office/drawing/2014/main" id="{4F95BBDA-590B-270B-BC04-AF1E191FAA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960" y="3266555"/>
            <a:ext cx="6651625" cy="525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3">
            <a:extLst>
              <a:ext uri="{FF2B5EF4-FFF2-40B4-BE49-F238E27FC236}">
                <a16:creationId xmlns:a16="http://schemas.microsoft.com/office/drawing/2014/main" id="{6167B4C7-FC18-6352-3591-BE6185B066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8081" y="3956758"/>
            <a:ext cx="6142387" cy="1600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b="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The set of all tokens a model can work with is called the model’s </a:t>
            </a:r>
            <a:r>
              <a:rPr lang="en-US" sz="14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Aptos" panose="020B0004020202020204" pitchFamily="34" charset="0"/>
              </a:rPr>
              <a:t>vocabulary</a:t>
            </a:r>
            <a:r>
              <a:rPr lang="en-US" sz="1400" b="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.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The process of breaking an original text into tokens is called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tokenization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. </a:t>
            </a:r>
          </a:p>
          <a:p>
            <a:endParaRPr lang="en-US" sz="1400" dirty="0"/>
          </a:p>
          <a:p>
            <a:r>
              <a:rPr lang="en-US" sz="1400" dirty="0"/>
              <a:t>An example phrase is:</a:t>
            </a:r>
          </a:p>
          <a:p>
            <a:r>
              <a:rPr lang="en-US" sz="1400" b="1" dirty="0"/>
              <a:t>“The unbelievable replay was replayed unbelievably.”</a:t>
            </a:r>
            <a:endParaRPr lang="en-US" sz="1400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The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00FFFF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un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believ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00FF0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able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C0C0C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re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00FF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play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was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C0C0C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re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00FF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play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ed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00FFFF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un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believ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00FF00"/>
                </a:highlight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able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 |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MS Mincho" panose="02020609040205080304" pitchFamily="49" charset="-128"/>
                <a:cs typeface="Cambria" panose="02040503050406030204" pitchFamily="18" charset="0"/>
              </a:rPr>
              <a:t>ly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" panose="020B0004020202020204" pitchFamily="34" charset="0"/>
              <a:ea typeface="MS Mincho" panose="02020609040205080304" pitchFamily="49" charset="-128"/>
              <a:cs typeface="Cambria" panose="020405030504060302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400" dirty="0"/>
              <a:t>The model can store </a:t>
            </a:r>
            <a:r>
              <a:rPr lang="en-US" sz="1400" u="sng" dirty="0"/>
              <a:t>reusable token fragments</a:t>
            </a:r>
            <a:endParaRPr kumimoji="0" lang="en-US" altLang="en-US" sz="1400" b="0" i="0" u="sng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" panose="020B0004020202020204" pitchFamily="34" charset="0"/>
              <a:ea typeface="MS Mincho" panose="02020609040205080304" pitchFamily="49" charset="-128"/>
              <a:cs typeface="Cambria" panose="020405030504060302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802190-2FB1-3317-D97F-381C8AC829A6}"/>
              </a:ext>
            </a:extLst>
          </p:cNvPr>
          <p:cNvSpPr txBox="1"/>
          <p:nvPr/>
        </p:nvSpPr>
        <p:spPr>
          <a:xfrm>
            <a:off x="822960" y="3755395"/>
            <a:ext cx="609750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i="1" dirty="0"/>
              <a:t>An example of how GPT-4 tokenizes a phrase.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Tokenizer Step 2 - Token IDs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Use the vocabulary lookup table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5212080" cy="246888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1600">
                <a:solidFill>
                  <a:srgbClr val="172B4D"/>
                </a:solidFill>
                <a:latin typeface="Consolas"/>
              </a:defRPr>
            </a:pPr>
            <a:r>
              <a:rPr dirty="0"/>
              <a:t>Vocabulary</a:t>
            </a:r>
            <a:br>
              <a:rPr dirty="0"/>
            </a:br>
            <a:br>
              <a:rPr dirty="0"/>
            </a:br>
            <a:r>
              <a:rPr dirty="0"/>
              <a:t>"&lt;PAD&gt;"   -&gt; 0</a:t>
            </a:r>
            <a:br>
              <a:rPr dirty="0"/>
            </a:br>
            <a:r>
              <a:rPr dirty="0"/>
              <a:t>"are"     -&gt; 1</a:t>
            </a:r>
            <a:br>
              <a:rPr dirty="0"/>
            </a:br>
            <a:r>
              <a:rPr dirty="0"/>
              <a:t>"MAG"     -&gt; 2</a:t>
            </a:r>
            <a:br>
              <a:rPr dirty="0"/>
            </a:br>
            <a:r>
              <a:rPr dirty="0"/>
              <a:t>"sales"   -&gt; 3</a:t>
            </a:r>
            <a:br>
              <a:rPr dirty="0"/>
            </a:br>
            <a:r>
              <a:rPr dirty="0"/>
              <a:t>"up"      -&gt; 4</a:t>
            </a:r>
            <a:br>
              <a:rPr dirty="0"/>
            </a:br>
            <a:r>
              <a:rPr dirty="0"/>
              <a:t>"in"      -&gt; 5</a:t>
            </a:r>
            <a:br>
              <a:rPr dirty="0"/>
            </a:br>
            <a:r>
              <a:rPr dirty="0"/>
              <a:t>"chicago" -&gt; 6</a:t>
            </a:r>
            <a:br>
              <a:rPr dirty="0"/>
            </a:br>
            <a:r>
              <a:rPr dirty="0"/>
              <a:t>"?"       -&gt;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234440"/>
            <a:ext cx="4937760" cy="246888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200">
                <a:solidFill>
                  <a:srgbClr val="172B4D"/>
                </a:solidFill>
                <a:latin typeface="Consolas"/>
              </a:defRPr>
            </a:pPr>
            <a:r>
              <a:rPr dirty="0"/>
              <a:t>[</a:t>
            </a:r>
            <a:r>
              <a:rPr lang="en-US" dirty="0"/>
              <a:t>"are", "MAG", </a:t>
            </a:r>
            <a:r>
              <a:rPr dirty="0"/>
              <a:t>"sales", "up", "in", "</a:t>
            </a:r>
            <a:r>
              <a:rPr dirty="0" err="1"/>
              <a:t>chicago</a:t>
            </a:r>
            <a:r>
              <a:rPr dirty="0"/>
              <a:t>", "?"]</a:t>
            </a:r>
            <a:br>
              <a:rPr dirty="0"/>
            </a:br>
            <a:r>
              <a:rPr dirty="0"/>
              <a:t>        </a:t>
            </a:r>
            <a:r>
              <a:rPr lang="en-US" dirty="0"/>
              <a:t>↓</a:t>
            </a:r>
            <a:br>
              <a:rPr dirty="0"/>
            </a:br>
            <a:r>
              <a:rPr dirty="0"/>
              <a:t>[1, 2, 3, 4, 5, 6, 7]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4206240"/>
            <a:ext cx="996696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rPr lang="en-US" dirty="0"/>
              <a:t>Key takeaway</a:t>
            </a:r>
          </a:p>
          <a:p>
            <a:pPr algn="ctr"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dirty="0">
                <a:highlight>
                  <a:srgbClr val="FFFF00"/>
                </a:highlight>
              </a:rPr>
              <a:t>The tokenizer does not define meaning. It maps known text pieces to integer IDs.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40080" y="365760"/>
            <a:ext cx="1091184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3000"/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What Is an Embedding?</a:t>
            </a:r>
          </a:p>
        </p:txBody>
      </p:sp>
      <p:sp>
        <p:nvSpPr>
          <p:cNvPr id="3" name="Subtitle"/>
          <p:cNvSpPr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600"/>
            </a:pPr>
            <a:r>
              <a:rPr sz="1600" dirty="0">
                <a:solidFill>
                  <a:srgbClr val="5E6C84"/>
                </a:solidFill>
                <a:latin typeface="Aptos"/>
              </a:rPr>
              <a:t>A learned table that turns token IDs into numeric rows</a:t>
            </a:r>
          </a:p>
        </p:txBody>
      </p:sp>
      <p:sp>
        <p:nvSpPr>
          <p:cNvPr id="4" name="Definition"/>
          <p:cNvSpPr/>
          <p:nvPr/>
        </p:nvSpPr>
        <p:spPr>
          <a:xfrm>
            <a:off x="822960" y="1371600"/>
            <a:ext cx="3474720" cy="219456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Embedding table</a:t>
            </a:r>
          </a:p>
          <a:p>
            <a:pPr algn="l">
              <a:defRPr sz="1550"/>
            </a:pPr>
            <a:r>
              <a:rPr sz="1550" dirty="0">
                <a:solidFill>
                  <a:srgbClr val="172B4D"/>
                </a:solidFill>
                <a:latin typeface="Aptos"/>
              </a:rPr>
              <a:t>An embedding table is a matrix learned during training. Each token ID selects one row from that matrix.</a:t>
            </a:r>
          </a:p>
        </p:txBody>
      </p:sp>
      <p:sp>
        <p:nvSpPr>
          <p:cNvPr id="5" name="Example Table"/>
          <p:cNvSpPr/>
          <p:nvPr/>
        </p:nvSpPr>
        <p:spPr>
          <a:xfrm>
            <a:off x="4846320" y="1188720"/>
            <a:ext cx="5760720" cy="256032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Tiny example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ID   token      vector row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1    are        [ 0.21, -0.44,  0.78,  0.12]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2    MAG        [ 0.03,  0.91, -0.14,  0.36]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3    sales      [-0.62,  0.18,  0.45, -0.09]</a:t>
            </a:r>
          </a:p>
        </p:txBody>
      </p:sp>
      <p:sp>
        <p:nvSpPr>
          <p:cNvPr id="6" name="Key takeaway"/>
          <p:cNvSpPr/>
          <p:nvPr/>
        </p:nvSpPr>
        <p:spPr>
          <a:xfrm>
            <a:off x="822960" y="5577840"/>
            <a:ext cx="996696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850"/>
            </a:pPr>
            <a:r>
              <a:rPr sz="1850" b="1" dirty="0">
                <a:solidFill>
                  <a:srgbClr val="0B2F5B"/>
                </a:solidFill>
                <a:latin typeface="Aptos"/>
              </a:rPr>
              <a:t>Key takeaway</a:t>
            </a:r>
          </a:p>
          <a:p>
            <a:pPr algn="ctr">
              <a:defRPr sz="1700"/>
            </a:pPr>
            <a:r>
              <a:rPr sz="1700" dirty="0">
                <a:solidFill>
                  <a:srgbClr val="172B4D"/>
                </a:solidFill>
                <a:highlight>
                  <a:srgbClr val="FFFF00"/>
                </a:highlight>
                <a:latin typeface="Aptos"/>
              </a:rPr>
              <a:t>During inference, we do not calculate these numbers from spelling. </a:t>
            </a:r>
            <a:r>
              <a:rPr sz="1700" dirty="0">
                <a:solidFill>
                  <a:srgbClr val="172B4D"/>
                </a:solidFill>
                <a:latin typeface="Aptos"/>
              </a:rPr>
              <a:t>We look up the learned row.</a:t>
            </a:r>
          </a:p>
        </p:txBody>
      </p:sp>
      <p:sp>
        <p:nvSpPr>
          <p:cNvPr id="40" name="Footer"/>
          <p:cNvSpPr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>
              <a:defRPr sz="850"/>
            </a:pPr>
            <a:r>
              <a:rPr sz="850" dirty="0">
                <a:solidFill>
                  <a:srgbClr val="6B778C"/>
                </a:solidFill>
                <a:latin typeface="Aptos"/>
              </a:rPr>
              <a:t>AI Under the hood | Slide 10</a:t>
            </a:r>
          </a:p>
        </p:txBody>
      </p:sp>
      <p:sp>
        <p:nvSpPr>
          <p:cNvPr id="9" name="Definition">
            <a:extLst>
              <a:ext uri="{FF2B5EF4-FFF2-40B4-BE49-F238E27FC236}">
                <a16:creationId xmlns:a16="http://schemas.microsoft.com/office/drawing/2014/main" id="{0FCD2D10-DB6A-EBB2-1E45-F3B0AF2ABB4B}"/>
              </a:ext>
            </a:extLst>
          </p:cNvPr>
          <p:cNvSpPr/>
          <p:nvPr/>
        </p:nvSpPr>
        <p:spPr>
          <a:xfrm>
            <a:off x="822959" y="3831882"/>
            <a:ext cx="9784081" cy="1654518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lang="en-US" sz="1550" dirty="0">
                <a:solidFill>
                  <a:srgbClr val="0B2F5B"/>
                </a:solidFill>
                <a:latin typeface="Aptos" panose="020B0004020202020204" pitchFamily="34" charset="0"/>
              </a:rPr>
              <a:t>A neural network contains a gigantic Embedding table matrix</a:t>
            </a:r>
          </a:p>
          <a:p>
            <a:pPr algn="l">
              <a:defRPr sz="1750"/>
            </a:pPr>
            <a:endParaRPr lang="en-US" sz="1550" dirty="0">
              <a:solidFill>
                <a:srgbClr val="0B2F5B"/>
              </a:solidFill>
              <a:latin typeface="Aptos" panose="020B0004020202020204" pitchFamily="34" charset="0"/>
            </a:endParaRPr>
          </a:p>
          <a:p>
            <a:pPr algn="l">
              <a:defRPr sz="1750"/>
            </a:pPr>
            <a:r>
              <a:rPr lang="en-US" sz="1550" dirty="0">
                <a:solidFill>
                  <a:srgbClr val="0B2F5B"/>
                </a:solidFill>
                <a:latin typeface="Aptos" panose="020B0004020202020204" pitchFamily="34" charset="0"/>
              </a:rPr>
              <a:t>Example dimensions:  Vocabulary size * Embedding dimension</a:t>
            </a:r>
          </a:p>
          <a:p>
            <a:pPr algn="l">
              <a:defRPr sz="1750"/>
            </a:pPr>
            <a:r>
              <a:rPr lang="en-US" sz="1550" dirty="0">
                <a:solidFill>
                  <a:srgbClr val="0B2F5B"/>
                </a:solidFill>
                <a:latin typeface="Aptos" panose="020B0004020202020204" pitchFamily="34" charset="0"/>
              </a:rPr>
              <a:t>GPT4                                            100,256          *               1,536</a:t>
            </a:r>
          </a:p>
          <a:p>
            <a:pPr algn="l">
              <a:defRPr sz="1750"/>
            </a:pPr>
            <a:endParaRPr lang="en-US" sz="1550" dirty="0">
              <a:solidFill>
                <a:srgbClr val="0B2F5B"/>
              </a:solidFill>
              <a:latin typeface="Aptos" panose="020B0004020202020204" pitchFamily="34" charset="0"/>
            </a:endParaRPr>
          </a:p>
          <a:p>
            <a:pPr algn="l">
              <a:defRPr sz="1750"/>
            </a:pPr>
            <a:r>
              <a:rPr lang="en-US" sz="1550" dirty="0">
                <a:solidFill>
                  <a:srgbClr val="0B2F5B"/>
                </a:solidFill>
                <a:latin typeface="Aptos" panose="020B0004020202020204" pitchFamily="34" charset="0"/>
              </a:rPr>
              <a:t>Meaning: each token is represented by 1,536 floating point numbers</a:t>
            </a:r>
            <a:endParaRPr lang="en-US" sz="1550" dirty="0">
              <a:latin typeface="Aptos" panose="020B0004020202020204" pitchFamily="34" charset="0"/>
            </a:endParaRPr>
          </a:p>
          <a:p>
            <a:pPr algn="l">
              <a:defRPr sz="1750"/>
            </a:pPr>
            <a:endParaRPr sz="1750" dirty="0">
              <a:solidFill>
                <a:srgbClr val="0B2F5B"/>
              </a:solidFill>
              <a:latin typeface="Aptos"/>
            </a:endParaRPr>
          </a:p>
          <a:p>
            <a:pPr algn="l">
              <a:defRPr sz="1550"/>
            </a:pPr>
            <a:endParaRPr sz="1550" dirty="0">
              <a:solidFill>
                <a:srgbClr val="172B4D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274320"/>
            <a:ext cx="1112520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2600"/>
            </a:pPr>
            <a:r>
              <a:rPr sz="2600" b="1" dirty="0">
                <a:solidFill>
                  <a:srgbClr val="0B2F5B"/>
                </a:solidFill>
                <a:latin typeface="Aptos"/>
              </a:rPr>
              <a:t>Embeddings: Learned Geometric Coordinates of Meaning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94360" y="777240"/>
            <a:ext cx="1082040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550"/>
            </a:pPr>
            <a:r>
              <a:rPr sz="1550" dirty="0">
                <a:solidFill>
                  <a:srgbClr val="52616B"/>
                </a:solidFill>
                <a:latin typeface="Aptos"/>
              </a:rPr>
              <a:t>Training turns random vectors into a map where </a:t>
            </a:r>
            <a:r>
              <a:rPr sz="1550" dirty="0">
                <a:solidFill>
                  <a:srgbClr val="52616B"/>
                </a:solidFill>
                <a:highlight>
                  <a:srgbClr val="FFFF00"/>
                </a:highlight>
                <a:latin typeface="Aptos"/>
              </a:rPr>
              <a:t>distance carries semantics</a:t>
            </a:r>
            <a:r>
              <a:rPr sz="1550" dirty="0">
                <a:solidFill>
                  <a:srgbClr val="52616B"/>
                </a:solidFill>
                <a:latin typeface="Aptos"/>
              </a:rPr>
              <a:t>.</a:t>
            </a:r>
          </a:p>
        </p:txBody>
      </p:sp>
      <p:sp>
        <p:nvSpPr>
          <p:cNvPr id="4" name="Initially Random"/>
          <p:cNvSpPr/>
          <p:nvPr/>
        </p:nvSpPr>
        <p:spPr>
          <a:xfrm>
            <a:off x="640080" y="1280160"/>
            <a:ext cx="3291840" cy="173736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91440" tIns="91440" rIns="91440" bIns="9144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Initially</a:t>
            </a:r>
          </a:p>
          <a:p>
            <a:pPr algn="l">
              <a:defRPr sz="1250"/>
            </a:pPr>
            <a:r>
              <a:rPr sz="1250" dirty="0">
                <a:solidFill>
                  <a:srgbClr val="172B4D"/>
                </a:solidFill>
                <a:latin typeface="Consolas"/>
              </a:rPr>
              <a:t>MAG     = [random garbage]</a:t>
            </a:r>
            <a:br/>
            <a:r>
              <a:rPr sz="1250" dirty="0">
                <a:solidFill>
                  <a:srgbClr val="172B4D"/>
                </a:solidFill>
                <a:latin typeface="Consolas"/>
              </a:rPr>
              <a:t>sales   = [random garbage]</a:t>
            </a:r>
            <a:br/>
            <a:r>
              <a:rPr sz="1250" dirty="0">
                <a:solidFill>
                  <a:srgbClr val="172B4D"/>
                </a:solidFill>
                <a:latin typeface="Consolas"/>
              </a:rPr>
              <a:t>Chicago = [random garbage]</a:t>
            </a:r>
          </a:p>
        </p:txBody>
      </p:sp>
      <p:sp>
        <p:nvSpPr>
          <p:cNvPr id="5" name="Training Contexts"/>
          <p:cNvSpPr/>
          <p:nvPr/>
        </p:nvSpPr>
        <p:spPr>
          <a:xfrm>
            <a:off x="4389120" y="1280160"/>
            <a:ext cx="3200400" cy="173736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91440" tIns="91440" rIns="91440" bIns="9144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During training</a:t>
            </a:r>
          </a:p>
          <a:p>
            <a:pPr algn="l">
              <a:defRPr sz="1350"/>
            </a:pPr>
            <a:r>
              <a:rPr sz="1350" dirty="0">
                <a:solidFill>
                  <a:srgbClr val="172B4D"/>
                </a:solidFill>
                <a:latin typeface="Consolas"/>
              </a:rPr>
              <a:t>sales up</a:t>
            </a:r>
            <a:br/>
            <a:r>
              <a:rPr sz="1350" dirty="0">
                <a:solidFill>
                  <a:srgbClr val="172B4D"/>
                </a:solidFill>
                <a:latin typeface="Consolas"/>
              </a:rPr>
              <a:t>sales increased</a:t>
            </a:r>
            <a:br/>
            <a:r>
              <a:rPr sz="1350" dirty="0">
                <a:solidFill>
                  <a:srgbClr val="172B4D"/>
                </a:solidFill>
                <a:latin typeface="Consolas"/>
              </a:rPr>
              <a:t>revenue growth</a:t>
            </a:r>
            <a:br/>
            <a:r>
              <a:rPr sz="1350" dirty="0">
                <a:solidFill>
                  <a:srgbClr val="172B4D"/>
                </a:solidFill>
                <a:latin typeface="Consolas"/>
              </a:rPr>
              <a:t>Chicago region</a:t>
            </a:r>
          </a:p>
        </p:txBody>
      </p:sp>
      <p:sp>
        <p:nvSpPr>
          <p:cNvPr id="6" name="Geometry Meaning"/>
          <p:cNvSpPr/>
          <p:nvPr/>
        </p:nvSpPr>
        <p:spPr>
          <a:xfrm>
            <a:off x="8138160" y="1280160"/>
            <a:ext cx="3200400" cy="1737360"/>
          </a:xfrm>
          <a:prstGeom prst="roundRect">
            <a:avLst/>
          </a:prstGeom>
          <a:solidFill>
            <a:srgbClr val="EAF3FF"/>
          </a:solidFill>
          <a:ln>
            <a:solidFill>
              <a:srgbClr val="0B5CAD"/>
            </a:solidFill>
          </a:ln>
        </p:spPr>
        <p:txBody>
          <a:bodyPr lIns="91440" tIns="91440" rIns="91440" bIns="9144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Backprop moves vectors</a:t>
            </a:r>
          </a:p>
          <a:p>
            <a:pPr algn="l">
              <a:defRPr sz="1375"/>
            </a:pPr>
            <a:r>
              <a:rPr sz="1375" dirty="0">
                <a:solidFill>
                  <a:srgbClr val="172B4D"/>
                </a:solidFill>
                <a:latin typeface="Aptos"/>
              </a:rPr>
              <a:t>similar words move closer</a:t>
            </a:r>
            <a:br/>
            <a:r>
              <a:rPr sz="1375" dirty="0">
                <a:solidFill>
                  <a:srgbClr val="172B4D"/>
                </a:solidFill>
                <a:latin typeface="Aptos"/>
              </a:rPr>
              <a:t>unrelated words move apart</a:t>
            </a:r>
            <a:br/>
            <a:r>
              <a:rPr sz="1375" dirty="0">
                <a:solidFill>
                  <a:srgbClr val="172B4D"/>
                </a:solidFill>
                <a:latin typeface="Aptos"/>
              </a:rPr>
              <a:t>geometry stores meaning</a:t>
            </a:r>
          </a:p>
        </p:txBody>
      </p:sp>
      <p:sp>
        <p:nvSpPr>
          <p:cNvPr id="7" name="Visual Intuition"/>
          <p:cNvSpPr/>
          <p:nvPr/>
        </p:nvSpPr>
        <p:spPr>
          <a:xfrm>
            <a:off x="640080" y="3370320"/>
            <a:ext cx="502920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BED2E6"/>
            </a:solidFill>
          </a:ln>
        </p:spPr>
        <p:txBody>
          <a:bodyPr lIns="91440" tIns="91440" rIns="91440" bIns="91440" rtlCol="0" anchor="t"/>
          <a:lstStyle/>
          <a:p>
            <a:pPr algn="l">
              <a:defRPr sz="1650"/>
            </a:pPr>
            <a:r>
              <a:rPr sz="1650" b="1" dirty="0">
                <a:solidFill>
                  <a:srgbClr val="0B2F5B"/>
                </a:solidFill>
                <a:latin typeface="Aptos"/>
              </a:rPr>
              <a:t>Visual intuition: distances encode relationships</a:t>
            </a:r>
          </a:p>
          <a:p>
            <a:pPr algn="l">
              <a:defRPr sz="1250"/>
            </a:pPr>
            <a:r>
              <a:rPr sz="1250" dirty="0">
                <a:solidFill>
                  <a:srgbClr val="172B4D"/>
                </a:solidFill>
                <a:latin typeface="Consolas"/>
              </a:rPr>
              <a:t>king   (2, 9, 4)    queen  (2, 9, 5)</a:t>
            </a:r>
            <a:br/>
            <a:r>
              <a:rPr sz="1250" dirty="0">
                <a:solidFill>
                  <a:srgbClr val="172B4D"/>
                </a:solidFill>
                <a:latin typeface="Consolas"/>
              </a:rPr>
              <a:t>man    (1, 4, 3)    woman  (1, 4, 4)</a:t>
            </a:r>
          </a:p>
          <a:p>
            <a:pPr algn="l">
              <a:defRPr sz="1550"/>
            </a:pPr>
            <a:r>
              <a:rPr sz="1550" b="1" dirty="0">
                <a:solidFill>
                  <a:srgbClr val="0B5CAD"/>
                </a:solidFill>
                <a:latin typeface="Consolas"/>
              </a:rPr>
              <a:t>king - man + woman ~= queen</a:t>
            </a:r>
          </a:p>
        </p:txBody>
      </p:sp>
      <p:sp>
        <p:nvSpPr>
          <p:cNvPr id="8" name="Sentence Embeddings"/>
          <p:cNvSpPr/>
          <p:nvPr/>
        </p:nvSpPr>
        <p:spPr>
          <a:xfrm>
            <a:off x="5989320" y="3370320"/>
            <a:ext cx="53949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BED2E6"/>
            </a:solidFill>
          </a:ln>
        </p:spPr>
        <p:txBody>
          <a:bodyPr lIns="91440" tIns="91440" rIns="91440" bIns="91440" rtlCol="0" anchor="t"/>
          <a:lstStyle/>
          <a:p>
            <a:pPr algn="l">
              <a:defRPr sz="1650"/>
            </a:pPr>
            <a:r>
              <a:rPr sz="1650" b="1" dirty="0">
                <a:solidFill>
                  <a:srgbClr val="0B2F5B"/>
                </a:solidFill>
                <a:latin typeface="Aptos"/>
              </a:rPr>
              <a:t>Sentence embeddings combine token vectors</a:t>
            </a:r>
          </a:p>
          <a:p>
            <a:pPr algn="l">
              <a:defRPr sz="1250"/>
            </a:pPr>
            <a:r>
              <a:rPr sz="1250" dirty="0">
                <a:solidFill>
                  <a:srgbClr val="172B4D"/>
                </a:solidFill>
                <a:latin typeface="Aptos"/>
              </a:rPr>
              <a:t>averaging | attention | transformers | pooling</a:t>
            </a:r>
          </a:p>
          <a:p>
            <a:pPr algn="l">
              <a:defRPr sz="1200"/>
            </a:pPr>
            <a:r>
              <a:rPr sz="1200" dirty="0">
                <a:solidFill>
                  <a:srgbClr val="172B4D"/>
                </a:solidFill>
                <a:latin typeface="Consolas"/>
              </a:rPr>
              <a:t>"MAG sales are up in Chicago"</a:t>
            </a:r>
            <a:br/>
            <a:r>
              <a:rPr sz="1200" dirty="0">
                <a:solidFill>
                  <a:srgbClr val="172B4D"/>
                </a:solidFill>
                <a:latin typeface="Consolas"/>
              </a:rPr>
              <a:t>-&gt; [0.192, -0.551, 0.882, ... 1536 dims ...]</a:t>
            </a:r>
          </a:p>
          <a:p>
            <a:pPr algn="l">
              <a:defRPr sz="1225"/>
            </a:pPr>
            <a:r>
              <a:rPr sz="1225" dirty="0">
                <a:solidFill>
                  <a:srgbClr val="52616B"/>
                </a:solidFill>
                <a:latin typeface="Aptos"/>
              </a:rPr>
              <a:t>captures business context, trend, location, and organization semantics</a:t>
            </a:r>
          </a:p>
        </p:txBody>
      </p:sp>
      <p:sp>
        <p:nvSpPr>
          <p:cNvPr id="9" name="Why This Works"/>
          <p:cNvSpPr/>
          <p:nvPr/>
        </p:nvSpPr>
        <p:spPr>
          <a:xfrm>
            <a:off x="914400" y="5791200"/>
            <a:ext cx="10393680" cy="54864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450"/>
            </a:pPr>
            <a:r>
              <a:rPr sz="1450" b="1" dirty="0">
                <a:solidFill>
                  <a:srgbClr val="172B4D"/>
                </a:solidFill>
                <a:highlight>
                  <a:srgbClr val="FFFF00"/>
                </a:highlight>
                <a:latin typeface="Aptos"/>
              </a:rPr>
              <a:t>Why it works: language has statistical structure. Context patterns -&gt; geometric relationships. </a:t>
            </a:r>
            <a:endParaRPr lang="en-US" sz="1450" b="1" dirty="0">
              <a:solidFill>
                <a:srgbClr val="172B4D"/>
              </a:solidFill>
              <a:highlight>
                <a:srgbClr val="FFFF00"/>
              </a:highlight>
              <a:latin typeface="Aptos"/>
            </a:endParaRPr>
          </a:p>
          <a:p>
            <a:pPr algn="ctr">
              <a:defRPr sz="1450"/>
            </a:pPr>
            <a:r>
              <a:rPr sz="1450" dirty="0">
                <a:solidFill>
                  <a:srgbClr val="172B4D"/>
                </a:solidFill>
                <a:latin typeface="Aptos"/>
              </a:rPr>
              <a:t>Foundation for Word2Vec, GloVe, BERT, GPT, and LLMs.</a:t>
            </a:r>
          </a:p>
        </p:txBody>
      </p:sp>
      <p:sp>
        <p:nvSpPr>
          <p:cNvPr id="10" name="Footer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Embedding Lookup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Token IDs become vectors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80160"/>
            <a:ext cx="10424160" cy="1616949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200">
                <a:solidFill>
                  <a:srgbClr val="172B4D"/>
                </a:solidFill>
                <a:latin typeface="Consolas"/>
              </a:defRPr>
            </a:pPr>
            <a:r>
              <a:rPr dirty="0"/>
              <a:t>1 -&gt; [ 0.21, -0.44,  0.78,  0.12]</a:t>
            </a:r>
            <a:br>
              <a:rPr dirty="0"/>
            </a:br>
            <a:r>
              <a:rPr dirty="0"/>
              <a:t>2 -&gt; [ 0.03,  0.91, -0.14,  0.36]</a:t>
            </a:r>
            <a:br>
              <a:rPr dirty="0"/>
            </a:br>
            <a:r>
              <a:rPr dirty="0"/>
              <a:t>3 -&gt; [-0.62,  0.18,  0.45, -0.09]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5288128"/>
            <a:ext cx="10424160" cy="109728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rPr lang="en-US" dirty="0"/>
              <a:t>Key takeaway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dirty="0"/>
              <a:t>The token ID is an index. It selects a row from the embedding matrix. The selected row is the token vector.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12</a:t>
            </a:r>
          </a:p>
        </p:txBody>
      </p:sp>
      <p:sp>
        <p:nvSpPr>
          <p:cNvPr id="7" name="Rounded Rectangle 3">
            <a:extLst>
              <a:ext uri="{FF2B5EF4-FFF2-40B4-BE49-F238E27FC236}">
                <a16:creationId xmlns:a16="http://schemas.microsoft.com/office/drawing/2014/main" id="{4D62C980-9521-DFEE-0DCD-FEEC67E8FE40}"/>
              </a:ext>
            </a:extLst>
          </p:cNvPr>
          <p:cNvSpPr/>
          <p:nvPr/>
        </p:nvSpPr>
        <p:spPr>
          <a:xfrm>
            <a:off x="883920" y="3307531"/>
            <a:ext cx="10424160" cy="1616949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200">
                <a:solidFill>
                  <a:srgbClr val="172B4D"/>
                </a:solidFill>
                <a:latin typeface="Consolas"/>
              </a:defRPr>
            </a:pPr>
            <a:r>
              <a:rPr lang="en-US" dirty="0"/>
              <a:t>Conceptually: </a:t>
            </a:r>
            <a:r>
              <a:rPr lang="en-US" dirty="0" err="1"/>
              <a:t>EmbeddingMatrix</a:t>
            </a:r>
            <a:r>
              <a:rPr lang="en-US" dirty="0"/>
              <a:t>[ </a:t>
            </a:r>
            <a:r>
              <a:rPr lang="en-US" dirty="0" err="1"/>
              <a:t>token_id</a:t>
            </a:r>
            <a:r>
              <a:rPr lang="en-US" dirty="0"/>
              <a:t> ] returns a vector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40080" y="365760"/>
            <a:ext cx="1091184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3000"/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What Is a Vector?</a:t>
            </a:r>
          </a:p>
        </p:txBody>
      </p:sp>
      <p:sp>
        <p:nvSpPr>
          <p:cNvPr id="3" name="Subtitle"/>
          <p:cNvSpPr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600"/>
            </a:pPr>
            <a:r>
              <a:rPr sz="1600" dirty="0">
                <a:solidFill>
                  <a:srgbClr val="5E6C84"/>
                </a:solidFill>
                <a:latin typeface="Aptos"/>
              </a:rPr>
              <a:t>A compact list of numbers the neural network can compute with</a:t>
            </a:r>
          </a:p>
        </p:txBody>
      </p:sp>
      <p:sp>
        <p:nvSpPr>
          <p:cNvPr id="4" name="Vector"/>
          <p:cNvSpPr/>
          <p:nvPr/>
        </p:nvSpPr>
        <p:spPr>
          <a:xfrm>
            <a:off x="822960" y="1371600"/>
            <a:ext cx="3474720" cy="219456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Vector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sales vector: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[-0.62, 0.18, 0.45, -0.09]</a:t>
            </a:r>
          </a:p>
        </p:txBody>
      </p:sp>
      <p:sp>
        <p:nvSpPr>
          <p:cNvPr id="5" name="Algorithm"/>
          <p:cNvSpPr/>
          <p:nvPr/>
        </p:nvSpPr>
        <p:spPr>
          <a:xfrm>
            <a:off x="4846320" y="1188720"/>
            <a:ext cx="5760720" cy="237744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Demo algorithm for sales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1. Token: "sales"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2. Vocabulary lookup: "sales" -&gt; 3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3. Embedding lookup: E[3]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4. Output</a:t>
            </a:r>
            <a:r>
              <a:rPr lang="en-US" sz="1500" dirty="0">
                <a:solidFill>
                  <a:srgbClr val="172B4D"/>
                </a:solidFill>
                <a:latin typeface="Consolas"/>
              </a:rPr>
              <a:t> Vector</a:t>
            </a:r>
            <a:r>
              <a:rPr sz="1500" dirty="0">
                <a:solidFill>
                  <a:srgbClr val="172B4D"/>
                </a:solidFill>
                <a:latin typeface="Consolas"/>
              </a:rPr>
              <a:t>: [-0.62, 0.18, 0.45, -0.09]</a:t>
            </a:r>
          </a:p>
        </p:txBody>
      </p:sp>
      <p:sp>
        <p:nvSpPr>
          <p:cNvPr id="6" name="Key takeaway"/>
          <p:cNvSpPr/>
          <p:nvPr/>
        </p:nvSpPr>
        <p:spPr>
          <a:xfrm>
            <a:off x="822960" y="4346840"/>
            <a:ext cx="9966960" cy="1807072"/>
          </a:xfrm>
          <a:prstGeom prst="roundRect">
            <a:avLst/>
          </a:prstGeom>
          <a:solidFill>
            <a:srgbClr val="FFFFFF"/>
          </a:solidFill>
          <a:ln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850"/>
            </a:pPr>
            <a:r>
              <a:rPr sz="1850" b="1" dirty="0">
                <a:solidFill>
                  <a:srgbClr val="0B2F5B"/>
                </a:solidFill>
                <a:latin typeface="Aptos"/>
              </a:rPr>
              <a:t>Key takeaway</a:t>
            </a:r>
            <a:endParaRPr lang="en-US" sz="1850" b="1" dirty="0">
              <a:solidFill>
                <a:srgbClr val="0B2F5B"/>
              </a:solidFill>
              <a:latin typeface="Aptos"/>
            </a:endParaRPr>
          </a:p>
          <a:p>
            <a:pPr algn="ctr">
              <a:defRPr sz="1700"/>
            </a:pPr>
            <a:r>
              <a:rPr sz="1700" dirty="0">
                <a:solidFill>
                  <a:srgbClr val="172B4D"/>
                </a:solidFill>
                <a:latin typeface="Aptos"/>
              </a:rPr>
              <a:t>A vector is the numeric representation that moves forward. </a:t>
            </a:r>
            <a:endParaRPr lang="en-US" sz="1700" dirty="0">
              <a:solidFill>
                <a:srgbClr val="172B4D"/>
              </a:solidFill>
              <a:latin typeface="Aptos"/>
            </a:endParaRPr>
          </a:p>
          <a:p>
            <a:pPr algn="ctr">
              <a:defRPr sz="1700"/>
            </a:pPr>
            <a:r>
              <a:rPr sz="1700" dirty="0">
                <a:solidFill>
                  <a:srgbClr val="172B4D"/>
                </a:solidFill>
                <a:latin typeface="Aptos"/>
              </a:rPr>
              <a:t>The values are learned, then selected by ID.</a:t>
            </a:r>
            <a:endParaRPr lang="en-US" sz="1700" dirty="0">
              <a:solidFill>
                <a:srgbClr val="172B4D"/>
              </a:solidFill>
              <a:latin typeface="Aptos"/>
            </a:endParaRPr>
          </a:p>
          <a:p>
            <a:pPr algn="ctr">
              <a:defRPr sz="1700"/>
            </a:pPr>
            <a:endParaRPr lang="en-US" sz="1700" dirty="0">
              <a:solidFill>
                <a:srgbClr val="172B4D"/>
              </a:solidFill>
              <a:latin typeface="Aptos"/>
            </a:endParaRPr>
          </a:p>
          <a:p>
            <a:pPr algn="ctr">
              <a:defRPr sz="1700"/>
            </a:pPr>
            <a:r>
              <a:rPr lang="en-US" sz="1700" dirty="0">
                <a:solidFill>
                  <a:srgbClr val="172B4D"/>
                </a:solidFill>
                <a:highlight>
                  <a:srgbClr val="FFFF00"/>
                </a:highlight>
                <a:latin typeface="Aptos"/>
              </a:rPr>
              <a:t>The word “Sales” now is a </a:t>
            </a:r>
            <a:r>
              <a:rPr lang="en-US" sz="1700" u="sng" dirty="0">
                <a:solidFill>
                  <a:srgbClr val="172B4D"/>
                </a:solidFill>
                <a:highlight>
                  <a:srgbClr val="FFFF00"/>
                </a:highlight>
                <a:latin typeface="Aptos"/>
              </a:rPr>
              <a:t>point in multidimensional space</a:t>
            </a:r>
            <a:r>
              <a:rPr lang="en-US" sz="1700" dirty="0">
                <a:solidFill>
                  <a:srgbClr val="172B4D"/>
                </a:solidFill>
                <a:latin typeface="Aptos"/>
              </a:rPr>
              <a:t>.</a:t>
            </a:r>
            <a:endParaRPr sz="1700" dirty="0">
              <a:solidFill>
                <a:srgbClr val="172B4D"/>
              </a:solidFill>
              <a:latin typeface="Aptos"/>
            </a:endParaRPr>
          </a:p>
        </p:txBody>
      </p:sp>
      <p:sp>
        <p:nvSpPr>
          <p:cNvPr id="40" name="Footer"/>
          <p:cNvSpPr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>
              <a:defRPr sz="850"/>
            </a:pPr>
            <a:r>
              <a:rPr sz="850" dirty="0">
                <a:solidFill>
                  <a:srgbClr val="6B778C"/>
                </a:solidFill>
                <a:latin typeface="Aptos"/>
              </a:rPr>
              <a:t>AI Under the hood | Slide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5577745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rPr dirty="0"/>
              <a:t>How Token ID </a:t>
            </a:r>
            <a:r>
              <a:rPr lang="en-US" dirty="0"/>
              <a:t>3</a:t>
            </a:r>
            <a:r>
              <a:rPr dirty="0"/>
              <a:t> Becomes a Vector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The algorithm is a row lookup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289" y="1234440"/>
            <a:ext cx="3062113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500">
                <a:solidFill>
                  <a:srgbClr val="172B4D"/>
                </a:solidFill>
                <a:latin typeface="Consolas"/>
              </a:defRPr>
            </a:pPr>
            <a:r>
              <a:rPr dirty="0"/>
              <a:t>Token ID </a:t>
            </a:r>
            <a:r>
              <a:rPr lang="en-US" dirty="0"/>
              <a:t>3</a:t>
            </a:r>
            <a:endParaRPr dirty="0"/>
          </a:p>
        </p:txBody>
      </p:sp>
      <p:cxnSp>
        <p:nvCxnSpPr>
          <p:cNvPr id="5" name="Connector 4"/>
          <p:cNvCxnSpPr>
            <a:cxnSpLocks/>
          </p:cNvCxnSpPr>
          <p:nvPr/>
        </p:nvCxnSpPr>
        <p:spPr>
          <a:xfrm>
            <a:off x="3793402" y="1691640"/>
            <a:ext cx="675640" cy="0"/>
          </a:xfrm>
          <a:prstGeom prst="line">
            <a:avLst/>
          </a:prstGeom>
          <a:ln w="38100">
            <a:solidFill>
              <a:srgbClr val="0B5C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496474" y="1234440"/>
            <a:ext cx="2485901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500">
                <a:solidFill>
                  <a:srgbClr val="172B4D"/>
                </a:solidFill>
                <a:latin typeface="Consolas"/>
              </a:defRPr>
            </a:pPr>
            <a:r>
              <a:rPr dirty="0"/>
              <a:t>E[</a:t>
            </a:r>
            <a:r>
              <a:rPr lang="en-US" dirty="0"/>
              <a:t>3</a:t>
            </a:r>
            <a:r>
              <a:rPr dirty="0"/>
              <a:t>]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82375" y="1691640"/>
            <a:ext cx="685800" cy="0"/>
          </a:xfrm>
          <a:prstGeom prst="line">
            <a:avLst/>
          </a:prstGeom>
          <a:ln w="38100">
            <a:solidFill>
              <a:srgbClr val="0B5C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668174" y="1228555"/>
            <a:ext cx="3670385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>
              <a:defRPr sz="1600">
                <a:solidFill>
                  <a:srgbClr val="172B4D"/>
                </a:solidFill>
                <a:latin typeface="Consolas"/>
              </a:defRPr>
            </a:pPr>
            <a:r>
              <a:rPr dirty="0"/>
              <a:t>[</a:t>
            </a:r>
            <a:r>
              <a:rPr lang="en-US" dirty="0"/>
              <a:t>-0.62,  0.18,  0.45, -0.09</a:t>
            </a:r>
            <a:r>
              <a:rPr dirty="0"/>
              <a:t>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200400"/>
            <a:ext cx="1042416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rPr dirty="0"/>
              <a:t>Important distinction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dirty="0">
                <a:highlight>
                  <a:srgbClr val="FFFF00"/>
                </a:highlight>
              </a:rPr>
              <a:t>The integer </a:t>
            </a:r>
            <a:r>
              <a:rPr lang="en-US" dirty="0">
                <a:highlight>
                  <a:srgbClr val="FFFF00"/>
                </a:highlight>
              </a:rPr>
              <a:t>3</a:t>
            </a:r>
            <a:r>
              <a:rPr dirty="0">
                <a:highlight>
                  <a:srgbClr val="FFFF00"/>
                </a:highlight>
              </a:rPr>
              <a:t> does not contain the meaning of “sales.” It points to a learned row in the embedding matrix.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40080" y="365760"/>
            <a:ext cx="8657178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0B2F5B"/>
                </a:solidFill>
                <a:latin typeface="Aptos"/>
              </a:defRPr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Embeddings Become </a:t>
            </a:r>
            <a:r>
              <a:rPr lang="en-US" sz="3000" b="1" dirty="0">
                <a:solidFill>
                  <a:srgbClr val="0B2F5B"/>
                </a:solidFill>
                <a:latin typeface="Aptos"/>
              </a:rPr>
              <a:t>Neural Network </a:t>
            </a:r>
            <a:r>
              <a:rPr sz="3000" b="1" dirty="0">
                <a:solidFill>
                  <a:srgbClr val="0B2F5B"/>
                </a:solidFill>
                <a:latin typeface="Aptos"/>
              </a:rPr>
              <a:t>Activations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>
                <a:solidFill>
                  <a:srgbClr val="5E6C84"/>
                </a:solidFill>
                <a:latin typeface="Aptos"/>
              </a:defRPr>
            </a:pPr>
            <a:r>
              <a:rPr sz="1600">
                <a:solidFill>
                  <a:srgbClr val="5E6C84"/>
                </a:solidFill>
                <a:latin typeface="Aptos"/>
              </a:rPr>
              <a:t>The vectors are the live numeric input flowing into the neural network</a:t>
            </a:r>
          </a:p>
        </p:txBody>
      </p:sp>
      <p:sp>
        <p:nvSpPr>
          <p:cNvPr id="4" name="Text"/>
          <p:cNvSpPr/>
          <p:nvPr/>
        </p:nvSpPr>
        <p:spPr>
          <a:xfrm>
            <a:off x="365760" y="1548384"/>
            <a:ext cx="13716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>
                <a:solidFill>
                  <a:srgbClr val="0B2F5B"/>
                </a:solidFill>
                <a:latin typeface="Aptos"/>
              </a:rPr>
              <a:t>Text</a:t>
            </a:r>
          </a:p>
        </p:txBody>
      </p:sp>
      <p:sp>
        <p:nvSpPr>
          <p:cNvPr id="5" name="Arrow"/>
          <p:cNvSpPr txBox="1"/>
          <p:nvPr/>
        </p:nvSpPr>
        <p:spPr>
          <a:xfrm>
            <a:off x="1798320" y="1822704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B5CAD"/>
                </a:solidFill>
                <a:latin typeface="Aptos"/>
              </a:defRPr>
            </a:pPr>
            <a:r>
              <a:rPr sz="1600" b="1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6" name="Token IDs"/>
          <p:cNvSpPr/>
          <p:nvPr/>
        </p:nvSpPr>
        <p:spPr>
          <a:xfrm>
            <a:off x="2164080" y="1548384"/>
            <a:ext cx="164592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>
                <a:solidFill>
                  <a:srgbClr val="0B2F5B"/>
                </a:solidFill>
                <a:latin typeface="Aptos"/>
              </a:rPr>
              <a:t>Token IDs</a:t>
            </a:r>
          </a:p>
        </p:txBody>
      </p:sp>
      <p:sp>
        <p:nvSpPr>
          <p:cNvPr id="7" name="Arrow"/>
          <p:cNvSpPr txBox="1"/>
          <p:nvPr/>
        </p:nvSpPr>
        <p:spPr>
          <a:xfrm>
            <a:off x="3901440" y="1822704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B5CAD"/>
                </a:solidFill>
                <a:latin typeface="Aptos"/>
              </a:defRPr>
            </a:pPr>
            <a:r>
              <a:rPr sz="1600" b="1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8" name="Embeddings"/>
          <p:cNvSpPr/>
          <p:nvPr/>
        </p:nvSpPr>
        <p:spPr>
          <a:xfrm>
            <a:off x="4267200" y="1487520"/>
            <a:ext cx="2133600" cy="899160"/>
          </a:xfrm>
          <a:prstGeom prst="roundRect">
            <a:avLst/>
          </a:prstGeom>
          <a:solidFill>
            <a:srgbClr val="EAF3FF"/>
          </a:solidFill>
          <a:ln w="12700"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>
                <a:solidFill>
                  <a:srgbClr val="0B2F5B"/>
                </a:solidFill>
                <a:latin typeface="Aptos"/>
              </a:rPr>
              <a:t>Embeddings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>
                <a:solidFill>
                  <a:srgbClr val="172B4D"/>
                </a:solidFill>
                <a:latin typeface="Aptos"/>
              </a:rPr>
              <a:t>vectors</a:t>
            </a:r>
          </a:p>
        </p:txBody>
      </p:sp>
      <p:sp>
        <p:nvSpPr>
          <p:cNvPr id="9" name="Arrow"/>
          <p:cNvSpPr txBox="1"/>
          <p:nvPr/>
        </p:nvSpPr>
        <p:spPr>
          <a:xfrm>
            <a:off x="6492240" y="1822704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B5CAD"/>
                </a:solidFill>
                <a:latin typeface="Aptos"/>
              </a:defRPr>
            </a:pPr>
            <a:r>
              <a:rPr sz="1600" b="1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10" name="Transformer"/>
          <p:cNvSpPr/>
          <p:nvPr/>
        </p:nvSpPr>
        <p:spPr>
          <a:xfrm>
            <a:off x="6858000" y="1487520"/>
            <a:ext cx="2438400" cy="899160"/>
          </a:xfrm>
          <a:prstGeom prst="roundRect">
            <a:avLst/>
          </a:prstGeom>
          <a:solidFill>
            <a:srgbClr val="F3F0FF"/>
          </a:solidFill>
          <a:ln w="12700">
            <a:solidFill>
              <a:srgbClr val="6E5DC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 dirty="0">
                <a:solidFill>
                  <a:srgbClr val="0B2F5B"/>
                </a:solidFill>
                <a:latin typeface="Aptos"/>
              </a:rPr>
              <a:t>Transformer A</a:t>
            </a:r>
            <a:r>
              <a:rPr lang="en-US" sz="1500" b="1" dirty="0">
                <a:solidFill>
                  <a:srgbClr val="0B2F5B"/>
                </a:solidFill>
                <a:latin typeface="Aptos"/>
              </a:rPr>
              <a:t>rtificial </a:t>
            </a:r>
            <a:r>
              <a:rPr sz="1500" b="1" dirty="0">
                <a:solidFill>
                  <a:srgbClr val="0B2F5B"/>
                </a:solidFill>
                <a:latin typeface="Aptos"/>
              </a:rPr>
              <a:t>N</a:t>
            </a:r>
            <a:r>
              <a:rPr lang="en-US" sz="1500" b="1" dirty="0">
                <a:solidFill>
                  <a:srgbClr val="0B2F5B"/>
                </a:solidFill>
                <a:latin typeface="Aptos"/>
              </a:rPr>
              <a:t>eural </a:t>
            </a:r>
            <a:r>
              <a:rPr sz="1500" b="1" dirty="0">
                <a:solidFill>
                  <a:srgbClr val="0B2F5B"/>
                </a:solidFill>
                <a:latin typeface="Aptos"/>
              </a:rPr>
              <a:t>N</a:t>
            </a:r>
            <a:r>
              <a:rPr lang="en-US" sz="1500" b="1" dirty="0">
                <a:solidFill>
                  <a:srgbClr val="0B2F5B"/>
                </a:solidFill>
                <a:latin typeface="Aptos"/>
              </a:rPr>
              <a:t>etwork</a:t>
            </a:r>
            <a:endParaRPr sz="1500" b="1" dirty="0">
              <a:solidFill>
                <a:srgbClr val="0B2F5B"/>
              </a:solidFill>
              <a:latin typeface="Aptos"/>
            </a:endParaRP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LLM core</a:t>
            </a:r>
          </a:p>
        </p:txBody>
      </p:sp>
      <p:sp>
        <p:nvSpPr>
          <p:cNvPr id="11" name="Arrow"/>
          <p:cNvSpPr txBox="1"/>
          <p:nvPr/>
        </p:nvSpPr>
        <p:spPr>
          <a:xfrm>
            <a:off x="9387840" y="1822704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B5CAD"/>
                </a:solidFill>
                <a:latin typeface="Aptos"/>
              </a:defRPr>
            </a:pPr>
            <a:r>
              <a:rPr sz="1600" b="1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12" name="Output"/>
          <p:cNvSpPr/>
          <p:nvPr/>
        </p:nvSpPr>
        <p:spPr>
          <a:xfrm>
            <a:off x="9753600" y="1548384"/>
            <a:ext cx="155448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>
                <a:solidFill>
                  <a:srgbClr val="0B2F5B"/>
                </a:solidFill>
                <a:latin typeface="Aptos"/>
              </a:rPr>
              <a:t>Output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>
                <a:solidFill>
                  <a:srgbClr val="172B4D"/>
                </a:solidFill>
                <a:latin typeface="Aptos"/>
              </a:rPr>
              <a:t>probabilities</a:t>
            </a:r>
          </a:p>
        </p:txBody>
      </p:sp>
      <p:sp>
        <p:nvSpPr>
          <p:cNvPr id="13" name="Key Point"/>
          <p:cNvSpPr/>
          <p:nvPr/>
        </p:nvSpPr>
        <p:spPr>
          <a:xfrm>
            <a:off x="320040" y="2878146"/>
            <a:ext cx="7024085" cy="914400"/>
          </a:xfrm>
          <a:prstGeom prst="roundRect">
            <a:avLst/>
          </a:prstGeom>
          <a:solidFill>
            <a:srgbClr val="E9F7EF"/>
          </a:solidFill>
          <a:ln w="12700">
            <a:solidFill>
              <a:srgbClr val="36B37E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2100" b="1">
                <a:solidFill>
                  <a:srgbClr val="0B2F5B"/>
                </a:solidFill>
                <a:latin typeface="Aptos"/>
              </a:defRPr>
            </a:pPr>
            <a:r>
              <a:rPr sz="2100" b="1">
                <a:solidFill>
                  <a:srgbClr val="0B2F5B"/>
                </a:solidFill>
                <a:latin typeface="Aptos"/>
              </a:rPr>
              <a:t>The embedding vectors become input activations.</a:t>
            </a:r>
          </a:p>
          <a:p>
            <a:pPr algn="ctr">
              <a:defRPr sz="1500">
                <a:solidFill>
                  <a:srgbClr val="172B4D"/>
                </a:solidFill>
                <a:latin typeface="Aptos"/>
              </a:defRPr>
            </a:pPr>
            <a:r>
              <a:rPr sz="1500">
                <a:solidFill>
                  <a:srgbClr val="172B4D"/>
                </a:solidFill>
                <a:latin typeface="Aptos"/>
              </a:rPr>
              <a:t>They are the live numeric values flowing into the neural network.</a:t>
            </a:r>
          </a:p>
        </p:txBody>
      </p:sp>
      <p:sp>
        <p:nvSpPr>
          <p:cNvPr id="14" name="No separate handoff"/>
          <p:cNvSpPr/>
          <p:nvPr/>
        </p:nvSpPr>
        <p:spPr>
          <a:xfrm>
            <a:off x="365760" y="4275510"/>
            <a:ext cx="7024085" cy="731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>
                <a:solidFill>
                  <a:srgbClr val="0B2F5B"/>
                </a:solidFill>
                <a:latin typeface="Aptos"/>
              </a:rPr>
              <a:t>There is not usually a separate ANN handing data to the LLM.</a:t>
            </a:r>
          </a:p>
          <a:p>
            <a:pPr algn="ctr">
              <a:defRPr sz="1350">
                <a:solidFill>
                  <a:srgbClr val="172B4D"/>
                </a:solidFill>
                <a:latin typeface="Aptos"/>
              </a:defRPr>
            </a:pPr>
            <a:r>
              <a:rPr sz="1350">
                <a:solidFill>
                  <a:srgbClr val="172B4D"/>
                </a:solidFill>
                <a:latin typeface="Aptos"/>
              </a:rPr>
              <a:t>The neural network is the computational core of the LLM.</a:t>
            </a:r>
          </a:p>
        </p:txBody>
      </p:sp>
      <p:sp>
        <p:nvSpPr>
          <p:cNvPr id="99" name="Footer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>
                <a:solidFill>
                  <a:srgbClr val="52616B"/>
                </a:solidFill>
                <a:latin typeface="Aptos"/>
              </a:defRPr>
            </a:pPr>
            <a:r>
              <a:rPr sz="900">
                <a:solidFill>
                  <a:srgbClr val="52616B"/>
                </a:solidFill>
                <a:latin typeface="Aptos"/>
              </a:rPr>
              <a:t>AI Under the hood | Slide 15</a:t>
            </a:r>
          </a:p>
        </p:txBody>
      </p:sp>
      <p:sp>
        <p:nvSpPr>
          <p:cNvPr id="16" name="Embeddings">
            <a:extLst>
              <a:ext uri="{FF2B5EF4-FFF2-40B4-BE49-F238E27FC236}">
                <a16:creationId xmlns:a16="http://schemas.microsoft.com/office/drawing/2014/main" id="{569E4174-39F1-B08D-CAF0-BC5B5476C79B}"/>
              </a:ext>
            </a:extLst>
          </p:cNvPr>
          <p:cNvSpPr/>
          <p:nvPr/>
        </p:nvSpPr>
        <p:spPr>
          <a:xfrm>
            <a:off x="7962900" y="2617458"/>
            <a:ext cx="3345180" cy="4156566"/>
          </a:xfrm>
          <a:prstGeom prst="roundRect">
            <a:avLst/>
          </a:prstGeom>
          <a:solidFill>
            <a:srgbClr val="EAF3FF"/>
          </a:solidFill>
          <a:ln w="12700"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500" b="1" dirty="0">
                <a:solidFill>
                  <a:srgbClr val="0B2F5B"/>
                </a:solidFill>
                <a:highlight>
                  <a:srgbClr val="00FF00"/>
                </a:highlight>
                <a:latin typeface="Aptos"/>
              </a:rPr>
              <a:t>MAGPAI</a:t>
            </a:r>
            <a:r>
              <a:rPr lang="en-US" sz="1200" b="1" dirty="0">
                <a:solidFill>
                  <a:srgbClr val="172B4D"/>
                </a:solidFill>
                <a:highlight>
                  <a:srgbClr val="00FF00"/>
                </a:highlight>
                <a:latin typeface="Aptos"/>
              </a:rPr>
              <a:t>    Mental Model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endParaRPr lang="en-US" sz="1200" b="1" dirty="0">
              <a:solidFill>
                <a:srgbClr val="172B4D"/>
              </a:solidFill>
              <a:latin typeface="Aptos"/>
            </a:endParaRP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172B4D"/>
                </a:solidFill>
                <a:latin typeface="Aptos"/>
              </a:rPr>
              <a:t>User Question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600" dirty="0">
                <a:latin typeface="Aptos" panose="020B0004020202020204" pitchFamily="34" charset="0"/>
              </a:rPr>
              <a:t>↓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Tokenizer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latin typeface="Aptos" panose="020B0004020202020204" pitchFamily="34" charset="0"/>
              </a:rPr>
              <a:t>↓</a:t>
            </a:r>
            <a:endParaRPr lang="en-US" sz="1200" dirty="0">
              <a:solidFill>
                <a:srgbClr val="0B2F5B"/>
              </a:solidFill>
              <a:latin typeface="Aptos" panose="020B0004020202020204" pitchFamily="34" charset="0"/>
            </a:endParaRP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Token IDs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latin typeface="Aptos" panose="020B0004020202020204" pitchFamily="34" charset="0"/>
              </a:rPr>
              <a:t>↓</a:t>
            </a:r>
            <a:endParaRPr lang="en-US" sz="1200" dirty="0">
              <a:solidFill>
                <a:srgbClr val="0B2F5B"/>
              </a:solidFill>
              <a:latin typeface="Aptos" panose="020B0004020202020204" pitchFamily="34" charset="0"/>
            </a:endParaRP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Embeddings 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( Language -&gt; Geometry)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latin typeface="Aptos" panose="020B0004020202020204" pitchFamily="34" charset="0"/>
              </a:rPr>
              <a:t>↓</a:t>
            </a:r>
            <a:endParaRPr lang="en-US" sz="1200" dirty="0">
              <a:solidFill>
                <a:srgbClr val="0B2F5B"/>
              </a:solidFill>
              <a:latin typeface="Aptos" panose="020B0004020202020204" pitchFamily="34" charset="0"/>
            </a:endParaRP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Transformer Neural Network 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(MAGPAI Brain)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latin typeface="Aptos" panose="020B0004020202020204" pitchFamily="34" charset="0"/>
              </a:rPr>
              <a:t>↓</a:t>
            </a:r>
            <a:endParaRPr lang="en-US" sz="1200" dirty="0">
              <a:solidFill>
                <a:srgbClr val="0B2F5B"/>
              </a:solidFill>
              <a:latin typeface="Aptos" panose="020B0004020202020204" pitchFamily="34" charset="0"/>
            </a:endParaRP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Output Probabilities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latin typeface="Aptos" panose="020B0004020202020204" pitchFamily="34" charset="0"/>
              </a:rPr>
              <a:t>↓</a:t>
            </a:r>
            <a:endParaRPr lang="en-US" sz="1200" dirty="0">
              <a:solidFill>
                <a:srgbClr val="0B2F5B"/>
              </a:solidFill>
              <a:latin typeface="Aptos" panose="020B0004020202020204" pitchFamily="34" charset="0"/>
            </a:endParaRP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Decoder</a:t>
            </a: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latin typeface="Aptos" panose="020B0004020202020204" pitchFamily="34" charset="0"/>
              </a:rPr>
              <a:t>↓</a:t>
            </a:r>
            <a:endParaRPr lang="en-US" sz="1200" dirty="0">
              <a:solidFill>
                <a:srgbClr val="0B2F5B"/>
              </a:solidFill>
              <a:latin typeface="Aptos" panose="020B0004020202020204" pitchFamily="34" charset="0"/>
            </a:endParaRPr>
          </a:p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200" dirty="0">
                <a:solidFill>
                  <a:srgbClr val="0B2F5B"/>
                </a:solidFill>
                <a:latin typeface="Aptos" panose="020B0004020202020204" pitchFamily="34" charset="0"/>
              </a:rPr>
              <a:t>Answer</a:t>
            </a:r>
            <a:endParaRPr sz="1200" dirty="0">
              <a:solidFill>
                <a:srgbClr val="0B2F5B"/>
              </a:solidFill>
              <a:latin typeface="Aptos"/>
            </a:endParaRPr>
          </a:p>
        </p:txBody>
      </p:sp>
      <p:sp>
        <p:nvSpPr>
          <p:cNvPr id="17" name="No separate handoff">
            <a:extLst>
              <a:ext uri="{FF2B5EF4-FFF2-40B4-BE49-F238E27FC236}">
                <a16:creationId xmlns:a16="http://schemas.microsoft.com/office/drawing/2014/main" id="{4B113C0F-E5E6-12D8-824B-A8403943B497}"/>
              </a:ext>
            </a:extLst>
          </p:cNvPr>
          <p:cNvSpPr/>
          <p:nvPr/>
        </p:nvSpPr>
        <p:spPr>
          <a:xfrm>
            <a:off x="365759" y="5363107"/>
            <a:ext cx="7024085" cy="7315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600" dirty="0"/>
              <a:t>The embedding layer, Transformer layers, output layers, and decoder all work together as one integrated system.</a:t>
            </a:r>
            <a:endParaRPr sz="1350" dirty="0">
              <a:solidFill>
                <a:srgbClr val="172B4D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lationships">
            <a:extLst>
              <a:ext uri="{FF2B5EF4-FFF2-40B4-BE49-F238E27FC236}">
                <a16:creationId xmlns:a16="http://schemas.microsoft.com/office/drawing/2014/main" id="{C88BB20F-4D33-8ACA-8F81-7BE2B93A0272}"/>
              </a:ext>
            </a:extLst>
          </p:cNvPr>
          <p:cNvSpPr/>
          <p:nvPr/>
        </p:nvSpPr>
        <p:spPr>
          <a:xfrm>
            <a:off x="150690" y="4024054"/>
            <a:ext cx="3710784" cy="2127084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endParaRPr lang="en-US" sz="1500" b="1" dirty="0">
              <a:solidFill>
                <a:srgbClr val="0B2F5B"/>
              </a:solidFill>
              <a:latin typeface="Aptos"/>
            </a:endParaRPr>
          </a:p>
        </p:txBody>
      </p:sp>
      <p:sp>
        <p:nvSpPr>
          <p:cNvPr id="2" name="Title"/>
          <p:cNvSpPr txBox="1"/>
          <p:nvPr/>
        </p:nvSpPr>
        <p:spPr>
          <a:xfrm>
            <a:off x="640080" y="76425"/>
            <a:ext cx="10158487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0B2F5B"/>
                </a:solidFill>
                <a:latin typeface="Aptos"/>
              </a:defRPr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The Transformer Artificial</a:t>
            </a:r>
            <a:r>
              <a:rPr lang="en-US" sz="3000" b="1" dirty="0">
                <a:solidFill>
                  <a:srgbClr val="0B2F5B"/>
                </a:solidFill>
                <a:latin typeface="Aptos"/>
              </a:rPr>
              <a:t> </a:t>
            </a:r>
            <a:r>
              <a:rPr sz="3000" b="1" dirty="0">
                <a:solidFill>
                  <a:srgbClr val="0B2F5B"/>
                </a:solidFill>
                <a:latin typeface="Aptos"/>
              </a:rPr>
              <a:t>N</a:t>
            </a:r>
            <a:r>
              <a:rPr lang="en-US" sz="3000" b="1" dirty="0">
                <a:solidFill>
                  <a:srgbClr val="0B2F5B"/>
                </a:solidFill>
                <a:latin typeface="Aptos"/>
              </a:rPr>
              <a:t>eural </a:t>
            </a:r>
            <a:r>
              <a:rPr sz="3000" b="1" dirty="0">
                <a:solidFill>
                  <a:srgbClr val="0B2F5B"/>
                </a:solidFill>
                <a:latin typeface="Aptos"/>
              </a:rPr>
              <a:t>N</a:t>
            </a:r>
            <a:r>
              <a:rPr lang="en-US" sz="3000" b="1" dirty="0">
                <a:solidFill>
                  <a:srgbClr val="0B2F5B"/>
                </a:solidFill>
                <a:latin typeface="Aptos"/>
              </a:rPr>
              <a:t>etwork</a:t>
            </a:r>
            <a:r>
              <a:rPr sz="3000" b="1" dirty="0">
                <a:solidFill>
                  <a:srgbClr val="0B2F5B"/>
                </a:solidFill>
                <a:latin typeface="Aptos"/>
              </a:rPr>
              <a:t> Is the LLM Core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393433" y="571023"/>
            <a:ext cx="1091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>
                <a:solidFill>
                  <a:srgbClr val="5E6C84"/>
                </a:solidFill>
                <a:latin typeface="Aptos"/>
              </a:defRPr>
            </a:pPr>
            <a:r>
              <a:rPr sz="1600" dirty="0">
                <a:solidFill>
                  <a:srgbClr val="5E6C84"/>
                </a:solidFill>
                <a:latin typeface="Aptos"/>
              </a:rPr>
              <a:t>A modern LLM is one enormous neural network, not a separate system after embeddings</a:t>
            </a:r>
          </a:p>
        </p:txBody>
      </p:sp>
      <p:sp>
        <p:nvSpPr>
          <p:cNvPr id="4" name="Center"/>
          <p:cNvSpPr/>
          <p:nvPr/>
        </p:nvSpPr>
        <p:spPr>
          <a:xfrm>
            <a:off x="3962400" y="1168805"/>
            <a:ext cx="3962400" cy="772762"/>
          </a:xfrm>
          <a:prstGeom prst="roundRect">
            <a:avLst/>
          </a:prstGeom>
          <a:solidFill>
            <a:srgbClr val="F3F0FF"/>
          </a:solidFill>
          <a:ln w="12700">
            <a:solidFill>
              <a:srgbClr val="6E5DC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2200" b="1">
                <a:solidFill>
                  <a:srgbClr val="0B2F5B"/>
                </a:solidFill>
                <a:latin typeface="Aptos"/>
              </a:defRPr>
            </a:pPr>
            <a:r>
              <a:rPr sz="2200" b="1">
                <a:solidFill>
                  <a:srgbClr val="0B2F5B"/>
                </a:solidFill>
                <a:latin typeface="Aptos"/>
              </a:rPr>
              <a:t>Transformer ANN</a:t>
            </a:r>
          </a:p>
          <a:p>
            <a:pPr algn="ctr">
              <a:defRPr sz="1350">
                <a:solidFill>
                  <a:srgbClr val="172B4D"/>
                </a:solidFill>
                <a:latin typeface="Aptos"/>
              </a:defRPr>
            </a:pPr>
            <a:r>
              <a:rPr sz="1350">
                <a:solidFill>
                  <a:srgbClr val="172B4D"/>
                </a:solidFill>
                <a:latin typeface="Aptos"/>
              </a:rPr>
              <a:t>attention + feed-forward layers + weights</a:t>
            </a:r>
          </a:p>
        </p:txBody>
      </p:sp>
      <p:sp>
        <p:nvSpPr>
          <p:cNvPr id="5" name="Input"/>
          <p:cNvSpPr/>
          <p:nvPr/>
        </p:nvSpPr>
        <p:spPr>
          <a:xfrm>
            <a:off x="807720" y="1234440"/>
            <a:ext cx="2286000" cy="589882"/>
          </a:xfrm>
          <a:prstGeom prst="roundRect">
            <a:avLst/>
          </a:prstGeom>
          <a:solidFill>
            <a:srgbClr val="EAF3FF"/>
          </a:solidFill>
          <a:ln w="12700"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 dirty="0">
                <a:solidFill>
                  <a:srgbClr val="0B2F5B"/>
                </a:solidFill>
                <a:latin typeface="Aptos"/>
              </a:rPr>
              <a:t>Input activations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embedding vectors</a:t>
            </a:r>
          </a:p>
        </p:txBody>
      </p:sp>
      <p:sp>
        <p:nvSpPr>
          <p:cNvPr id="6" name="Arrow"/>
          <p:cNvSpPr txBox="1"/>
          <p:nvPr/>
        </p:nvSpPr>
        <p:spPr>
          <a:xfrm>
            <a:off x="3320040" y="1411702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B5CAD"/>
                </a:solidFill>
                <a:latin typeface="Aptos"/>
              </a:defRPr>
            </a:pPr>
            <a:r>
              <a:rPr sz="1600" b="1" dirty="0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7" name="Arrow"/>
          <p:cNvSpPr txBox="1"/>
          <p:nvPr/>
        </p:nvSpPr>
        <p:spPr>
          <a:xfrm>
            <a:off x="8050864" y="1410572"/>
            <a:ext cx="27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B5CAD"/>
                </a:solidFill>
                <a:latin typeface="Aptos"/>
              </a:defRPr>
            </a:pPr>
            <a:r>
              <a:rPr sz="1600" b="1" dirty="0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8" name="Output"/>
          <p:cNvSpPr/>
          <p:nvPr/>
        </p:nvSpPr>
        <p:spPr>
          <a:xfrm>
            <a:off x="8386560" y="1209319"/>
            <a:ext cx="2743200" cy="59778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 dirty="0">
                <a:solidFill>
                  <a:srgbClr val="0B2F5B"/>
                </a:solidFill>
                <a:latin typeface="Aptos"/>
              </a:rPr>
              <a:t>Output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next-token probabilities</a:t>
            </a:r>
          </a:p>
        </p:txBody>
      </p:sp>
      <p:sp>
        <p:nvSpPr>
          <p:cNvPr id="9" name="Relationships"/>
          <p:cNvSpPr/>
          <p:nvPr/>
        </p:nvSpPr>
        <p:spPr>
          <a:xfrm>
            <a:off x="482081" y="2074101"/>
            <a:ext cx="3048000" cy="139646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 dirty="0">
                <a:solidFill>
                  <a:srgbClr val="0B2F5B"/>
                </a:solidFill>
                <a:latin typeface="Aptos"/>
              </a:rPr>
              <a:t>The ANN learns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sales -&gt; revenue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Chicago -&gt; location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up -&gt; growth</a:t>
            </a:r>
            <a:endParaRPr lang="en-US" sz="1200" dirty="0">
              <a:solidFill>
                <a:srgbClr val="172B4D"/>
              </a:solidFill>
              <a:latin typeface="Aptos"/>
            </a:endParaRP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lang="en-US" sz="1200" dirty="0">
                <a:solidFill>
                  <a:srgbClr val="172B4D"/>
                </a:solidFill>
                <a:latin typeface="Aptos"/>
              </a:rPr>
              <a:t>“sales up in Chicago” -&gt; may imply positive business performance</a:t>
            </a:r>
            <a:endParaRPr sz="1200" dirty="0">
              <a:solidFill>
                <a:srgbClr val="172B4D"/>
              </a:solidFill>
              <a:latin typeface="Aptos"/>
            </a:endParaRPr>
          </a:p>
        </p:txBody>
      </p:sp>
      <p:sp>
        <p:nvSpPr>
          <p:cNvPr id="10" name="Weights"/>
          <p:cNvSpPr/>
          <p:nvPr/>
        </p:nvSpPr>
        <p:spPr>
          <a:xfrm>
            <a:off x="4409439" y="2060399"/>
            <a:ext cx="3048000" cy="912456"/>
          </a:xfrm>
          <a:prstGeom prst="roundRect">
            <a:avLst/>
          </a:prstGeom>
          <a:solidFill>
            <a:srgbClr val="E9F7EF"/>
          </a:solidFill>
          <a:ln w="12700">
            <a:solidFill>
              <a:srgbClr val="36B37E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 dirty="0">
                <a:solidFill>
                  <a:srgbClr val="0B2F5B"/>
                </a:solidFill>
                <a:latin typeface="Aptos"/>
              </a:rPr>
              <a:t>Learned knowledge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stored in weights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billions of parameters</a:t>
            </a:r>
          </a:p>
        </p:txBody>
      </p:sp>
      <p:sp>
        <p:nvSpPr>
          <p:cNvPr id="11" name="Memory"/>
          <p:cNvSpPr/>
          <p:nvPr/>
        </p:nvSpPr>
        <p:spPr>
          <a:xfrm>
            <a:off x="8081760" y="2091645"/>
            <a:ext cx="3048000" cy="940953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AB00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sz="1500" b="1" dirty="0">
                <a:solidFill>
                  <a:srgbClr val="0B2F5B"/>
                </a:solidFill>
                <a:latin typeface="Aptos"/>
              </a:rPr>
              <a:t>Current state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context window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RAG documents</a:t>
            </a:r>
          </a:p>
          <a:p>
            <a:pPr algn="ctr">
              <a:defRPr sz="1200">
                <a:solidFill>
                  <a:srgbClr val="172B4D"/>
                </a:solidFill>
                <a:latin typeface="Aptos"/>
              </a:defRPr>
            </a:pPr>
            <a:r>
              <a:rPr sz="1200" dirty="0">
                <a:solidFill>
                  <a:srgbClr val="172B4D"/>
                </a:solidFill>
                <a:latin typeface="Aptos"/>
              </a:rPr>
              <a:t>agent memory</a:t>
            </a:r>
          </a:p>
        </p:txBody>
      </p:sp>
      <p:sp>
        <p:nvSpPr>
          <p:cNvPr id="12" name="Bottom"/>
          <p:cNvSpPr txBox="1"/>
          <p:nvPr/>
        </p:nvSpPr>
        <p:spPr>
          <a:xfrm>
            <a:off x="2685447" y="6151138"/>
            <a:ext cx="8861337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0B2F5B"/>
                </a:solidFill>
                <a:latin typeface="Aptos"/>
              </a:defRPr>
            </a:pPr>
            <a:r>
              <a:rPr sz="1700" b="1" dirty="0">
                <a:solidFill>
                  <a:srgbClr val="0B2F5B"/>
                </a:solidFill>
                <a:highlight>
                  <a:srgbClr val="FFFF00"/>
                </a:highlight>
                <a:latin typeface="Aptos"/>
              </a:rPr>
              <a:t>Embeddings convert language into geometry. </a:t>
            </a:r>
            <a:endParaRPr lang="en-US" sz="1700" b="1" dirty="0">
              <a:solidFill>
                <a:srgbClr val="0B2F5B"/>
              </a:solidFill>
              <a:highlight>
                <a:srgbClr val="FFFF00"/>
              </a:highlight>
              <a:latin typeface="Aptos"/>
            </a:endParaRPr>
          </a:p>
          <a:p>
            <a:pPr algn="ctr">
              <a:defRPr sz="1700" b="1">
                <a:solidFill>
                  <a:srgbClr val="0B2F5B"/>
                </a:solidFill>
                <a:latin typeface="Aptos"/>
              </a:defRPr>
            </a:pPr>
            <a:r>
              <a:rPr sz="1700" b="1" dirty="0">
                <a:solidFill>
                  <a:srgbClr val="0B2F5B"/>
                </a:solidFill>
                <a:highlight>
                  <a:srgbClr val="FFFF00"/>
                </a:highlight>
                <a:latin typeface="Aptos"/>
              </a:rPr>
              <a:t>The Transformer manipulates that geometry to infer meaning and predict the next token.</a:t>
            </a:r>
          </a:p>
        </p:txBody>
      </p:sp>
      <p:sp>
        <p:nvSpPr>
          <p:cNvPr id="99" name="Footer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>
                <a:solidFill>
                  <a:srgbClr val="52616B"/>
                </a:solidFill>
                <a:latin typeface="Aptos"/>
              </a:defRPr>
            </a:pPr>
            <a:r>
              <a:rPr sz="900">
                <a:solidFill>
                  <a:srgbClr val="52616B"/>
                </a:solidFill>
                <a:latin typeface="Aptos"/>
              </a:rPr>
              <a:t>AI Under the hood | Slide 16</a:t>
            </a:r>
          </a:p>
        </p:txBody>
      </p:sp>
      <p:sp>
        <p:nvSpPr>
          <p:cNvPr id="13" name="Relationships">
            <a:extLst>
              <a:ext uri="{FF2B5EF4-FFF2-40B4-BE49-F238E27FC236}">
                <a16:creationId xmlns:a16="http://schemas.microsoft.com/office/drawing/2014/main" id="{F39526A9-70FF-ECDD-A99C-1D1CDF85E97A}"/>
              </a:ext>
            </a:extLst>
          </p:cNvPr>
          <p:cNvSpPr/>
          <p:nvPr/>
        </p:nvSpPr>
        <p:spPr>
          <a:xfrm>
            <a:off x="150690" y="3709837"/>
            <a:ext cx="3710783" cy="228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 b="1">
                <a:solidFill>
                  <a:srgbClr val="0B2F5B"/>
                </a:solidFill>
                <a:latin typeface="Aptos"/>
              </a:defRPr>
            </a:pPr>
            <a:r>
              <a:rPr lang="en-US" sz="1500" b="1" dirty="0">
                <a:solidFill>
                  <a:srgbClr val="0B2F5B"/>
                </a:solidFill>
                <a:latin typeface="Aptos"/>
              </a:rPr>
              <a:t>Biological Analogy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D0C0DB92-DA00-4B0A-80A0-1364CB55BF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2423091"/>
              </p:ext>
            </p:extLst>
          </p:nvPr>
        </p:nvGraphicFramePr>
        <p:xfrm>
          <a:off x="381156" y="4100052"/>
          <a:ext cx="3480318" cy="1920240"/>
        </p:xfrm>
        <a:graphic>
          <a:graphicData uri="http://schemas.openxmlformats.org/drawingml/2006/table">
            <a:tbl>
              <a:tblPr/>
              <a:tblGrid>
                <a:gridCol w="1735658">
                  <a:extLst>
                    <a:ext uri="{9D8B030D-6E8A-4147-A177-3AD203B41FA5}">
                      <a16:colId xmlns:a16="http://schemas.microsoft.com/office/drawing/2014/main" val="3404869905"/>
                    </a:ext>
                  </a:extLst>
                </a:gridCol>
                <a:gridCol w="1744660">
                  <a:extLst>
                    <a:ext uri="{9D8B030D-6E8A-4147-A177-3AD203B41FA5}">
                      <a16:colId xmlns:a16="http://schemas.microsoft.com/office/drawing/2014/main" val="2037086582"/>
                    </a:ext>
                  </a:extLst>
                </a:gridCol>
              </a:tblGrid>
              <a:tr h="253963">
                <a:tc>
                  <a:txBody>
                    <a:bodyPr/>
                    <a:lstStyle/>
                    <a:p>
                      <a:r>
                        <a:rPr lang="en-US" sz="1200" b="1" dirty="0">
                          <a:highlight>
                            <a:srgbClr val="00FF00"/>
                          </a:highlight>
                          <a:latin typeface="Aptos" panose="020B0004020202020204" pitchFamily="34" charset="0"/>
                        </a:rPr>
                        <a:t>Human Brain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highlight>
                            <a:srgbClr val="00FFFF"/>
                          </a:highlight>
                          <a:latin typeface="Aptos" panose="020B0004020202020204" pitchFamily="34" charset="0"/>
                        </a:rPr>
                        <a:t>LLM Equivalent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8026335"/>
                  </a:ext>
                </a:extLst>
              </a:tr>
              <a:tr h="253963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ptos" panose="020B0004020202020204" pitchFamily="34" charset="0"/>
                        </a:rPr>
                        <a:t>Sensory cortex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ptos" panose="020B0004020202020204" pitchFamily="34" charset="0"/>
                        </a:rPr>
                        <a:t>Embeddings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7578982"/>
                  </a:ext>
                </a:extLst>
              </a:tr>
              <a:tr h="253963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ptos" panose="020B0004020202020204" pitchFamily="34" charset="0"/>
                        </a:rPr>
                        <a:t>Neurons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Aptos" panose="020B0004020202020204" pitchFamily="34" charset="0"/>
                        </a:rPr>
                        <a:t>Artificial neurons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7781149"/>
                  </a:ext>
                </a:extLst>
              </a:tr>
              <a:tr h="253963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ptos" panose="020B0004020202020204" pitchFamily="34" charset="0"/>
                        </a:rPr>
                        <a:t>Synapses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ptos" panose="020B0004020202020204" pitchFamily="34" charset="0"/>
                        </a:rPr>
                        <a:t>Weights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7125041"/>
                  </a:ext>
                </a:extLst>
              </a:tr>
              <a:tr h="253963">
                <a:tc>
                  <a:txBody>
                    <a:bodyPr/>
                    <a:lstStyle/>
                    <a:p>
                      <a:r>
                        <a:rPr lang="en-US" sz="1200">
                          <a:latin typeface="Aptos" panose="020B0004020202020204" pitchFamily="34" charset="0"/>
                        </a:rPr>
                        <a:t>Memory patterns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ptos" panose="020B0004020202020204" pitchFamily="34" charset="0"/>
                        </a:rPr>
                        <a:t>Parameter distributions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6228923"/>
                  </a:ext>
                </a:extLst>
              </a:tr>
              <a:tr h="253963">
                <a:tc>
                  <a:txBody>
                    <a:bodyPr/>
                    <a:lstStyle/>
                    <a:p>
                      <a:r>
                        <a:rPr lang="en-US" sz="1200">
                          <a:latin typeface="Aptos" panose="020B0004020202020204" pitchFamily="34" charset="0"/>
                        </a:rPr>
                        <a:t>Attention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Aptos" panose="020B0004020202020204" pitchFamily="34" charset="0"/>
                        </a:rPr>
                        <a:t>Transformer attention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6103619"/>
                  </a:ext>
                </a:extLst>
              </a:tr>
              <a:tr h="253963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ptos" panose="020B0004020202020204" pitchFamily="34" charset="0"/>
                        </a:rPr>
                        <a:t>Speech generation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ptos" panose="020B0004020202020204" pitchFamily="34" charset="0"/>
                        </a:rPr>
                        <a:t>Decoder/output layer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1975063"/>
                  </a:ext>
                </a:extLst>
              </a:tr>
            </a:tbl>
          </a:graphicData>
        </a:graphic>
      </p:graphicFrame>
      <p:sp>
        <p:nvSpPr>
          <p:cNvPr id="19" name="Center">
            <a:extLst>
              <a:ext uri="{FF2B5EF4-FFF2-40B4-BE49-F238E27FC236}">
                <a16:creationId xmlns:a16="http://schemas.microsoft.com/office/drawing/2014/main" id="{7E98D184-A805-C669-7A37-3955F82216AA}"/>
              </a:ext>
            </a:extLst>
          </p:cNvPr>
          <p:cNvSpPr/>
          <p:nvPr/>
        </p:nvSpPr>
        <p:spPr>
          <a:xfrm>
            <a:off x="4409439" y="3174777"/>
            <a:ext cx="6720321" cy="2814503"/>
          </a:xfrm>
          <a:prstGeom prst="roundRect">
            <a:avLst/>
          </a:prstGeom>
          <a:solidFill>
            <a:srgbClr val="F3F0FF"/>
          </a:solidFill>
          <a:ln w="12700">
            <a:solidFill>
              <a:srgbClr val="6E5DC6"/>
            </a:solidFill>
          </a:ln>
        </p:spPr>
        <p:txBody>
          <a:bodyPr lIns="91440" tIns="91440" rIns="91440" bIns="91440" rtlCol="0" anchor="ctr"/>
          <a:lstStyle/>
          <a:p>
            <a:pPr algn="ctr"/>
            <a:r>
              <a:rPr lang="en-US" sz="1200" b="1" dirty="0">
                <a:latin typeface="Aptos" panose="020B0004020202020204" pitchFamily="34" charset="0"/>
              </a:rPr>
              <a:t>The Weights Are Learned Knowledge</a:t>
            </a:r>
          </a:p>
          <a:p>
            <a:pPr algn="ctr"/>
            <a:endParaRPr lang="en-US" sz="1200" b="1" dirty="0">
              <a:latin typeface="Aptos" panose="020B0004020202020204" pitchFamily="34" charset="0"/>
            </a:endParaRPr>
          </a:p>
          <a:p>
            <a:pPr algn="ctr"/>
            <a:r>
              <a:rPr lang="en-US" sz="1200" dirty="0">
                <a:latin typeface="Aptos" panose="020B0004020202020204" pitchFamily="34" charset="0"/>
              </a:rPr>
              <a:t>The neural network contains billions of numerical parameters called weights.</a:t>
            </a:r>
          </a:p>
          <a:p>
            <a:pPr algn="ctr"/>
            <a:r>
              <a:rPr lang="en-US" sz="1200" dirty="0">
                <a:latin typeface="Aptos" panose="020B0004020202020204" pitchFamily="34" charset="0"/>
              </a:rPr>
              <a:t>Examples:</a:t>
            </a:r>
          </a:p>
          <a:p>
            <a:pPr algn="ctr"/>
            <a:r>
              <a:rPr lang="en-US" sz="1200" dirty="0">
                <a:latin typeface="Aptos" panose="020B0004020202020204" pitchFamily="34" charset="0"/>
              </a:rPr>
              <a:t>GPT-4:</a:t>
            </a:r>
            <a:br>
              <a:rPr lang="en-US" sz="1200" dirty="0">
                <a:latin typeface="Aptos" panose="020B0004020202020204" pitchFamily="34" charset="0"/>
              </a:rPr>
            </a:br>
            <a:r>
              <a:rPr lang="en-US" sz="1200" dirty="0">
                <a:latin typeface="Aptos" panose="020B0004020202020204" pitchFamily="34" charset="0"/>
              </a:rPr>
              <a:t>Hundreds of billions of parameters (estimated)</a:t>
            </a:r>
          </a:p>
          <a:p>
            <a:pPr algn="ctr"/>
            <a:r>
              <a:rPr lang="en-US" sz="1200" dirty="0">
                <a:latin typeface="Aptos" panose="020B0004020202020204" pitchFamily="34" charset="0"/>
              </a:rPr>
              <a:t>Llama 3:</a:t>
            </a:r>
            <a:br>
              <a:rPr lang="en-US" sz="1200" dirty="0">
                <a:latin typeface="Aptos" panose="020B0004020202020204" pitchFamily="34" charset="0"/>
              </a:rPr>
            </a:br>
            <a:r>
              <a:rPr lang="en-US" sz="1200" dirty="0">
                <a:latin typeface="Aptos" panose="020B0004020202020204" pitchFamily="34" charset="0"/>
              </a:rPr>
              <a:t>Tens to hundreds of billions of parameters</a:t>
            </a:r>
          </a:p>
          <a:p>
            <a:pPr algn="ctr"/>
            <a:r>
              <a:rPr lang="en-US" sz="1200" dirty="0">
                <a:latin typeface="Aptos" panose="020B0004020202020204" pitchFamily="34" charset="0"/>
              </a:rPr>
              <a:t>Mistral 7B:</a:t>
            </a:r>
            <a:br>
              <a:rPr lang="en-US" sz="1200" dirty="0">
                <a:latin typeface="Aptos" panose="020B0004020202020204" pitchFamily="34" charset="0"/>
              </a:rPr>
            </a:br>
            <a:r>
              <a:rPr lang="en-US" sz="1200" dirty="0">
                <a:latin typeface="Aptos" panose="020B0004020202020204" pitchFamily="34" charset="0"/>
              </a:rPr>
              <a:t>Approximately 7 billion parameters</a:t>
            </a:r>
          </a:p>
          <a:p>
            <a:pPr algn="ctr"/>
            <a:endParaRPr lang="en-US" sz="1200" dirty="0">
              <a:latin typeface="Aptos" panose="020B0004020202020204" pitchFamily="34" charset="0"/>
            </a:endParaRPr>
          </a:p>
          <a:p>
            <a:pPr algn="ctr"/>
            <a:r>
              <a:rPr lang="en-US" sz="1200" dirty="0">
                <a:latin typeface="Aptos" panose="020B0004020202020204" pitchFamily="34" charset="0"/>
              </a:rPr>
              <a:t>These weights store the model's learned long-term knowledge.</a:t>
            </a:r>
          </a:p>
          <a:p>
            <a:pPr algn="ctr"/>
            <a:r>
              <a:rPr lang="en-US" sz="1200" dirty="0">
                <a:latin typeface="Aptos" panose="020B0004020202020204" pitchFamily="34" charset="0"/>
              </a:rPr>
              <a:t>They capture statistical patterns learned during training.</a:t>
            </a:r>
          </a:p>
          <a:p>
            <a:pPr algn="ctr">
              <a:defRPr sz="2200" b="1">
                <a:solidFill>
                  <a:srgbClr val="0B2F5B"/>
                </a:solidFill>
                <a:latin typeface="Aptos"/>
              </a:defRPr>
            </a:pPr>
            <a:endParaRPr sz="1350" dirty="0">
              <a:solidFill>
                <a:srgbClr val="172B4D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Linear Algebra 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Embedding lookup is equivalent to one-hot matrix multiplication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10607040" cy="192024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600">
                <a:solidFill>
                  <a:srgbClr val="172B4D"/>
                </a:solidFill>
                <a:latin typeface="Consolas"/>
              </a:defRPr>
            </a:pPr>
            <a:r>
              <a:t>[0, 0, 0, 1, 0, 0, 0, 0] x E</a:t>
            </a:r>
            <a:br/>
            <a:r>
              <a:t>=</a:t>
            </a:r>
            <a:br/>
            <a:r>
              <a:t>[-0.62, 0.18, 0.45, -0.09]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749039"/>
            <a:ext cx="10424160" cy="118872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t>Runtime optimization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t>In real code, the framework usually skips the one-hot vector and directly retrieves the row. It is faster and memory-efficient.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40080" y="365760"/>
            <a:ext cx="1091184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3000"/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What Is a Tensor?</a:t>
            </a:r>
          </a:p>
        </p:txBody>
      </p:sp>
      <p:sp>
        <p:nvSpPr>
          <p:cNvPr id="3" name="Subtitle"/>
          <p:cNvSpPr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600"/>
            </a:pPr>
            <a:r>
              <a:rPr sz="1600" dirty="0">
                <a:solidFill>
                  <a:srgbClr val="5E6C84"/>
                </a:solidFill>
                <a:latin typeface="Aptos"/>
              </a:rPr>
              <a:t>The NN input is a stored grid of token vectors</a:t>
            </a:r>
          </a:p>
        </p:txBody>
      </p:sp>
      <p:sp>
        <p:nvSpPr>
          <p:cNvPr id="4" name="Vector"/>
          <p:cNvSpPr/>
          <p:nvPr/>
        </p:nvSpPr>
        <p:spPr>
          <a:xfrm>
            <a:off x="822960" y="1371600"/>
            <a:ext cx="2926080" cy="15544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Vector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1-D list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[0.12, -0.08, 0.44]</a:t>
            </a:r>
          </a:p>
        </p:txBody>
      </p:sp>
      <p:sp>
        <p:nvSpPr>
          <p:cNvPr id="5" name="Matrix"/>
          <p:cNvSpPr/>
          <p:nvPr/>
        </p:nvSpPr>
        <p:spPr>
          <a:xfrm>
            <a:off x="4480560" y="1371600"/>
            <a:ext cx="2926080" cy="15544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Matrix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2-D table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rows x columns</a:t>
            </a:r>
          </a:p>
        </p:txBody>
      </p:sp>
      <p:sp>
        <p:nvSpPr>
          <p:cNvPr id="6" name="Tensor"/>
          <p:cNvSpPr/>
          <p:nvPr/>
        </p:nvSpPr>
        <p:spPr>
          <a:xfrm>
            <a:off x="8138160" y="1371600"/>
            <a:ext cx="2926080" cy="15544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Tensor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General numeric container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with shape metadata</a:t>
            </a:r>
          </a:p>
        </p:txBody>
      </p:sp>
      <p:sp>
        <p:nvSpPr>
          <p:cNvPr id="7" name="Prompt Shape"/>
          <p:cNvSpPr/>
          <p:nvPr/>
        </p:nvSpPr>
        <p:spPr>
          <a:xfrm>
            <a:off x="1097280" y="3383280"/>
            <a:ext cx="45720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For this prompt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7 tokens x 4 numbers per vector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shape = [7, 4]</a:t>
            </a:r>
          </a:p>
        </p:txBody>
      </p:sp>
      <p:sp>
        <p:nvSpPr>
          <p:cNvPr id="8" name="Activation Tensor"/>
          <p:cNvSpPr/>
          <p:nvPr/>
        </p:nvSpPr>
        <p:spPr>
          <a:xfrm>
            <a:off x="6217920" y="3383280"/>
            <a:ext cx="45720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How the NN sees it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Aptos"/>
              </a:rPr>
              <a:t>The framework stores the token-vector sequence as an activation tensor before the first neural-network layer.</a:t>
            </a:r>
          </a:p>
        </p:txBody>
      </p:sp>
      <p:sp>
        <p:nvSpPr>
          <p:cNvPr id="9" name="Key takeaway"/>
          <p:cNvSpPr/>
          <p:nvPr/>
        </p:nvSpPr>
        <p:spPr>
          <a:xfrm>
            <a:off x="1097280" y="5212080"/>
            <a:ext cx="996696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800"/>
            </a:pPr>
            <a:r>
              <a:rPr sz="1800" b="1" dirty="0">
                <a:solidFill>
                  <a:srgbClr val="0B2F5B"/>
                </a:solidFill>
                <a:latin typeface="Aptos"/>
              </a:rPr>
              <a:t>Key takeaway</a:t>
            </a:r>
          </a:p>
          <a:p>
            <a:pPr algn="ctr">
              <a:defRPr sz="1600"/>
            </a:pPr>
            <a:r>
              <a:rPr sz="1600" dirty="0">
                <a:solidFill>
                  <a:srgbClr val="172B4D"/>
                </a:solidFill>
                <a:latin typeface="Aptos"/>
              </a:rPr>
              <a:t>A tensor is the in-memory numeric object that carries vectors into neural-network computation.</a:t>
            </a:r>
          </a:p>
        </p:txBody>
      </p:sp>
      <p:sp>
        <p:nvSpPr>
          <p:cNvPr id="90" name="Footer"/>
          <p:cNvSpPr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>
              <a:defRPr sz="850"/>
            </a:pPr>
            <a:r>
              <a:rPr sz="850" dirty="0">
                <a:solidFill>
                  <a:srgbClr val="6B778C"/>
                </a:solidFill>
                <a:latin typeface="Aptos"/>
              </a:rPr>
              <a:t>AI Under the hood | Slide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40080" y="365760"/>
            <a:ext cx="1091184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3000"/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Prompt Stored as an Input Tensor</a:t>
            </a:r>
          </a:p>
        </p:txBody>
      </p:sp>
      <p:sp>
        <p:nvSpPr>
          <p:cNvPr id="3" name="Subtitle"/>
          <p:cNvSpPr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600"/>
            </a:pPr>
            <a:r>
              <a:rPr sz="1600" dirty="0">
                <a:solidFill>
                  <a:srgbClr val="5E6C84"/>
                </a:solidFill>
                <a:latin typeface="Aptos"/>
              </a:rPr>
              <a:t>The original prompt becomes a 7 x 4 numeric grid before NN layers run</a:t>
            </a:r>
          </a:p>
        </p:txBody>
      </p:sp>
      <p:sp>
        <p:nvSpPr>
          <p:cNvPr id="4" name="Prompt Text"/>
          <p:cNvSpPr/>
          <p:nvPr/>
        </p:nvSpPr>
        <p:spPr>
          <a:xfrm>
            <a:off x="822960" y="1280160"/>
            <a:ext cx="4754880" cy="548640"/>
          </a:xfrm>
          <a:prstGeom prst="roundRect">
            <a:avLst/>
          </a:prstGeom>
          <a:solidFill>
            <a:srgbClr val="EAF2FF"/>
          </a:solidFill>
          <a:ln w="12700"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900"/>
            </a:pPr>
            <a:r>
              <a:rPr sz="1900" b="1" dirty="0">
                <a:solidFill>
                  <a:srgbClr val="0B2F5B"/>
                </a:solidFill>
                <a:latin typeface="Consolas"/>
              </a:rPr>
              <a:t>are MAG sales up in chicago?</a:t>
            </a:r>
          </a:p>
        </p:txBody>
      </p:sp>
      <p:sp>
        <p:nvSpPr>
          <p:cNvPr id="5" name="Arrow 1"/>
          <p:cNvSpPr/>
          <p:nvPr/>
        </p:nvSpPr>
        <p:spPr>
          <a:xfrm>
            <a:off x="5760720" y="1397280"/>
            <a:ext cx="731520" cy="365760"/>
          </a:xfrm>
          <a:prstGeom prst="rect">
            <a:avLst/>
          </a:prstGeom>
          <a:noFill/>
          <a:ln/>
        </p:spPr>
        <p:txBody>
          <a:bodyPr lIns="0" tIns="0" rIns="0" bIns="0" rtlCol="0" anchor="ctr"/>
          <a:lstStyle/>
          <a:p>
            <a:pPr algn="ctr">
              <a:defRPr sz="2100"/>
            </a:pPr>
            <a:r>
              <a:rPr lang="en-US" sz="2100" b="1" dirty="0">
                <a:solidFill>
                  <a:srgbClr val="0B5CAD"/>
                </a:solidFill>
                <a:latin typeface="Aptos"/>
              </a:rPr>
              <a:t>---</a:t>
            </a:r>
            <a:r>
              <a:rPr sz="2100" b="1" dirty="0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6" name="NN Box"/>
          <p:cNvSpPr/>
          <p:nvPr/>
        </p:nvSpPr>
        <p:spPr>
          <a:xfrm>
            <a:off x="9966960" y="2103120"/>
            <a:ext cx="1280160" cy="2377440"/>
          </a:xfrm>
          <a:prstGeom prst="roundRect">
            <a:avLst/>
          </a:prstGeom>
          <a:solidFill>
            <a:srgbClr val="0B5CAD"/>
          </a:solidFill>
          <a:ln w="12700"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700"/>
            </a:pPr>
            <a:r>
              <a:rPr sz="1700" b="1" dirty="0">
                <a:solidFill>
                  <a:srgbClr val="FFFFFF"/>
                </a:solidFill>
                <a:latin typeface="Aptos"/>
              </a:rPr>
              <a:t>NN layers
start here</a:t>
            </a:r>
          </a:p>
        </p:txBody>
      </p:sp>
      <p:sp>
        <p:nvSpPr>
          <p:cNvPr id="7" name="Arrow 2"/>
          <p:cNvSpPr/>
          <p:nvPr/>
        </p:nvSpPr>
        <p:spPr>
          <a:xfrm>
            <a:off x="9144000" y="3108960"/>
            <a:ext cx="731520" cy="365760"/>
          </a:xfrm>
          <a:prstGeom prst="rect">
            <a:avLst/>
          </a:prstGeom>
          <a:noFill/>
          <a:ln/>
        </p:spPr>
        <p:txBody>
          <a:bodyPr lIns="0" tIns="0" rIns="0" bIns="0" rtlCol="0" anchor="ctr"/>
          <a:lstStyle/>
          <a:p>
            <a:pPr algn="ctr">
              <a:defRPr sz="2100"/>
            </a:pPr>
            <a:r>
              <a:rPr lang="en-US" sz="2100" b="1" dirty="0">
                <a:solidFill>
                  <a:srgbClr val="0B5CAD"/>
                </a:solidFill>
                <a:latin typeface="Aptos"/>
              </a:rPr>
              <a:t>----</a:t>
            </a:r>
            <a:r>
              <a:rPr sz="2100" b="1" dirty="0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20" name="Cell 20"/>
          <p:cNvSpPr/>
          <p:nvPr/>
        </p:nvSpPr>
        <p:spPr>
          <a:xfrm>
            <a:off x="1158240" y="2194560"/>
            <a:ext cx="1188720" cy="365760"/>
          </a:xfrm>
          <a:prstGeom prst="rect">
            <a:avLst/>
          </a:prstGeom>
          <a:solidFill>
            <a:srgbClr val="0B2F5B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1050"/>
            </a:pPr>
            <a:r>
              <a:rPr sz="1050" b="1" dirty="0">
                <a:solidFill>
                  <a:srgbClr val="FFFFFF"/>
                </a:solidFill>
                <a:latin typeface="Consolas"/>
              </a:rPr>
              <a:t>token</a:t>
            </a:r>
          </a:p>
        </p:txBody>
      </p:sp>
      <p:sp>
        <p:nvSpPr>
          <p:cNvPr id="21" name="Cell 21"/>
          <p:cNvSpPr/>
          <p:nvPr/>
        </p:nvSpPr>
        <p:spPr>
          <a:xfrm>
            <a:off x="2346960" y="2194560"/>
            <a:ext cx="1188720" cy="365760"/>
          </a:xfrm>
          <a:prstGeom prst="rect">
            <a:avLst/>
          </a:prstGeom>
          <a:solidFill>
            <a:srgbClr val="0B2F5B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1050"/>
            </a:pPr>
            <a:r>
              <a:rPr sz="1050" b="1" dirty="0">
                <a:solidFill>
                  <a:srgbClr val="FFFFFF"/>
                </a:solidFill>
                <a:latin typeface="Consolas"/>
              </a:rPr>
              <a:t>v1</a:t>
            </a:r>
          </a:p>
        </p:txBody>
      </p:sp>
      <p:sp>
        <p:nvSpPr>
          <p:cNvPr id="22" name="Cell 22"/>
          <p:cNvSpPr/>
          <p:nvPr/>
        </p:nvSpPr>
        <p:spPr>
          <a:xfrm>
            <a:off x="3535680" y="2194560"/>
            <a:ext cx="1188720" cy="365760"/>
          </a:xfrm>
          <a:prstGeom prst="rect">
            <a:avLst/>
          </a:prstGeom>
          <a:solidFill>
            <a:srgbClr val="0B2F5B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1050"/>
            </a:pPr>
            <a:r>
              <a:rPr sz="1050" b="1" dirty="0">
                <a:solidFill>
                  <a:srgbClr val="FFFFFF"/>
                </a:solidFill>
                <a:latin typeface="Consolas"/>
              </a:rPr>
              <a:t>v2</a:t>
            </a:r>
          </a:p>
        </p:txBody>
      </p:sp>
      <p:sp>
        <p:nvSpPr>
          <p:cNvPr id="23" name="Cell 23"/>
          <p:cNvSpPr/>
          <p:nvPr/>
        </p:nvSpPr>
        <p:spPr>
          <a:xfrm>
            <a:off x="4724400" y="2194560"/>
            <a:ext cx="1188720" cy="365760"/>
          </a:xfrm>
          <a:prstGeom prst="rect">
            <a:avLst/>
          </a:prstGeom>
          <a:solidFill>
            <a:srgbClr val="0B2F5B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1050"/>
            </a:pPr>
            <a:r>
              <a:rPr sz="1050" b="1" dirty="0">
                <a:solidFill>
                  <a:srgbClr val="FFFFFF"/>
                </a:solidFill>
                <a:latin typeface="Consolas"/>
              </a:rPr>
              <a:t>v3</a:t>
            </a:r>
          </a:p>
        </p:txBody>
      </p:sp>
      <p:sp>
        <p:nvSpPr>
          <p:cNvPr id="24" name="Cell 24"/>
          <p:cNvSpPr/>
          <p:nvPr/>
        </p:nvSpPr>
        <p:spPr>
          <a:xfrm>
            <a:off x="5913120" y="2194560"/>
            <a:ext cx="1188720" cy="365760"/>
          </a:xfrm>
          <a:prstGeom prst="rect">
            <a:avLst/>
          </a:prstGeom>
          <a:solidFill>
            <a:srgbClr val="0B2F5B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1050"/>
            </a:pPr>
            <a:r>
              <a:rPr sz="1050" b="1" dirty="0">
                <a:solidFill>
                  <a:srgbClr val="FFFFFF"/>
                </a:solidFill>
                <a:latin typeface="Consolas"/>
              </a:rPr>
              <a:t>v4</a:t>
            </a:r>
          </a:p>
        </p:txBody>
      </p:sp>
      <p:sp>
        <p:nvSpPr>
          <p:cNvPr id="25" name="Cell 25"/>
          <p:cNvSpPr/>
          <p:nvPr/>
        </p:nvSpPr>
        <p:spPr>
          <a:xfrm>
            <a:off x="1158240" y="256032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are</a:t>
            </a:r>
          </a:p>
        </p:txBody>
      </p:sp>
      <p:sp>
        <p:nvSpPr>
          <p:cNvPr id="26" name="Cell 26"/>
          <p:cNvSpPr/>
          <p:nvPr/>
        </p:nvSpPr>
        <p:spPr>
          <a:xfrm>
            <a:off x="2346960" y="256032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0.21</a:t>
            </a:r>
          </a:p>
        </p:txBody>
      </p:sp>
      <p:sp>
        <p:nvSpPr>
          <p:cNvPr id="27" name="Cell 27"/>
          <p:cNvSpPr/>
          <p:nvPr/>
        </p:nvSpPr>
        <p:spPr>
          <a:xfrm>
            <a:off x="3535680" y="256032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-0.44</a:t>
            </a:r>
          </a:p>
        </p:txBody>
      </p:sp>
      <p:sp>
        <p:nvSpPr>
          <p:cNvPr id="28" name="Cell 28"/>
          <p:cNvSpPr/>
          <p:nvPr/>
        </p:nvSpPr>
        <p:spPr>
          <a:xfrm>
            <a:off x="4724400" y="256032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0.78</a:t>
            </a:r>
          </a:p>
        </p:txBody>
      </p:sp>
      <p:sp>
        <p:nvSpPr>
          <p:cNvPr id="29" name="Cell 29"/>
          <p:cNvSpPr/>
          <p:nvPr/>
        </p:nvSpPr>
        <p:spPr>
          <a:xfrm>
            <a:off x="5913120" y="256032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0.12</a:t>
            </a:r>
          </a:p>
        </p:txBody>
      </p:sp>
      <p:sp>
        <p:nvSpPr>
          <p:cNvPr id="30" name="Cell 30"/>
          <p:cNvSpPr/>
          <p:nvPr/>
        </p:nvSpPr>
        <p:spPr>
          <a:xfrm>
            <a:off x="1158240" y="292608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MAG</a:t>
            </a:r>
          </a:p>
        </p:txBody>
      </p:sp>
      <p:sp>
        <p:nvSpPr>
          <p:cNvPr id="31" name="Cell 31"/>
          <p:cNvSpPr/>
          <p:nvPr/>
        </p:nvSpPr>
        <p:spPr>
          <a:xfrm>
            <a:off x="2346960" y="292608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0.03</a:t>
            </a:r>
          </a:p>
        </p:txBody>
      </p:sp>
      <p:sp>
        <p:nvSpPr>
          <p:cNvPr id="32" name="Cell 32"/>
          <p:cNvSpPr/>
          <p:nvPr/>
        </p:nvSpPr>
        <p:spPr>
          <a:xfrm>
            <a:off x="3535680" y="292608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0.91</a:t>
            </a:r>
          </a:p>
        </p:txBody>
      </p:sp>
      <p:sp>
        <p:nvSpPr>
          <p:cNvPr id="33" name="Cell 33"/>
          <p:cNvSpPr/>
          <p:nvPr/>
        </p:nvSpPr>
        <p:spPr>
          <a:xfrm>
            <a:off x="4724400" y="292608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-0.14</a:t>
            </a:r>
          </a:p>
        </p:txBody>
      </p:sp>
      <p:sp>
        <p:nvSpPr>
          <p:cNvPr id="34" name="Cell 34"/>
          <p:cNvSpPr/>
          <p:nvPr/>
        </p:nvSpPr>
        <p:spPr>
          <a:xfrm>
            <a:off x="5913120" y="292608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0.36</a:t>
            </a:r>
          </a:p>
        </p:txBody>
      </p:sp>
      <p:sp>
        <p:nvSpPr>
          <p:cNvPr id="35" name="Cell 35"/>
          <p:cNvSpPr/>
          <p:nvPr/>
        </p:nvSpPr>
        <p:spPr>
          <a:xfrm>
            <a:off x="1158240" y="3291840"/>
            <a:ext cx="1188720" cy="365760"/>
          </a:xfrm>
          <a:prstGeom prst="rect">
            <a:avLst/>
          </a:prstGeom>
          <a:solidFill>
            <a:srgbClr val="FFF3D6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sales</a:t>
            </a:r>
          </a:p>
        </p:txBody>
      </p:sp>
      <p:sp>
        <p:nvSpPr>
          <p:cNvPr id="36" name="Cell 36"/>
          <p:cNvSpPr/>
          <p:nvPr/>
        </p:nvSpPr>
        <p:spPr>
          <a:xfrm>
            <a:off x="2346960" y="3291840"/>
            <a:ext cx="1188720" cy="365760"/>
          </a:xfrm>
          <a:prstGeom prst="rect">
            <a:avLst/>
          </a:prstGeom>
          <a:solidFill>
            <a:srgbClr val="FFF3D6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-0.62</a:t>
            </a:r>
          </a:p>
        </p:txBody>
      </p:sp>
      <p:sp>
        <p:nvSpPr>
          <p:cNvPr id="37" name="Cell 37"/>
          <p:cNvSpPr/>
          <p:nvPr/>
        </p:nvSpPr>
        <p:spPr>
          <a:xfrm>
            <a:off x="3535680" y="3291840"/>
            <a:ext cx="1188720" cy="365760"/>
          </a:xfrm>
          <a:prstGeom prst="rect">
            <a:avLst/>
          </a:prstGeom>
          <a:solidFill>
            <a:srgbClr val="FFF3D6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0.18</a:t>
            </a:r>
          </a:p>
        </p:txBody>
      </p:sp>
      <p:sp>
        <p:nvSpPr>
          <p:cNvPr id="38" name="Cell 38"/>
          <p:cNvSpPr/>
          <p:nvPr/>
        </p:nvSpPr>
        <p:spPr>
          <a:xfrm>
            <a:off x="4724400" y="3291840"/>
            <a:ext cx="1188720" cy="365760"/>
          </a:xfrm>
          <a:prstGeom prst="rect">
            <a:avLst/>
          </a:prstGeom>
          <a:solidFill>
            <a:srgbClr val="FFF3D6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0.45</a:t>
            </a:r>
          </a:p>
        </p:txBody>
      </p:sp>
      <p:sp>
        <p:nvSpPr>
          <p:cNvPr id="39" name="Cell 39"/>
          <p:cNvSpPr/>
          <p:nvPr/>
        </p:nvSpPr>
        <p:spPr>
          <a:xfrm>
            <a:off x="5913120" y="3291840"/>
            <a:ext cx="1188720" cy="365760"/>
          </a:xfrm>
          <a:prstGeom prst="rect">
            <a:avLst/>
          </a:prstGeom>
          <a:solidFill>
            <a:srgbClr val="FFF3D6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-0.09</a:t>
            </a:r>
          </a:p>
        </p:txBody>
      </p:sp>
      <p:sp>
        <p:nvSpPr>
          <p:cNvPr id="40" name="Cell 40"/>
          <p:cNvSpPr/>
          <p:nvPr/>
        </p:nvSpPr>
        <p:spPr>
          <a:xfrm>
            <a:off x="1158240" y="365760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up</a:t>
            </a:r>
          </a:p>
        </p:txBody>
      </p:sp>
      <p:sp>
        <p:nvSpPr>
          <p:cNvPr id="41" name="Cell 41"/>
          <p:cNvSpPr/>
          <p:nvPr/>
        </p:nvSpPr>
        <p:spPr>
          <a:xfrm>
            <a:off x="2346960" y="365760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-0.31</a:t>
            </a:r>
          </a:p>
        </p:txBody>
      </p:sp>
      <p:sp>
        <p:nvSpPr>
          <p:cNvPr id="42" name="Cell 42"/>
          <p:cNvSpPr/>
          <p:nvPr/>
        </p:nvSpPr>
        <p:spPr>
          <a:xfrm>
            <a:off x="3535680" y="365760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0.67</a:t>
            </a:r>
          </a:p>
        </p:txBody>
      </p:sp>
      <p:sp>
        <p:nvSpPr>
          <p:cNvPr id="43" name="Cell 43"/>
          <p:cNvSpPr/>
          <p:nvPr/>
        </p:nvSpPr>
        <p:spPr>
          <a:xfrm>
            <a:off x="4724400" y="365760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0.11</a:t>
            </a:r>
          </a:p>
        </p:txBody>
      </p:sp>
      <p:sp>
        <p:nvSpPr>
          <p:cNvPr id="44" name="Cell 44"/>
          <p:cNvSpPr/>
          <p:nvPr/>
        </p:nvSpPr>
        <p:spPr>
          <a:xfrm>
            <a:off x="5913120" y="365760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0.28</a:t>
            </a:r>
          </a:p>
        </p:txBody>
      </p:sp>
      <p:sp>
        <p:nvSpPr>
          <p:cNvPr id="45" name="Cell 45"/>
          <p:cNvSpPr/>
          <p:nvPr/>
        </p:nvSpPr>
        <p:spPr>
          <a:xfrm>
            <a:off x="1158240" y="402336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in</a:t>
            </a:r>
          </a:p>
        </p:txBody>
      </p:sp>
      <p:sp>
        <p:nvSpPr>
          <p:cNvPr id="46" name="Cell 46"/>
          <p:cNvSpPr/>
          <p:nvPr/>
        </p:nvSpPr>
        <p:spPr>
          <a:xfrm>
            <a:off x="2346960" y="402336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0.08</a:t>
            </a:r>
          </a:p>
        </p:txBody>
      </p:sp>
      <p:sp>
        <p:nvSpPr>
          <p:cNvPr id="47" name="Cell 47"/>
          <p:cNvSpPr/>
          <p:nvPr/>
        </p:nvSpPr>
        <p:spPr>
          <a:xfrm>
            <a:off x="3535680" y="402336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-0.15</a:t>
            </a:r>
          </a:p>
        </p:txBody>
      </p:sp>
      <p:sp>
        <p:nvSpPr>
          <p:cNvPr id="48" name="Cell 48"/>
          <p:cNvSpPr/>
          <p:nvPr/>
        </p:nvSpPr>
        <p:spPr>
          <a:xfrm>
            <a:off x="4724400" y="402336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0.22</a:t>
            </a:r>
          </a:p>
        </p:txBody>
      </p:sp>
      <p:sp>
        <p:nvSpPr>
          <p:cNvPr id="49" name="Cell 49"/>
          <p:cNvSpPr/>
          <p:nvPr/>
        </p:nvSpPr>
        <p:spPr>
          <a:xfrm>
            <a:off x="5913120" y="402336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0.64</a:t>
            </a:r>
          </a:p>
        </p:txBody>
      </p:sp>
      <p:sp>
        <p:nvSpPr>
          <p:cNvPr id="50" name="Cell 50"/>
          <p:cNvSpPr/>
          <p:nvPr/>
        </p:nvSpPr>
        <p:spPr>
          <a:xfrm>
            <a:off x="1158240" y="438912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chicago</a:t>
            </a:r>
          </a:p>
        </p:txBody>
      </p:sp>
      <p:sp>
        <p:nvSpPr>
          <p:cNvPr id="51" name="Cell 51"/>
          <p:cNvSpPr/>
          <p:nvPr/>
        </p:nvSpPr>
        <p:spPr>
          <a:xfrm>
            <a:off x="2346960" y="438912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0.41</a:t>
            </a:r>
          </a:p>
        </p:txBody>
      </p:sp>
      <p:sp>
        <p:nvSpPr>
          <p:cNvPr id="52" name="Cell 52"/>
          <p:cNvSpPr/>
          <p:nvPr/>
        </p:nvSpPr>
        <p:spPr>
          <a:xfrm>
            <a:off x="3535680" y="438912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0.12</a:t>
            </a:r>
          </a:p>
        </p:txBody>
      </p:sp>
      <p:sp>
        <p:nvSpPr>
          <p:cNvPr id="53" name="Cell 53"/>
          <p:cNvSpPr/>
          <p:nvPr/>
        </p:nvSpPr>
        <p:spPr>
          <a:xfrm>
            <a:off x="4724400" y="438912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-0.33</a:t>
            </a:r>
          </a:p>
        </p:txBody>
      </p:sp>
      <p:sp>
        <p:nvSpPr>
          <p:cNvPr id="54" name="Cell 54"/>
          <p:cNvSpPr/>
          <p:nvPr/>
        </p:nvSpPr>
        <p:spPr>
          <a:xfrm>
            <a:off x="5913120" y="438912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0.57</a:t>
            </a:r>
          </a:p>
        </p:txBody>
      </p:sp>
      <p:sp>
        <p:nvSpPr>
          <p:cNvPr id="55" name="Cell 55"/>
          <p:cNvSpPr/>
          <p:nvPr/>
        </p:nvSpPr>
        <p:spPr>
          <a:xfrm>
            <a:off x="1158240" y="475488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?</a:t>
            </a:r>
          </a:p>
        </p:txBody>
      </p:sp>
      <p:sp>
        <p:nvSpPr>
          <p:cNvPr id="56" name="Cell 56"/>
          <p:cNvSpPr/>
          <p:nvPr/>
        </p:nvSpPr>
        <p:spPr>
          <a:xfrm>
            <a:off x="2346960" y="475488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-0.07</a:t>
            </a:r>
          </a:p>
        </p:txBody>
      </p:sp>
      <p:sp>
        <p:nvSpPr>
          <p:cNvPr id="57" name="Cell 57"/>
          <p:cNvSpPr/>
          <p:nvPr/>
        </p:nvSpPr>
        <p:spPr>
          <a:xfrm>
            <a:off x="3535680" y="475488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0.04</a:t>
            </a:r>
          </a:p>
        </p:txBody>
      </p:sp>
      <p:sp>
        <p:nvSpPr>
          <p:cNvPr id="58" name="Cell 58"/>
          <p:cNvSpPr/>
          <p:nvPr/>
        </p:nvSpPr>
        <p:spPr>
          <a:xfrm>
            <a:off x="4724400" y="475488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0.19</a:t>
            </a:r>
          </a:p>
        </p:txBody>
      </p:sp>
      <p:sp>
        <p:nvSpPr>
          <p:cNvPr id="59" name="Cell 59"/>
          <p:cNvSpPr/>
          <p:nvPr/>
        </p:nvSpPr>
        <p:spPr>
          <a:xfrm>
            <a:off x="5913120" y="475488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-0.22</a:t>
            </a:r>
          </a:p>
        </p:txBody>
      </p:sp>
      <p:sp>
        <p:nvSpPr>
          <p:cNvPr id="80" name="Shape Label"/>
          <p:cNvSpPr/>
          <p:nvPr/>
        </p:nvSpPr>
        <p:spPr>
          <a:xfrm>
            <a:off x="1158240" y="5212080"/>
            <a:ext cx="594360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5CAD"/>
            </a:solidFill>
          </a:ln>
        </p:spPr>
        <p:txBody>
          <a:bodyPr lIns="45720" tIns="45720" rIns="45720" bIns="45720" rtlCol="0" anchor="ctr"/>
          <a:lstStyle/>
          <a:p>
            <a:pPr algn="ctr">
              <a:defRPr sz="1450"/>
            </a:pPr>
            <a:r>
              <a:rPr sz="1450" b="1" dirty="0">
                <a:solidFill>
                  <a:srgbClr val="0B2F5B"/>
                </a:solidFill>
                <a:latin typeface="Consolas"/>
              </a:rPr>
              <a:t>activation tensor shape = [7 token positions, 4 vector dimensions]</a:t>
            </a:r>
          </a:p>
        </p:txBody>
      </p:sp>
      <p:sp>
        <p:nvSpPr>
          <p:cNvPr id="81" name="Bridge"/>
          <p:cNvSpPr/>
          <p:nvPr/>
        </p:nvSpPr>
        <p:spPr>
          <a:xfrm>
            <a:off x="7437120" y="5212080"/>
            <a:ext cx="365760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/>
            </a:pPr>
            <a:r>
              <a:rPr sz="1500" b="1" dirty="0">
                <a:solidFill>
                  <a:srgbClr val="172B4D"/>
                </a:solidFill>
                <a:latin typeface="Aptos"/>
              </a:rPr>
              <a:t>Next session: how layers transform this tensor.</a:t>
            </a:r>
          </a:p>
        </p:txBody>
      </p:sp>
      <p:sp>
        <p:nvSpPr>
          <p:cNvPr id="90" name="Footer"/>
          <p:cNvSpPr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>
              <a:defRPr sz="850"/>
            </a:pPr>
            <a:r>
              <a:rPr sz="850" dirty="0">
                <a:solidFill>
                  <a:srgbClr val="6B778C"/>
                </a:solidFill>
                <a:latin typeface="Aptos"/>
              </a:rPr>
              <a:t>AI Under the hood | Slide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AGPAI From Question to Insight"/>
          <p:cNvPicPr/>
          <p:nvPr/>
        </p:nvPicPr>
        <p:blipFill>
          <a:blip r:embed="rId2"/>
          <a:stretch>
            <a:fillRect/>
          </a:stretch>
        </p:blipFill>
        <p:spPr>
          <a:xfrm>
            <a:off x="1466850" y="274320"/>
            <a:ext cx="9258300" cy="6172200"/>
          </a:xfrm>
          <a:prstGeom prst="rect">
            <a:avLst/>
          </a:prstGeom>
        </p:spPr>
      </p:pic>
      <p:sp>
        <p:nvSpPr>
          <p:cNvPr id="3" name="Footer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/>
            <a:r>
              <a:rPr sz="850" dirty="0">
                <a:solidFill>
                  <a:srgbClr val="6B778C"/>
                </a:solidFill>
                <a:latin typeface="Aptos"/>
              </a:rPr>
              <a:t>AI Under the hood | Slide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Live Demo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VS Code runs the demos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481" y="1188720"/>
            <a:ext cx="11887200" cy="128016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500">
                <a:solidFill>
                  <a:srgbClr val="172B4D"/>
                </a:solidFill>
                <a:latin typeface="Consolas"/>
              </a:defRPr>
            </a:pPr>
            <a:r>
              <a:rPr dirty="0"/>
              <a:t>Sentence ? Tokens ? Token IDs ? Embedding Table ? Input</a:t>
            </a:r>
            <a:r>
              <a:rPr lang="en-US" dirty="0"/>
              <a:t> </a:t>
            </a:r>
            <a:r>
              <a:rPr dirty="0"/>
              <a:t>Tensor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834640"/>
            <a:ext cx="320040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Demo 1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token_demo.py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Terminal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2834640"/>
            <a:ext cx="320040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Demo 2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token_streamlit_app.py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Visual table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834640"/>
            <a:ext cx="320040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Demo 3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embedding_lookup_linear_algebra_demo.py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Lookup vs matrix multiply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Audience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The first stable mental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463040"/>
            <a:ext cx="10424160" cy="109728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700">
                <a:solidFill>
                  <a:srgbClr val="172B4D"/>
                </a:solidFill>
                <a:latin typeface="Consolas"/>
              </a:defRPr>
            </a:pPr>
            <a:r>
              <a:t>A model never sees “sales” as a word.</a:t>
            </a:r>
            <a:br/>
            <a:r>
              <a:t>It sees a numeric pattern.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971800"/>
            <a:ext cx="10424160" cy="16002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200">
                <a:solidFill>
                  <a:srgbClr val="172B4D"/>
                </a:solidFill>
                <a:latin typeface="Consolas"/>
              </a:defRPr>
            </a:pPr>
            <a:r>
              <a:rPr dirty="0"/>
              <a:t>Text becomes tokens.</a:t>
            </a:r>
            <a:br>
              <a:rPr dirty="0"/>
            </a:br>
            <a:r>
              <a:rPr dirty="0"/>
              <a:t>Tokens become IDs.</a:t>
            </a:r>
            <a:br>
              <a:rPr dirty="0"/>
            </a:br>
            <a:r>
              <a:rPr dirty="0"/>
              <a:t>IDs become vectors.</a:t>
            </a:r>
            <a:br>
              <a:rPr dirty="0"/>
            </a:br>
            <a:r>
              <a:rPr dirty="0"/>
              <a:t>Vectors become an </a:t>
            </a:r>
            <a:r>
              <a:rPr lang="en-US" dirty="0"/>
              <a:t>input tensor for the NN </a:t>
            </a:r>
            <a:r>
              <a:rPr dirty="0"/>
              <a:t>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543</TotalTime>
  <Words>1981</Words>
  <Application>Microsoft Office PowerPoint</Application>
  <PresentationFormat>Widescreen</PresentationFormat>
  <Paragraphs>317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Aptos</vt:lpstr>
      <vt:lpstr>Arial</vt:lpstr>
      <vt:lpstr>Calibri</vt:lpstr>
      <vt:lpstr>Consolas</vt:lpstr>
      <vt:lpstr>Office Theme</vt:lpstr>
      <vt:lpstr>MAGPAI   ( mag practical AI , pronounced (/ˈmæɡ.paɪ/) 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Vasilis Katsoulis</cp:lastModifiedBy>
  <cp:revision>17</cp:revision>
  <dcterms:created xsi:type="dcterms:W3CDTF">2013-01-27T09:14:16Z</dcterms:created>
  <dcterms:modified xsi:type="dcterms:W3CDTF">2026-06-02T01:29:17Z</dcterms:modified>
  <cp:category/>
</cp:coreProperties>
</file>