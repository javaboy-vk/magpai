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9" r:id="rId11"/>
    <p:sldId id="262" r:id="rId12"/>
    <p:sldId id="268" r:id="rId13"/>
    <p:sldId id="275" r:id="rId14"/>
    <p:sldId id="261" r:id="rId15"/>
    <p:sldId id="276" r:id="rId16"/>
    <p:sldId id="277" r:id="rId17"/>
    <p:sldId id="270" r:id="rId18"/>
    <p:sldId id="271" r:id="rId19"/>
    <p:sldId id="279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120" y="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0" y="5367338"/>
            <a:ext cx="5739639" cy="1268852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AI Under the Hood</a:t>
            </a:r>
          </a:p>
          <a:p>
            <a:endParaRPr lang="en-US" b="1" dirty="0"/>
          </a:p>
          <a:p>
            <a:r>
              <a:rPr lang="en-US" b="1" dirty="0"/>
              <a:t>Following a Business Question Through Tokens, Embeddings, Neural Networks, and Inference</a:t>
            </a:r>
          </a:p>
          <a:p>
            <a:r>
              <a:rPr lang="en-US" b="1" dirty="0"/>
              <a:t>What Really Happens When You Ask AI a Question?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 animBg="1"/>
      <p:bldP spid="9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8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</a:t>
            </a:r>
            <a:r>
              <a:rPr lang="en-US" dirty="0"/>
              <a:t>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26678"/>
            <a:ext cx="10515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9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416B00A0-17ED-A2D9-D460-7611C951090B}"/>
              </a:ext>
            </a:extLst>
          </p:cNvPr>
          <p:cNvSpPr/>
          <p:nvPr/>
        </p:nvSpPr>
        <p:spPr>
          <a:xfrm>
            <a:off x="822960" y="5166360"/>
            <a:ext cx="10515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The vocabulary is the dictionary that allows text to become numbers. 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Once text becomes token IDs, the neural network can finally start learning.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3774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</a:t>
            </a:r>
            <a:r>
              <a:rPr lang="en-US" sz="1500" dirty="0">
                <a:solidFill>
                  <a:srgbClr val="172B4D"/>
                </a:solidFill>
                <a:latin typeface="Consolas"/>
              </a:rPr>
              <a:t> Vector</a:t>
            </a:r>
            <a:r>
              <a:rPr sz="1500" dirty="0">
                <a:solidFill>
                  <a:srgbClr val="172B4D"/>
                </a:solidFill>
                <a:latin typeface="Consolas"/>
              </a:rPr>
              <a:t>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4346840"/>
            <a:ext cx="9966960" cy="1807072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  <a:endParaRPr lang="en-US" sz="185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The values are learned, then selected by ID.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lang="en-US"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The word “Sales” now is a </a:t>
            </a:r>
            <a:r>
              <a:rPr lang="en-US" sz="1700" u="sng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point in multidimensional space</a:t>
            </a:r>
            <a:r>
              <a:rPr lang="en-US" sz="1700" dirty="0">
                <a:solidFill>
                  <a:srgbClr val="172B4D"/>
                </a:solidFill>
                <a:latin typeface="Aptos"/>
              </a:rPr>
              <a:t>.</a:t>
            </a:r>
            <a:endParaRPr sz="17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integer </a:t>
            </a:r>
            <a:r>
              <a:rPr lang="en-US" dirty="0">
                <a:highlight>
                  <a:srgbClr val="FFFF00"/>
                </a:highlight>
              </a:rPr>
              <a:t>3</a:t>
            </a:r>
            <a:r>
              <a:rPr dirty="0">
                <a:highlight>
                  <a:srgbClr val="FFFF00"/>
                </a:highlight>
              </a:rPr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55778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During inference, we do not calculate these numbers from spelling. </a:t>
            </a:r>
            <a:r>
              <a:rPr sz="1700" dirty="0">
                <a:solidFill>
                  <a:srgbClr val="172B4D"/>
                </a:solidFill>
                <a:latin typeface="Aptos"/>
              </a:rPr>
              <a:t>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10</a:t>
            </a:r>
          </a:p>
        </p:txBody>
      </p:sp>
      <p:sp>
        <p:nvSpPr>
          <p:cNvPr id="9" name="Definition">
            <a:extLst>
              <a:ext uri="{FF2B5EF4-FFF2-40B4-BE49-F238E27FC236}">
                <a16:creationId xmlns:a16="http://schemas.microsoft.com/office/drawing/2014/main" id="{0FCD2D10-DB6A-EBB2-1E45-F3B0AF2ABB4B}"/>
              </a:ext>
            </a:extLst>
          </p:cNvPr>
          <p:cNvSpPr/>
          <p:nvPr/>
        </p:nvSpPr>
        <p:spPr>
          <a:xfrm>
            <a:off x="822959" y="3831882"/>
            <a:ext cx="9784081" cy="1654518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A neural network contains a gigantic Embedding table matrix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Example dimensions:  Vocabulary size * Embedding dimension</a:t>
            </a: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GPT4                                            100,256          *               1,536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Meaning: each token is represented by 1,536 floating point numbers</a:t>
            </a:r>
            <a:endParaRPr lang="en-US" sz="1550" dirty="0">
              <a:latin typeface="Aptos" panose="020B0004020202020204" pitchFamily="34" charset="0"/>
            </a:endParaRPr>
          </a:p>
          <a:p>
            <a:pPr algn="l">
              <a:defRPr sz="1750"/>
            </a:pPr>
            <a:endParaRPr sz="1750" dirty="0">
              <a:solidFill>
                <a:srgbClr val="0B2F5B"/>
              </a:solidFill>
              <a:latin typeface="Aptos"/>
            </a:endParaRPr>
          </a:p>
          <a:p>
            <a:pPr algn="l">
              <a:defRPr sz="15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2600"/>
            </a:pPr>
            <a:r>
              <a:rPr sz="2600" b="1" dirty="0">
                <a:solidFill>
                  <a:srgbClr val="0B2F5B"/>
                </a:solidFill>
                <a:latin typeface="Aptos"/>
              </a:rPr>
              <a:t>Embeddings: Learned Geometric Coordinates of Meaning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94360" y="777240"/>
            <a:ext cx="1082040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550"/>
            </a:pPr>
            <a:r>
              <a:rPr sz="1550" dirty="0">
                <a:solidFill>
                  <a:srgbClr val="52616B"/>
                </a:solidFill>
                <a:latin typeface="Aptos"/>
              </a:rPr>
              <a:t>Training turns random vectors into a map where </a:t>
            </a:r>
            <a:r>
              <a:rPr sz="1550" dirty="0">
                <a:solidFill>
                  <a:srgbClr val="52616B"/>
                </a:solidFill>
                <a:highlight>
                  <a:srgbClr val="FFFF00"/>
                </a:highlight>
                <a:latin typeface="Aptos"/>
              </a:rPr>
              <a:t>distance carries semantics</a:t>
            </a:r>
            <a:r>
              <a:rPr sz="1550" dirty="0">
                <a:solidFill>
                  <a:srgbClr val="52616B"/>
                </a:solidFill>
                <a:latin typeface="Aptos"/>
              </a:rPr>
              <a:t>.</a:t>
            </a:r>
          </a:p>
        </p:txBody>
      </p:sp>
      <p:sp>
        <p:nvSpPr>
          <p:cNvPr id="4" name="Initially Random"/>
          <p:cNvSpPr/>
          <p:nvPr/>
        </p:nvSpPr>
        <p:spPr>
          <a:xfrm>
            <a:off x="640080" y="1280160"/>
            <a:ext cx="329184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Initially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MAG  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sales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Chicago = [random garbage]</a:t>
            </a:r>
          </a:p>
        </p:txBody>
      </p:sp>
      <p:sp>
        <p:nvSpPr>
          <p:cNvPr id="5" name="Training Contexts"/>
          <p:cNvSpPr/>
          <p:nvPr/>
        </p:nvSpPr>
        <p:spPr>
          <a:xfrm>
            <a:off x="4389120" y="1280160"/>
            <a:ext cx="320040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During training</a:t>
            </a:r>
          </a:p>
          <a:p>
            <a:pPr algn="l">
              <a:defRPr sz="1350"/>
            </a:pPr>
            <a:r>
              <a:rPr sz="1350" dirty="0">
                <a:solidFill>
                  <a:srgbClr val="172B4D"/>
                </a:solidFill>
                <a:latin typeface="Consolas"/>
              </a:rPr>
              <a:t>sales up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sales increased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revenue growth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Chicago region</a:t>
            </a:r>
          </a:p>
        </p:txBody>
      </p:sp>
      <p:sp>
        <p:nvSpPr>
          <p:cNvPr id="6" name="Geometry Meaning"/>
          <p:cNvSpPr/>
          <p:nvPr/>
        </p:nvSpPr>
        <p:spPr>
          <a:xfrm>
            <a:off x="8138160" y="1280160"/>
            <a:ext cx="3200400" cy="1737360"/>
          </a:xfrm>
          <a:prstGeom prst="roundRect">
            <a:avLst/>
          </a:prstGeom>
          <a:solidFill>
            <a:srgbClr val="EAF3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Backprop moves vectors</a:t>
            </a:r>
          </a:p>
          <a:p>
            <a:pPr algn="l">
              <a:defRPr sz="1375"/>
            </a:pPr>
            <a:r>
              <a:rPr sz="1375" dirty="0">
                <a:solidFill>
                  <a:srgbClr val="172B4D"/>
                </a:solidFill>
                <a:latin typeface="Aptos"/>
              </a:rPr>
              <a:t>similar words move closer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unrelated words move apart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geometry stores meaning</a:t>
            </a:r>
          </a:p>
        </p:txBody>
      </p:sp>
      <p:sp>
        <p:nvSpPr>
          <p:cNvPr id="7" name="Visual Intuition"/>
          <p:cNvSpPr/>
          <p:nvPr/>
        </p:nvSpPr>
        <p:spPr>
          <a:xfrm>
            <a:off x="640080" y="3370320"/>
            <a:ext cx="5029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Visual intuition: distances encode relationships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king   (2, 9, 4)    queen  (2, 9, 5)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man    (1, 4, 3)    woman  (1, 4, 4)</a:t>
            </a:r>
          </a:p>
          <a:p>
            <a:pPr algn="l">
              <a:defRPr sz="1550"/>
            </a:pPr>
            <a:r>
              <a:rPr sz="1550" b="1" dirty="0">
                <a:solidFill>
                  <a:srgbClr val="0B5CAD"/>
                </a:solidFill>
                <a:latin typeface="Consolas"/>
              </a:rPr>
              <a:t>king - man + woman ~= queen</a:t>
            </a:r>
          </a:p>
        </p:txBody>
      </p:sp>
      <p:sp>
        <p:nvSpPr>
          <p:cNvPr id="8" name="Sentence Embeddings"/>
          <p:cNvSpPr/>
          <p:nvPr/>
        </p:nvSpPr>
        <p:spPr>
          <a:xfrm>
            <a:off x="5989320" y="3370320"/>
            <a:ext cx="5394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Sentence embeddings combine token vectors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Aptos"/>
              </a:rPr>
              <a:t>averaging | attention | transformers | pooling</a:t>
            </a:r>
          </a:p>
          <a:p>
            <a:pPr algn="l">
              <a:defRPr sz="1200"/>
            </a:pPr>
            <a:r>
              <a:rPr sz="1200" dirty="0">
                <a:solidFill>
                  <a:srgbClr val="172B4D"/>
                </a:solidFill>
                <a:latin typeface="Consolas"/>
              </a:rPr>
              <a:t>"MAG sales are up in Chicago"</a:t>
            </a:r>
            <a:br/>
            <a:r>
              <a:rPr sz="1200" dirty="0">
                <a:solidFill>
                  <a:srgbClr val="172B4D"/>
                </a:solidFill>
                <a:latin typeface="Consolas"/>
              </a:rPr>
              <a:t>-&gt; [0.192, -0.551, 0.882, ... 1536 dims ...]</a:t>
            </a:r>
          </a:p>
          <a:p>
            <a:pPr algn="l">
              <a:defRPr sz="1225"/>
            </a:pPr>
            <a:r>
              <a:rPr sz="1225" dirty="0">
                <a:solidFill>
                  <a:srgbClr val="52616B"/>
                </a:solidFill>
                <a:latin typeface="Aptos"/>
              </a:rPr>
              <a:t>captures business context, trend, location, and organization semantics</a:t>
            </a:r>
          </a:p>
        </p:txBody>
      </p:sp>
      <p:sp>
        <p:nvSpPr>
          <p:cNvPr id="9" name="Why This Works"/>
          <p:cNvSpPr/>
          <p:nvPr/>
        </p:nvSpPr>
        <p:spPr>
          <a:xfrm>
            <a:off x="914400" y="5791200"/>
            <a:ext cx="10393680" cy="5486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Why it works: language has statistical structure. Context patterns -&gt; geometric relationships. </a:t>
            </a:r>
            <a:endParaRPr lang="en-US" sz="1450" b="1" dirty="0">
              <a:solidFill>
                <a:srgbClr val="172B4D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Foundation for Word2Vec, GloVe, BERT, GPT, and LLMs.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288128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62C980-9521-DFEE-0DCD-FEEC67E8FE40}"/>
              </a:ext>
            </a:extLst>
          </p:cNvPr>
          <p:cNvSpPr/>
          <p:nvPr/>
        </p:nvSpPr>
        <p:spPr>
          <a:xfrm>
            <a:off x="883920" y="3307531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lang="en-US" dirty="0"/>
              <a:t>Conceptually: </a:t>
            </a:r>
            <a:r>
              <a:rPr lang="en-US" dirty="0" err="1"/>
              <a:t>EmbeddingMatrix</a:t>
            </a:r>
            <a:r>
              <a:rPr lang="en-US" dirty="0"/>
              <a:t>[ </a:t>
            </a:r>
            <a:r>
              <a:rPr lang="en-US" dirty="0" err="1"/>
              <a:t>token_id</a:t>
            </a:r>
            <a:r>
              <a:rPr lang="en-US" dirty="0"/>
              <a:t> ] returns a vector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365760"/>
            <a:ext cx="865717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Embeddings Become 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Neural Network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Activations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>
                <a:solidFill>
                  <a:srgbClr val="5E6C84"/>
                </a:solidFill>
                <a:latin typeface="Aptos"/>
              </a:rPr>
              <a:t>The vectors are the live numeric input flowing into the neural network</a:t>
            </a:r>
          </a:p>
        </p:txBody>
      </p:sp>
      <p:sp>
        <p:nvSpPr>
          <p:cNvPr id="4" name="Text"/>
          <p:cNvSpPr/>
          <p:nvPr/>
        </p:nvSpPr>
        <p:spPr>
          <a:xfrm>
            <a:off x="365760" y="154838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Text</a:t>
            </a:r>
          </a:p>
        </p:txBody>
      </p:sp>
      <p:sp>
        <p:nvSpPr>
          <p:cNvPr id="5" name="Arrow"/>
          <p:cNvSpPr txBox="1"/>
          <p:nvPr/>
        </p:nvSpPr>
        <p:spPr>
          <a:xfrm>
            <a:off x="179832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Token IDs"/>
          <p:cNvSpPr/>
          <p:nvPr/>
        </p:nvSpPr>
        <p:spPr>
          <a:xfrm>
            <a:off x="2164080" y="1548384"/>
            <a:ext cx="16459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Token IDs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39014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Embeddings"/>
          <p:cNvSpPr/>
          <p:nvPr/>
        </p:nvSpPr>
        <p:spPr>
          <a:xfrm>
            <a:off x="4267200" y="1487520"/>
            <a:ext cx="2133600" cy="89916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Embeddings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vectors</a:t>
            </a:r>
          </a:p>
        </p:txBody>
      </p:sp>
      <p:sp>
        <p:nvSpPr>
          <p:cNvPr id="9" name="Arrow"/>
          <p:cNvSpPr txBox="1"/>
          <p:nvPr/>
        </p:nvSpPr>
        <p:spPr>
          <a:xfrm>
            <a:off x="64922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0" name="Transformer"/>
          <p:cNvSpPr/>
          <p:nvPr/>
        </p:nvSpPr>
        <p:spPr>
          <a:xfrm>
            <a:off x="6858000" y="1487520"/>
            <a:ext cx="2438400" cy="899160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Transformer A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rtificial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etwork</a:t>
            </a:r>
            <a:endParaRPr sz="150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LLM core</a:t>
            </a:r>
          </a:p>
        </p:txBody>
      </p:sp>
      <p:sp>
        <p:nvSpPr>
          <p:cNvPr id="11" name="Arrow"/>
          <p:cNvSpPr txBox="1"/>
          <p:nvPr/>
        </p:nvSpPr>
        <p:spPr>
          <a:xfrm>
            <a:off x="93878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2" name="Output"/>
          <p:cNvSpPr/>
          <p:nvPr/>
        </p:nvSpPr>
        <p:spPr>
          <a:xfrm>
            <a:off x="9753600" y="1548384"/>
            <a:ext cx="1554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probabilities</a:t>
            </a:r>
          </a:p>
        </p:txBody>
      </p:sp>
      <p:sp>
        <p:nvSpPr>
          <p:cNvPr id="13" name="Key Point"/>
          <p:cNvSpPr/>
          <p:nvPr/>
        </p:nvSpPr>
        <p:spPr>
          <a:xfrm>
            <a:off x="320040" y="2878146"/>
            <a:ext cx="7024085" cy="91440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100" b="1">
                <a:solidFill>
                  <a:srgbClr val="0B2F5B"/>
                </a:solidFill>
                <a:latin typeface="Aptos"/>
              </a:defRPr>
            </a:pPr>
            <a:r>
              <a:rPr sz="2100" b="1">
                <a:solidFill>
                  <a:srgbClr val="0B2F5B"/>
                </a:solidFill>
                <a:latin typeface="Aptos"/>
              </a:rPr>
              <a:t>The embedding vectors become input activations.</a:t>
            </a:r>
          </a:p>
          <a:p>
            <a:pPr algn="ctr">
              <a:defRPr sz="1500">
                <a:solidFill>
                  <a:srgbClr val="172B4D"/>
                </a:solidFill>
                <a:latin typeface="Aptos"/>
              </a:defRPr>
            </a:pPr>
            <a:r>
              <a:rPr sz="1500">
                <a:solidFill>
                  <a:srgbClr val="172B4D"/>
                </a:solidFill>
                <a:latin typeface="Aptos"/>
              </a:rPr>
              <a:t>They are the live numeric values flowing into the neural network.</a:t>
            </a:r>
          </a:p>
        </p:txBody>
      </p:sp>
      <p:sp>
        <p:nvSpPr>
          <p:cNvPr id="14" name="No separate handoff"/>
          <p:cNvSpPr/>
          <p:nvPr/>
        </p:nvSpPr>
        <p:spPr>
          <a:xfrm>
            <a:off x="365760" y="4275510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There is not usually a separate ANN handing data to the LLM.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The neural network is the computational core of the LLM.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15</a:t>
            </a:r>
          </a:p>
        </p:txBody>
      </p:sp>
      <p:sp>
        <p:nvSpPr>
          <p:cNvPr id="16" name="Embeddings">
            <a:extLst>
              <a:ext uri="{FF2B5EF4-FFF2-40B4-BE49-F238E27FC236}">
                <a16:creationId xmlns:a16="http://schemas.microsoft.com/office/drawing/2014/main" id="{569E4174-39F1-B08D-CAF0-BC5B5476C79B}"/>
              </a:ext>
            </a:extLst>
          </p:cNvPr>
          <p:cNvSpPr/>
          <p:nvPr/>
        </p:nvSpPr>
        <p:spPr>
          <a:xfrm>
            <a:off x="7962900" y="2617458"/>
            <a:ext cx="3345180" cy="4156566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highlight>
                  <a:srgbClr val="00FF00"/>
                </a:highlight>
                <a:latin typeface="Aptos"/>
              </a:rPr>
              <a:t>MAGPAI</a:t>
            </a:r>
            <a:r>
              <a:rPr lang="en-US" sz="1200" b="1" dirty="0">
                <a:solidFill>
                  <a:srgbClr val="172B4D"/>
                </a:solidFill>
                <a:highlight>
                  <a:srgbClr val="00FF00"/>
                </a:highlight>
                <a:latin typeface="Aptos"/>
              </a:rPr>
              <a:t>    Mental Model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200" b="1" dirty="0">
              <a:solidFill>
                <a:srgbClr val="172B4D"/>
              </a:solidFill>
              <a:latin typeface="Aptos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User Question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>
                <a:latin typeface="Aptos" panose="020B0004020202020204" pitchFamily="34" charset="0"/>
              </a:rPr>
              <a:t>↓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Tokenizer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 IDs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Embeddings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 Language -&gt; Geometry)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Transformer Neural Network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(MAGPAI Brain)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Output Probabilities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Decoder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Answer</a:t>
            </a:r>
            <a:endParaRPr sz="1200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17" name="No separate handoff">
            <a:extLst>
              <a:ext uri="{FF2B5EF4-FFF2-40B4-BE49-F238E27FC236}">
                <a16:creationId xmlns:a16="http://schemas.microsoft.com/office/drawing/2014/main" id="{4B113C0F-E5E6-12D8-824B-A8403943B497}"/>
              </a:ext>
            </a:extLst>
          </p:cNvPr>
          <p:cNvSpPr/>
          <p:nvPr/>
        </p:nvSpPr>
        <p:spPr>
          <a:xfrm>
            <a:off x="365759" y="5363107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/>
              <a:t>The embedding layer, Transformer layers, output layers, and decoder all work together as one integrated system.</a:t>
            </a: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lationships">
            <a:extLst>
              <a:ext uri="{FF2B5EF4-FFF2-40B4-BE49-F238E27FC236}">
                <a16:creationId xmlns:a16="http://schemas.microsoft.com/office/drawing/2014/main" id="{C88BB20F-4D33-8ACA-8F81-7BE2B93A0272}"/>
              </a:ext>
            </a:extLst>
          </p:cNvPr>
          <p:cNvSpPr/>
          <p:nvPr/>
        </p:nvSpPr>
        <p:spPr>
          <a:xfrm>
            <a:off x="150690" y="4024054"/>
            <a:ext cx="3710784" cy="212708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500" b="1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2" name="Title"/>
          <p:cNvSpPr txBox="1"/>
          <p:nvPr/>
        </p:nvSpPr>
        <p:spPr>
          <a:xfrm>
            <a:off x="640080" y="76425"/>
            <a:ext cx="1015848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The Transformer Artificial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etwork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 Is the LLM Core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393433" y="571023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 dirty="0">
                <a:solidFill>
                  <a:srgbClr val="5E6C84"/>
                </a:solidFill>
                <a:latin typeface="Aptos"/>
              </a:rPr>
              <a:t>A modern LLM is one enormous neural network, not a separate system after embeddings</a:t>
            </a:r>
          </a:p>
        </p:txBody>
      </p:sp>
      <p:sp>
        <p:nvSpPr>
          <p:cNvPr id="4" name="Center"/>
          <p:cNvSpPr/>
          <p:nvPr/>
        </p:nvSpPr>
        <p:spPr>
          <a:xfrm>
            <a:off x="3962400" y="1168805"/>
            <a:ext cx="3962400" cy="772762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r>
              <a:rPr sz="2200" b="1">
                <a:solidFill>
                  <a:srgbClr val="0B2F5B"/>
                </a:solidFill>
                <a:latin typeface="Aptos"/>
              </a:rPr>
              <a:t>Transformer ANN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attention + feed-forward layers + weights</a:t>
            </a:r>
          </a:p>
        </p:txBody>
      </p:sp>
      <p:sp>
        <p:nvSpPr>
          <p:cNvPr id="5" name="Input"/>
          <p:cNvSpPr/>
          <p:nvPr/>
        </p:nvSpPr>
        <p:spPr>
          <a:xfrm>
            <a:off x="807720" y="1234440"/>
            <a:ext cx="2286000" cy="589882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Input activations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embedding vectors</a:t>
            </a:r>
          </a:p>
        </p:txBody>
      </p:sp>
      <p:sp>
        <p:nvSpPr>
          <p:cNvPr id="6" name="Arrow"/>
          <p:cNvSpPr txBox="1"/>
          <p:nvPr/>
        </p:nvSpPr>
        <p:spPr>
          <a:xfrm>
            <a:off x="3320040" y="141170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8050864" y="14105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Output"/>
          <p:cNvSpPr/>
          <p:nvPr/>
        </p:nvSpPr>
        <p:spPr>
          <a:xfrm>
            <a:off x="8386560" y="1209319"/>
            <a:ext cx="2743200" cy="59778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next-token probabilities</a:t>
            </a:r>
          </a:p>
        </p:txBody>
      </p:sp>
      <p:sp>
        <p:nvSpPr>
          <p:cNvPr id="9" name="Relationships"/>
          <p:cNvSpPr/>
          <p:nvPr/>
        </p:nvSpPr>
        <p:spPr>
          <a:xfrm>
            <a:off x="482081" y="2074101"/>
            <a:ext cx="3048000" cy="139646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The ANN learns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sales -&gt; revenue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Chicago -&gt; location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up -&gt; growth</a:t>
            </a:r>
            <a:endParaRPr lang="en-US" sz="1200" dirty="0">
              <a:solidFill>
                <a:srgbClr val="172B4D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“sales up in Chicago” -&gt; may imply positive business performance</a:t>
            </a:r>
            <a:endParaRPr sz="12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10" name="Weights"/>
          <p:cNvSpPr/>
          <p:nvPr/>
        </p:nvSpPr>
        <p:spPr>
          <a:xfrm>
            <a:off x="4409439" y="2060399"/>
            <a:ext cx="3048000" cy="912456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Learned knowledge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stored in weights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billions of parameters</a:t>
            </a:r>
          </a:p>
        </p:txBody>
      </p:sp>
      <p:sp>
        <p:nvSpPr>
          <p:cNvPr id="11" name="Memory"/>
          <p:cNvSpPr/>
          <p:nvPr/>
        </p:nvSpPr>
        <p:spPr>
          <a:xfrm>
            <a:off x="8081760" y="2091645"/>
            <a:ext cx="3048000" cy="940953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AB00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Current state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context window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RAG documents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agent memory</a:t>
            </a:r>
          </a:p>
        </p:txBody>
      </p:sp>
      <p:sp>
        <p:nvSpPr>
          <p:cNvPr id="12" name="Bottom"/>
          <p:cNvSpPr txBox="1"/>
          <p:nvPr/>
        </p:nvSpPr>
        <p:spPr>
          <a:xfrm>
            <a:off x="2685447" y="6151138"/>
            <a:ext cx="886133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Embeddings convert language into geometry. </a:t>
            </a:r>
            <a:endParaRPr lang="en-US" sz="1700" b="1" dirty="0">
              <a:solidFill>
                <a:srgbClr val="0B2F5B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The Transformer manipulates that geometry to infer meaning and predict the next token.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16</a:t>
            </a:r>
          </a:p>
        </p:txBody>
      </p:sp>
      <p:sp>
        <p:nvSpPr>
          <p:cNvPr id="13" name="Relationships">
            <a:extLst>
              <a:ext uri="{FF2B5EF4-FFF2-40B4-BE49-F238E27FC236}">
                <a16:creationId xmlns:a16="http://schemas.microsoft.com/office/drawing/2014/main" id="{F39526A9-70FF-ECDD-A99C-1D1CDF85E97A}"/>
              </a:ext>
            </a:extLst>
          </p:cNvPr>
          <p:cNvSpPr/>
          <p:nvPr/>
        </p:nvSpPr>
        <p:spPr>
          <a:xfrm>
            <a:off x="150690" y="3709837"/>
            <a:ext cx="3710783" cy="228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latin typeface="Aptos"/>
              </a:rPr>
              <a:t>Biological Analogy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0C0DB92-DA00-4B0A-80A0-1364CB55BF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423091"/>
              </p:ext>
            </p:extLst>
          </p:nvPr>
        </p:nvGraphicFramePr>
        <p:xfrm>
          <a:off x="381156" y="4100052"/>
          <a:ext cx="3480318" cy="1920240"/>
        </p:xfrm>
        <a:graphic>
          <a:graphicData uri="http://schemas.openxmlformats.org/drawingml/2006/table">
            <a:tbl>
              <a:tblPr/>
              <a:tblGrid>
                <a:gridCol w="1735658">
                  <a:extLst>
                    <a:ext uri="{9D8B030D-6E8A-4147-A177-3AD203B41FA5}">
                      <a16:colId xmlns:a16="http://schemas.microsoft.com/office/drawing/2014/main" val="3404869905"/>
                    </a:ext>
                  </a:extLst>
                </a:gridCol>
                <a:gridCol w="1744660">
                  <a:extLst>
                    <a:ext uri="{9D8B030D-6E8A-4147-A177-3AD203B41FA5}">
                      <a16:colId xmlns:a16="http://schemas.microsoft.com/office/drawing/2014/main" val="2037086582"/>
                    </a:ext>
                  </a:extLst>
                </a:gridCol>
              </a:tblGrid>
              <a:tr h="253963">
                <a:tc>
                  <a:txBody>
                    <a:bodyPr/>
                    <a:lstStyle/>
                    <a:p>
                      <a:r>
                        <a:rPr lang="en-US" sz="1200" b="1" dirty="0">
                          <a:highlight>
                            <a:srgbClr val="00FF00"/>
                          </a:highlight>
                          <a:latin typeface="Aptos" panose="020B0004020202020204" pitchFamily="34" charset="0"/>
                        </a:rPr>
                        <a:t>Human Brain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highlight>
                            <a:srgbClr val="00FFFF"/>
                          </a:highlight>
                          <a:latin typeface="Aptos" panose="020B0004020202020204" pitchFamily="34" charset="0"/>
                        </a:rPr>
                        <a:t>LLM Equivalent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026335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Sensory cortex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Embeddings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578982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Artificial 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78114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Synapses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Weights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125041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Memory patterns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Parameter distributions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228923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Transformer 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10361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Speech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Decoder/output 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1975063"/>
                  </a:ext>
                </a:extLst>
              </a:tr>
            </a:tbl>
          </a:graphicData>
        </a:graphic>
      </p:graphicFrame>
      <p:sp>
        <p:nvSpPr>
          <p:cNvPr id="19" name="Center">
            <a:extLst>
              <a:ext uri="{FF2B5EF4-FFF2-40B4-BE49-F238E27FC236}">
                <a16:creationId xmlns:a16="http://schemas.microsoft.com/office/drawing/2014/main" id="{7E98D184-A805-C669-7A37-3955F82216AA}"/>
              </a:ext>
            </a:extLst>
          </p:cNvPr>
          <p:cNvSpPr/>
          <p:nvPr/>
        </p:nvSpPr>
        <p:spPr>
          <a:xfrm>
            <a:off x="4409439" y="3174777"/>
            <a:ext cx="6720321" cy="2814503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/>
            <a:r>
              <a:rPr lang="en-US" sz="1200" b="1" dirty="0">
                <a:latin typeface="Aptos" panose="020B0004020202020204" pitchFamily="34" charset="0"/>
              </a:rPr>
              <a:t>The Weights Are Learned Knowledge</a:t>
            </a:r>
          </a:p>
          <a:p>
            <a:pPr algn="ctr"/>
            <a:endParaRPr lang="en-US" sz="1200" b="1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 neural network contains billions of numerical parameters called weights.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Examples: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GPT-4:  Hundreds of billions of parameters (estimated)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Llama 3: Tens to hundreds of billions of parameters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Mistral 7B: Approximately 7 billion parameters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MAGPAI: 32 parameters. </a:t>
            </a:r>
            <a:r>
              <a:rPr lang="en-US" sz="1200" dirty="0">
                <a:latin typeface="Aptos" panose="020B0004020202020204" pitchFamily="34" charset="0"/>
                <a:sym typeface="Wingdings" panose="05000000000000000000" pitchFamily="2" charset="2"/>
              </a:rPr>
              <a:t>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These weights store the model's learned long-term knowledge.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They capture statistical patterns learned during training.</a:t>
            </a:r>
          </a:p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8398219" y="2404872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</a:t>
            </a:r>
            <a:r>
              <a:rPr lang="en-US" sz="1700" b="1" dirty="0">
                <a:solidFill>
                  <a:srgbClr val="FFFFFF"/>
                </a:solidFill>
                <a:latin typeface="Aptos"/>
              </a:rPr>
              <a:t>eural 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N</a:t>
            </a:r>
            <a:r>
              <a:rPr lang="en-US" sz="1700" b="1" dirty="0">
                <a:solidFill>
                  <a:srgbClr val="FFFFFF"/>
                </a:solidFill>
                <a:latin typeface="Aptos"/>
              </a:rPr>
              <a:t>etwork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7575259" y="3410712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6937136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5CE668-48F2-9EC1-3F0B-A8E665B46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022" y="302003"/>
            <a:ext cx="9063955" cy="6042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0290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200" name="Closing dark readable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A0F">
              <a:alpha val="65000"/>
            </a:srgbClr>
          </a:solidFill>
          <a:ln>
            <a:noFill/>
          </a:ln>
        </p:spPr>
      </p:sp>
      <p:sp>
        <p:nvSpPr>
          <p:cNvPr id="201" name="Closing left ink panel"/>
          <p:cNvSpPr/>
          <p:nvPr/>
        </p:nvSpPr>
        <p:spPr>
          <a:xfrm>
            <a:off x="0" y="0"/>
            <a:ext cx="7600000" cy="6858000"/>
          </a:xfrm>
          <a:prstGeom prst="rect">
            <a:avLst/>
          </a:prstGeom>
          <a:solidFill>
            <a:srgbClr val="07111B">
              <a:alpha val="18000"/>
            </a:srgbClr>
          </a:solidFill>
          <a:ln>
            <a:noFill/>
          </a:ln>
        </p:spPr>
      </p:sp>
      <p:sp>
        <p:nvSpPr>
          <p:cNvPr id="202" name="Closing accent rule"/>
          <p:cNvSpPr/>
          <p:nvPr/>
        </p:nvSpPr>
        <p:spPr>
          <a:xfrm>
            <a:off x="760000" y="1070000"/>
            <a:ext cx="3000000" cy="0"/>
          </a:xfrm>
          <a:prstGeom prst="rect">
            <a:avLst/>
          </a:prstGeom>
          <a:noFill/>
          <a:ln w="38100">
            <a:solidFill>
              <a:srgbClr val="42D17A"/>
            </a:solidFill>
          </a:ln>
        </p:spPr>
      </p:sp>
      <p:sp>
        <p:nvSpPr>
          <p:cNvPr id="203" name="Closing kicker"/>
          <p:cNvSpPr/>
          <p:nvPr/>
        </p:nvSpPr>
        <p:spPr>
          <a:xfrm>
            <a:off x="760000" y="520000"/>
            <a:ext cx="480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600" b="1" dirty="0">
                <a:solidFill>
                  <a:srgbClr val="9AE6B4"/>
                </a:solidFill>
              </a:rPr>
              <a:t>MAGPAI</a:t>
            </a:r>
            <a:endParaRPr lang="en-US" sz="1600" dirty="0"/>
          </a:p>
        </p:txBody>
      </p:sp>
      <p:sp>
        <p:nvSpPr>
          <p:cNvPr id="204" name="Closing title"/>
          <p:cNvSpPr/>
          <p:nvPr/>
        </p:nvSpPr>
        <p:spPr>
          <a:xfrm>
            <a:off x="730000" y="1180000"/>
            <a:ext cx="7200000" cy="15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</a:rPr>
              <a:t>You now know what is under the hood.</a:t>
            </a:r>
            <a:endParaRPr lang="en-US" sz="3200" dirty="0"/>
          </a:p>
        </p:txBody>
      </p:sp>
      <p:sp>
        <p:nvSpPr>
          <p:cNvPr id="205" name="Closing subtitle"/>
          <p:cNvSpPr/>
          <p:nvPr/>
        </p:nvSpPr>
        <p:spPr>
          <a:xfrm>
            <a:off x="780000" y="2700000"/>
            <a:ext cx="635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800" b="0">
                <a:solidFill>
                  <a:srgbClr val="DCEAF7"/>
                </a:solidFill>
              </a:rPr>
              <a:t>Words become tokens. Tokens become vectors. Vectors activate neural networks. Systems turn answers into action.</a:t>
            </a:r>
            <a:endParaRPr lang="en-US" sz="1800"/>
          </a:p>
        </p:txBody>
      </p:sp>
      <p:sp>
        <p:nvSpPr>
          <p:cNvPr id="206" name="Closing key takeaways"/>
          <p:cNvSpPr/>
          <p:nvPr/>
        </p:nvSpPr>
        <p:spPr>
          <a:xfrm>
            <a:off x="820000" y="3650000"/>
            <a:ext cx="7110000" cy="1900000"/>
          </a:xfrm>
          <a:prstGeom prst="rect">
            <a:avLst/>
          </a:prstGeom>
          <a:solidFill>
            <a:srgbClr val="0B1B2A">
              <a:alpha val="18000"/>
            </a:srgbClr>
          </a:solidFill>
          <a:ln>
            <a:noFill/>
          </a:ln>
        </p:spPr>
        <p:txBody>
          <a:bodyPr wrap="square" anchor="t"/>
          <a:lstStyle/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AI is not magic; it is a pipeline you can inspect.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Tokenization is where language first becomes structure.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Embeddings are learned coordinates of meaning.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Neural networks learn by changing weights and bias.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Enterprise value comes when the model is connected to data, tools, and governance.</a:t>
            </a:r>
            <a:endParaRPr lang="en-US" sz="1500" dirty="0"/>
          </a:p>
        </p:txBody>
      </p:sp>
      <p:sp>
        <p:nvSpPr>
          <p:cNvPr id="207" name="Closing memorable line"/>
          <p:cNvSpPr/>
          <p:nvPr/>
        </p:nvSpPr>
        <p:spPr>
          <a:xfrm>
            <a:off x="835000" y="5750000"/>
            <a:ext cx="8292222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800" b="1" dirty="0">
                <a:solidFill>
                  <a:srgbClr val="9AE6B4"/>
                </a:solidFill>
              </a:rPr>
              <a:t>The advantage goes to teams who can see the machinery, not just use the interface.</a:t>
            </a:r>
            <a:endParaRPr lang="en-US" sz="1800" dirty="0"/>
          </a:p>
        </p:txBody>
      </p:sp>
      <p:sp>
        <p:nvSpPr>
          <p:cNvPr id="208" name="Closing footer"/>
          <p:cNvSpPr/>
          <p:nvPr/>
        </p:nvSpPr>
        <p:spPr>
          <a:xfrm>
            <a:off x="820000" y="6450000"/>
            <a:ext cx="35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000" b="0">
                <a:solidFill>
                  <a:srgbClr val="A9B8C8"/>
                </a:solidFill>
              </a:rPr>
              <a:t>AI Under the hood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093375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1906</Words>
  <Application>Microsoft Office PowerPoint</Application>
  <PresentationFormat>Widescreen</PresentationFormat>
  <Paragraphs>306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Consolas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21</cp:revision>
  <dcterms:created xsi:type="dcterms:W3CDTF">2013-01-27T09:14:16Z</dcterms:created>
  <dcterms:modified xsi:type="dcterms:W3CDTF">2026-06-05T14:03:25Z</dcterms:modified>
  <cp:category/>
</cp:coreProperties>
</file>