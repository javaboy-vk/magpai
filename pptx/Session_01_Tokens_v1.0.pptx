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7" r:id="rId7"/>
    <p:sldId id="260" r:id="rId8"/>
    <p:sldId id="268" r:id="rId9"/>
    <p:sldId id="261" r:id="rId10"/>
    <p:sldId id="269" r:id="rId11"/>
    <p:sldId id="262" r:id="rId12"/>
    <p:sldId id="263" r:id="rId13"/>
    <p:sldId id="270" r:id="rId14"/>
    <p:sldId id="271" r:id="rId15"/>
    <p:sldId id="272" r:id="rId16"/>
    <p:sldId id="264" r:id="rId17"/>
    <p:sldId id="26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37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40216-417D-AA01-6848-0003ED354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MAGPAI </a:t>
            </a:r>
            <a:br>
              <a:rPr lang="en-US" dirty="0"/>
            </a:br>
            <a:r>
              <a:rPr lang="en-US" dirty="0"/>
              <a:t> </a:t>
            </a:r>
            <a:r>
              <a:rPr lang="en-US" sz="1100" b="0" dirty="0"/>
              <a:t>( mag practical AI , pronounced </a:t>
            </a:r>
            <a:r>
              <a:rPr lang="en-US" sz="1050" b="0" dirty="0"/>
              <a:t>(/ˈ</a:t>
            </a:r>
            <a:r>
              <a:rPr lang="en-US" sz="1050" b="0" dirty="0" err="1"/>
              <a:t>mæɡ.paɪ</a:t>
            </a:r>
            <a:r>
              <a:rPr lang="en-US" sz="1050" b="0" dirty="0"/>
              <a:t>/) </a:t>
            </a:r>
            <a:r>
              <a:rPr lang="en-US" sz="1100" b="0" dirty="0"/>
              <a:t>)</a:t>
            </a:r>
            <a:endParaRPr lang="en-US" b="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C56227F-0E35-3518-A770-5486C9C41AE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333" r="3333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F9436-B15D-60B6-5226-1A31DDDD2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92288" y="5564188"/>
            <a:ext cx="5486400" cy="8048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AI Under the Covers Demo Series – v1.0</a:t>
            </a:r>
          </a:p>
          <a:p>
            <a:r>
              <a:rPr lang="en-US" dirty="0"/>
              <a:t>AI is not magic</a:t>
            </a:r>
          </a:p>
          <a:p>
            <a:r>
              <a:rPr lang="en-US" dirty="0"/>
              <a:t>Text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Tokens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Vectors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Model Input</a:t>
            </a:r>
          </a:p>
        </p:txBody>
      </p:sp>
    </p:spTree>
    <p:extLst>
      <p:ext uri="{BB962C8B-B14F-4D97-AF65-F5344CB8AC3E}">
        <p14:creationId xmlns:p14="http://schemas.microsoft.com/office/powerpoint/2010/main" val="2628818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F5B"/>
                </a:solidFill>
              </a:defRPr>
            </a:pPr>
            <a:r>
              <a:t>MAGPAI Session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2616B"/>
                </a:solidFill>
              </a:defRPr>
            </a:pPr>
            <a:r>
              <a:t>From Sentence to Tokens to Vectors -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B2F5B"/>
                </a:solidFill>
              </a:defRPr>
            </a:pPr>
            <a:r>
              <a:t>How Text Becomes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3657600"/>
            <a:ext cx="688975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rtlCol="0" anchor="ctr"/>
          <a:lstStyle/>
          <a:p>
            <a:pPr algn="ctr">
              <a:defRPr sz="1800" b="1">
                <a:solidFill>
                  <a:srgbClr val="0B2F5B"/>
                </a:solidFill>
              </a:defRPr>
            </a:pPr>
            <a:r>
              <a:t>Core idea</a:t>
            </a:r>
          </a:p>
          <a:p>
            <a:pPr>
              <a:spcAft>
                <a:spcPts val="200"/>
              </a:spcAft>
              <a:defRPr sz="1800">
                <a:solidFill>
                  <a:srgbClr val="172B4D"/>
                </a:solidFill>
              </a:defRPr>
            </a:pPr>
            <a:r>
              <a:t>AI models do not read words directly. They process numeric 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16B"/>
                </a:solidFill>
              </a:defRPr>
            </a:pPr>
            <a:r>
              <a:t>MAGPAI Session 1 - Tokens - v1.0 | javaboy-vk | 2026-05-22 | Slide 1</a:t>
            </a:r>
          </a:p>
        </p:txBody>
      </p:sp>
    </p:spTree>
  </p:cSld>
  <p:clrMapOvr>
    <a:masterClrMapping/>
  </p:clrMapOvr>
</p:sld>
</file>

<file path=ppt/slides/slide3.xml><?xml version="1.0" encoding="utf-8"?>
<ns0:sld xmlns:a="http://schemas.openxmlformats.org/drawingml/2006/main" xmlns:ns0="http://schemas.openxmlformats.org/presentationml/2006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Box 1"/>
          <ns0:cNvSpPr txBox="1"/>
          <ns0:nvPr/>
        </ns0:nvSpPr>
        <ns0:spPr>
          <a:xfrm>
            <a:off x="502920" y="320040"/>
            <a:ext cx="11247120" cy="548640"/>
          </a:xfrm>
          <a:prstGeom prst="rect">
            <a:avLst/>
          </a:prstGeom>
          <a:noFill/>
        </ns0:spPr>
        <ns0:txBody>
          <a:bodyPr wrap="none">
            <a:spAutoFit/>
          </a:bodyPr>
          <a:lstStyle/>
          <a:p>
            <a:pPr>
              <a:defRPr sz="3000" b="1">
                <a:solidFill>
                  <a:srgbClr val="0B2F5B"/>
                </a:solidFill>
              </a:defRPr>
            </a:pPr>
            <a:r>
              <a:t>The Big Idea</a:t>
            </a:r>
          </a:p>
        </ns0:txBody>
      </ns0:sp>
      <ns0:sp>
        <ns0:nvSpPr>
          <ns0:cNvPr id="3" name="TextBox 2"/>
          <ns0:cNvSpPr txBox="1"/>
          <ns0:nvPr/>
        </ns0:nvSpPr>
        <ns0:spPr>
          <a:xfrm>
            <a:off x="530352" y="868680"/>
            <a:ext cx="10972800" cy="365760"/>
          </a:xfrm>
          <a:prstGeom prst="rect">
            <a:avLst/>
          </a:prstGeom>
          <a:noFill/>
        </ns0:spPr>
        <ns0:txBody>
          <a:bodyPr wrap="none">
            <a:spAutoFit/>
          </a:bodyPr>
          <a:lstStyle/>
          <a:p>
            <a:pPr>
              <a:defRPr sz="1600">
                <a:solidFill>
                  <a:srgbClr val="52616B"/>
                </a:solidFill>
              </a:defRPr>
            </a:pPr>
            <a:r>
              <a:t>People read words. Neural-network models process numbers.</a:t>
            </a:r>
          </a:p>
        </ns0:txBody>
      </ns0:sp>
      <ns0:sp>
        <ns0:nvSpPr>
          <ns0:cNvPr id="4" name="Rounded Rectangle 3"/>
          <ns0:cNvSpPr/>
          <ns0:nvPr/>
        </ns0:nvSpPr>
        <ns0:spPr>
          <a:xfrm>
            <a:off x="914400" y="1828800"/>
            <a:ext cx="10424160" cy="914400"/>
          </a:xfrm>
          <a:prstGeom prst="roundRect">
            <a:avLst/>
          </a:prstGeom>
          <a:solidFill>
            <a:srgbClr val="F5F8FC"/>
          </a:solidFill>
          <a:ln>
            <a:solidFill>
              <a:srgbClr val="BED2E6"/>
            </a:solidFill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lIns="182880" tIns="109728" rIns="182880" rtlCol="0" anchor="ctr"/>
          <a:lstStyle/>
          <a:p>
            <a:pPr algn="ctr">
              <a:defRPr sz="2600">
                <a:solidFill>
                  <a:srgbClr val="172B4D"/>
                </a:solidFill>
                <a:latin typeface="Consolas"/>
              </a:defRPr>
            </a:pPr>
            <a:r>
              <a:t>Text -&gt; Tokens -&gt; Token IDs -&gt; Vectors -&gt; Neural Network</a:t>
            </a:r>
          </a:p>
        </ns0:txBody>
      </ns0:sp>
      <ns0:sp>
        <ns0:nvSpPr>
          <ns0:cNvPr id="5" name="Rounded Rectangle 4"/>
          <ns0:cNvSpPr/>
          <ns0:nvPr/>
        </ns0:nvSpPr>
        <ns0:spPr>
          <a:xfrm>
            <a:off x="914400" y="3383280"/>
            <a:ext cx="4937760" cy="1280160"/>
          </a:xfrm>
          <a:prstGeom prst="roundRect">
            <a:avLst/>
          </a:prstGeom>
          <a:solidFill>
            <a:srgbClr val="EAF3FF"/>
          </a:solidFill>
          <a:ln w="19050">
            <a:solidFill>
              <a:srgbClr val="0B5CAD"/>
            </a:solidFill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lIns="137160" tIns="91440" rIns="137160" rtlCol="0" anchor="ctr"/>
          <a:lstStyle/>
          <a:p>
            <a:pPr algn="ctr">
              <a:defRPr sz="1900" b="1">
                <a:solidFill>
                  <a:srgbClr val="0B2F5B"/>
                </a:solidFill>
              </a:defRPr>
            </a:pPr>
            <a:r>
              <a:t>Human view</a:t>
            </a:r>
          </a:p>
          <a:p>
            <a:pPr>
              <a:spcAft>
                <a:spcPts val="200"/>
              </a:spcAft>
              <a:defRPr sz="1800">
                <a:solidFill>
                  <a:srgbClr val="172B4D"/>
                </a:solidFill>
              </a:defRPr>
            </a:pPr>
            <a:r>
              <a:t>We see words, grammar, context, and meaning.</a:t>
            </a:r>
          </a:p>
        </ns0:txBody>
      </ns0:sp>
      <ns0:sp>
        <ns0:nvSpPr>
          <ns0:cNvPr id="6" name="Rounded Rectangle 5"/>
          <ns0:cNvSpPr/>
          <ns0:nvPr/>
        </ns0:nvSpPr>
        <ns0:spPr>
          <a:xfrm>
            <a:off x="6400800" y="3383280"/>
            <a:ext cx="4937760" cy="1280160"/>
          </a:xfrm>
          <a:prstGeom prst="roundRect">
            <a:avLst/>
          </a:prstGeom>
          <a:solidFill>
            <a:srgbClr val="EAF3FF"/>
          </a:solidFill>
          <a:ln w="19050">
            <a:solidFill>
              <a:srgbClr val="0B5CAD"/>
            </a:solidFill>
          </a:ln>
        </ns0:spPr>
        <ns0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ns0:style>
        <ns0:txBody>
          <a:bodyPr lIns="137160" tIns="91440" rIns="137160" rtlCol="0" anchor="ctr"/>
          <a:lstStyle/>
          <a:p>
            <a:pPr algn="ctr">
              <a:defRPr sz="1900" b="1">
                <a:solidFill>
                  <a:srgbClr val="0B2F5B"/>
                </a:solidFill>
              </a:defRPr>
            </a:pPr>
            <a:r>
              <a:t>Model view</a:t>
            </a:r>
          </a:p>
          <a:p>
            <a:pPr>
              <a:spcAft>
                <a:spcPts val="200"/>
              </a:spcAft>
              <a:defRPr sz="1800">
                <a:solidFill>
                  <a:srgbClr val="172B4D"/>
                </a:solidFill>
              </a:defRPr>
            </a:pPr>
            <a:r>
              <a:t>Here, model means a machine-learning model: a learned function that takes numbers as input and computes an output.</a:t>
            </a:r>
          </a:p>
        </ns0:txBody>
      </ns0:sp>
      <ns0:sp>
        <ns0:nvSpPr>
          <ns0:cNvPr id="7" name="TextBox 6"/>
          <ns0:cNvSpPr txBox="1"/>
          <ns0:nvPr/>
        </ns0:nvSpPr>
        <ns0:spPr>
          <a:xfrm>
            <a:off x="320040" y="6473952"/>
            <a:ext cx="11521440" cy="228600"/>
          </a:xfrm>
          <a:prstGeom prst="rect">
            <a:avLst/>
          </a:prstGeom>
          <a:noFill/>
        </ns0:spPr>
        <ns0:txBody>
          <a:bodyPr wrap="none">
            <a:spAutoFit/>
          </a:bodyPr>
          <a:lstStyle/>
          <a:p>
            <a:pPr>
              <a:defRPr sz="900">
                <a:solidFill>
                  <a:srgbClr val="52616B"/>
                </a:solidFill>
              </a:defRPr>
            </a:pPr>
            <a:r>
              <a:t>MAGPAI Session 1 - Tokens - v1.0 | javaboy-vk | 2026-05-22 | Slide 2</a:t>
            </a:r>
          </a:p>
        </ns0:txBody>
      </ns0:sp>
    </ns0:spTree>
  </ns0:cSld>
  <ns0:clrMapOvr>
    <a:masterClrMapping/>
  </ns0:clrMapOvr>
</ns0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F5B"/>
                </a:solidFill>
              </a:defRPr>
            </a:pPr>
            <a:r>
              <a:t>Starting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2616B"/>
                </a:solidFill>
              </a:defRPr>
            </a:pPr>
            <a:r>
              <a:t>A simple business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737360"/>
            <a:ext cx="10149840" cy="914400"/>
          </a:xfrm>
          <a:prstGeom prst="roundRect">
            <a:avLst/>
          </a:prstGeom>
          <a:solidFill>
            <a:srgbClr val="F5F8FC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82880" rtlCol="0" anchor="ctr"/>
          <a:lstStyle/>
          <a:p>
            <a:pPr algn="ctr">
              <a:defRPr sz="3000">
                <a:solidFill>
                  <a:srgbClr val="172B4D"/>
                </a:solidFill>
                <a:latin typeface="Consolas"/>
              </a:defRPr>
            </a:pPr>
            <a:r>
              <a:rPr dirty="0"/>
              <a:t>"</a:t>
            </a:r>
            <a:r>
              <a:rPr lang="en-US" dirty="0"/>
              <a:t>are MAG s</a:t>
            </a:r>
            <a:r>
              <a:rPr dirty="0"/>
              <a:t>ales up in chicago?"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3108960"/>
            <a:ext cx="101498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rtlCol="0" anchor="ctr"/>
          <a:lstStyle/>
          <a:p>
            <a:pPr algn="ctr">
              <a:defRPr sz="1900" b="1">
                <a:solidFill>
                  <a:srgbClr val="0B2F5B"/>
                </a:solidFill>
              </a:defRPr>
            </a:pPr>
            <a:r>
              <a:rPr lang="en-US" dirty="0"/>
              <a:t>Key takeaway</a:t>
            </a:r>
            <a:endParaRPr dirty="0"/>
          </a:p>
          <a:p>
            <a:pPr>
              <a:spcAft>
                <a:spcPts val="200"/>
              </a:spcAft>
              <a:defRPr sz="1800">
                <a:solidFill>
                  <a:srgbClr val="172B4D"/>
                </a:solidFill>
              </a:defRPr>
            </a:pPr>
            <a:r>
              <a:rPr dirty="0"/>
              <a:t>This looks simple to us, but the model cannot process this raw English sentence directly. It first has to be converted into a numeric representation.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16B"/>
                </a:solidFill>
              </a:defRPr>
            </a:pPr>
            <a:r>
              <a:t>MAGPAI Session 1 - Tokens - v1.0 | javaboy-vk | 2026-05-22 | 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F5B"/>
                </a:solidFill>
              </a:defRPr>
            </a:pPr>
            <a:r>
              <a:t>Tokenizer Step 1 -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2616B"/>
                </a:solidFill>
              </a:defRPr>
            </a:pPr>
            <a:r>
              <a:t>Break the sentence into known pieces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424160" cy="1097280"/>
          </a:xfrm>
          <a:prstGeom prst="roundRect">
            <a:avLst/>
          </a:prstGeom>
          <a:solidFill>
            <a:srgbClr val="F5F8FC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82880" rtlCol="0" anchor="ctr"/>
          <a:lstStyle/>
          <a:p>
            <a:pPr algn="ctr">
              <a:defRPr sz="2600">
                <a:solidFill>
                  <a:srgbClr val="172B4D"/>
                </a:solidFill>
                <a:latin typeface="Consolas"/>
              </a:defRPr>
            </a:pPr>
            <a:r>
              <a:rPr dirty="0"/>
              <a:t>[</a:t>
            </a:r>
            <a:r>
              <a:rPr lang="en-US" dirty="0"/>
              <a:t>"are", "MAG", </a:t>
            </a:r>
            <a:r>
              <a:rPr dirty="0"/>
              <a:t>"sales", "up", "in", "</a:t>
            </a:r>
            <a:r>
              <a:rPr dirty="0" err="1"/>
              <a:t>chicago</a:t>
            </a:r>
            <a:r>
              <a:rPr dirty="0"/>
              <a:t>", "?"]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71800"/>
            <a:ext cx="4846320" cy="1554480"/>
          </a:xfrm>
          <a:prstGeom prst="roundRect">
            <a:avLst/>
          </a:prstGeom>
          <a:solidFill>
            <a:srgbClr val="EAF3FF"/>
          </a:solidFill>
          <a:ln w="1905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rtlCol="0" anchor="ctr"/>
          <a:lstStyle/>
          <a:p>
            <a:pPr algn="ctr">
              <a:defRPr sz="1800" b="1">
                <a:solidFill>
                  <a:srgbClr val="0B2F5B"/>
                </a:solidFill>
              </a:defRPr>
            </a:pPr>
            <a:r>
              <a:t>Demo simplification</a:t>
            </a:r>
          </a:p>
          <a:p>
            <a:pPr>
              <a:spcAft>
                <a:spcPts val="200"/>
              </a:spcAft>
              <a:defRPr sz="1700">
                <a:solidFill>
                  <a:srgbClr val="172B4D"/>
                </a:solidFill>
              </a:defRPr>
            </a:pPr>
            <a:r>
              <a:t>For Session 1, we use word-level tokens because it makes the concept visible.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971800"/>
            <a:ext cx="4846320" cy="1554480"/>
          </a:xfrm>
          <a:prstGeom prst="roundRect">
            <a:avLst/>
          </a:prstGeom>
          <a:solidFill>
            <a:srgbClr val="EAF3FF"/>
          </a:solidFill>
          <a:ln w="1905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rtlCol="0" anchor="ctr"/>
          <a:lstStyle/>
          <a:p>
            <a:pPr algn="ctr">
              <a:defRPr sz="1800" b="1">
                <a:solidFill>
                  <a:srgbClr val="0B2F5B"/>
                </a:solidFill>
              </a:defRPr>
            </a:pPr>
            <a:r>
              <a:t>Real LLM tokenizers</a:t>
            </a:r>
          </a:p>
          <a:p>
            <a:pPr>
              <a:spcAft>
                <a:spcPts val="200"/>
              </a:spcAft>
              <a:defRPr sz="1700">
                <a:solidFill>
                  <a:srgbClr val="172B4D"/>
                </a:solidFill>
              </a:defRPr>
            </a:pPr>
            <a:r>
              <a:t>Real tokenizers may use word pieces, subwords, punctuation, spaces, and special tokens.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16B"/>
                </a:solidFill>
              </a:defRPr>
            </a:pPr>
            <a:r>
              <a:t>MAGPAI Session 1 - Tokens - v1.0 | javaboy-vk | 2026-05-22 | Slide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40080" y="365760"/>
            <a:ext cx="10911840" cy="548640"/>
          </a:xfrm>
          <a:prstGeom prst="rect">
            <a:avLst/>
          </a:prstGeom>
          <a:noFill/>
          <a:ln/>
        </p:spPr>
        <p:txBody>
          <a:bodyPr lIns="0" tIns="0" rIns="0" bIns="0" rtlCol="0" anchor="t"/>
          <a:lstStyle/>
          <a:p>
            <a:pPr algn="l">
              <a:defRPr sz="3000"/>
            </a:pPr>
            <a:r>
              <a:rPr sz="3000" b="1" dirty="0">
                <a:solidFill>
                  <a:srgbClr val="0B2F5B"/>
                </a:solidFill>
                <a:latin typeface="Aptos"/>
              </a:rPr>
              <a:t>What Are Tokens and Tokenizers?</a:t>
            </a:r>
          </a:p>
        </p:txBody>
      </p:sp>
      <p:sp>
        <p:nvSpPr>
          <p:cNvPr id="3" name="Subtitle"/>
          <p:cNvSpPr/>
          <p:nvPr/>
        </p:nvSpPr>
        <p:spPr>
          <a:xfrm>
            <a:off x="640080" y="868680"/>
            <a:ext cx="10911840" cy="365760"/>
          </a:xfrm>
          <a:prstGeom prst="rect">
            <a:avLst/>
          </a:prstGeom>
          <a:noFill/>
          <a:ln/>
        </p:spPr>
        <p:txBody>
          <a:bodyPr lIns="0" tIns="0" rIns="0" bIns="0" rtlCol="0" anchor="t"/>
          <a:lstStyle/>
          <a:p>
            <a:pPr algn="l">
              <a:defRPr sz="1600"/>
            </a:pPr>
            <a:r>
              <a:rPr sz="1600" dirty="0">
                <a:solidFill>
                  <a:srgbClr val="5E6C84"/>
                </a:solidFill>
                <a:latin typeface="Aptos"/>
              </a:rPr>
              <a:t>The tokenizer is the first translation step</a:t>
            </a:r>
          </a:p>
        </p:txBody>
      </p:sp>
      <p:sp>
        <p:nvSpPr>
          <p:cNvPr id="4" name="Token Card"/>
          <p:cNvSpPr/>
          <p:nvPr/>
        </p:nvSpPr>
        <p:spPr>
          <a:xfrm>
            <a:off x="822960" y="1371600"/>
            <a:ext cx="329184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BED2E6"/>
            </a:solidFill>
          </a:ln>
        </p:spPr>
        <p:txBody>
          <a:bodyPr lIns="137160" tIns="137160" rIns="137160" bIns="137160" rtlCol="0" anchor="t"/>
          <a:lstStyle/>
          <a:p>
            <a:pPr algn="l">
              <a:defRPr sz="1750"/>
            </a:pPr>
            <a:r>
              <a:rPr sz="1750" b="1" dirty="0">
                <a:solidFill>
                  <a:srgbClr val="0B2F5B"/>
                </a:solidFill>
                <a:latin typeface="Aptos"/>
              </a:rPr>
              <a:t>Token</a:t>
            </a:r>
          </a:p>
          <a:p>
            <a:pPr algn="l">
              <a:defRPr sz="1550"/>
            </a:pPr>
            <a:r>
              <a:rPr sz="1550" dirty="0">
                <a:solidFill>
                  <a:srgbClr val="172B4D"/>
                </a:solidFill>
                <a:latin typeface="Aptos"/>
              </a:rPr>
              <a:t>A token is a known text piece the model can look up: a word, word piece, punctuation mark, or special marker.</a:t>
            </a:r>
          </a:p>
        </p:txBody>
      </p:sp>
      <p:sp>
        <p:nvSpPr>
          <p:cNvPr id="5" name="Tokenizer Card"/>
          <p:cNvSpPr/>
          <p:nvPr/>
        </p:nvSpPr>
        <p:spPr>
          <a:xfrm>
            <a:off x="4389120" y="1371600"/>
            <a:ext cx="329184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BED2E6"/>
            </a:solidFill>
          </a:ln>
        </p:spPr>
        <p:txBody>
          <a:bodyPr lIns="137160" tIns="137160" rIns="137160" bIns="137160" rtlCol="0" anchor="t"/>
          <a:lstStyle/>
          <a:p>
            <a:pPr algn="l">
              <a:defRPr sz="1750"/>
            </a:pPr>
            <a:r>
              <a:rPr sz="1750" b="1" dirty="0">
                <a:solidFill>
                  <a:srgbClr val="0B2F5B"/>
                </a:solidFill>
                <a:latin typeface="Aptos"/>
              </a:rPr>
              <a:t>Tokenizer</a:t>
            </a:r>
          </a:p>
          <a:p>
            <a:pPr algn="l">
              <a:defRPr sz="1550"/>
            </a:pPr>
            <a:r>
              <a:rPr sz="1550" dirty="0">
                <a:solidFill>
                  <a:srgbClr val="172B4D"/>
                </a:solidFill>
                <a:latin typeface="Aptos"/>
              </a:rPr>
              <a:t>A tokenizer is the rule or system that breaks raw text into tokens and prepares them for lookup.</a:t>
            </a:r>
          </a:p>
        </p:txBody>
      </p:sp>
      <p:sp>
        <p:nvSpPr>
          <p:cNvPr id="6" name="Demo Rule Card"/>
          <p:cNvSpPr/>
          <p:nvPr/>
        </p:nvSpPr>
        <p:spPr>
          <a:xfrm>
            <a:off x="7955280" y="1371600"/>
            <a:ext cx="329184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BED2E6"/>
            </a:solidFill>
          </a:ln>
        </p:spPr>
        <p:txBody>
          <a:bodyPr lIns="137160" tIns="137160" rIns="137160" bIns="137160" rtlCol="0" anchor="t"/>
          <a:lstStyle/>
          <a:p>
            <a:pPr algn="l">
              <a:defRPr sz="1750"/>
            </a:pPr>
            <a:r>
              <a:rPr sz="1750" b="1" dirty="0">
                <a:solidFill>
                  <a:srgbClr val="0B2F5B"/>
                </a:solidFill>
                <a:latin typeface="Aptos"/>
              </a:rPr>
              <a:t>Demo rule</a:t>
            </a:r>
          </a:p>
          <a:p>
            <a:pPr algn="l">
              <a:defRPr sz="1500"/>
            </a:pPr>
            <a:r>
              <a:rPr sz="1500" dirty="0">
                <a:solidFill>
                  <a:srgbClr val="172B4D"/>
                </a:solidFill>
                <a:latin typeface="Consolas"/>
              </a:rPr>
              <a:t>Input:  are MAG sales up in chicago?</a:t>
            </a:r>
          </a:p>
          <a:p>
            <a:pPr algn="l">
              <a:defRPr sz="1500"/>
            </a:pPr>
            <a:r>
              <a:rPr sz="1500" dirty="0">
                <a:solidFill>
                  <a:srgbClr val="172B4D"/>
                </a:solidFill>
                <a:latin typeface="Consolas"/>
              </a:rPr>
              <a:t>Tokens: ["are", "MAG", "sales", "up", "in", "chicago", "?"]</a:t>
            </a:r>
          </a:p>
        </p:txBody>
      </p:sp>
      <p:sp>
        <p:nvSpPr>
          <p:cNvPr id="7" name="Key takeaway"/>
          <p:cNvSpPr/>
          <p:nvPr/>
        </p:nvSpPr>
        <p:spPr>
          <a:xfrm>
            <a:off x="1097280" y="4206240"/>
            <a:ext cx="9966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B5CAD"/>
            </a:solidFill>
          </a:ln>
        </p:spPr>
        <p:txBody>
          <a:bodyPr lIns="91440" tIns="91440" rIns="91440" bIns="91440" rtlCol="0" anchor="ctr"/>
          <a:lstStyle/>
          <a:p>
            <a:pPr algn="ctr">
              <a:defRPr sz="1850"/>
            </a:pPr>
            <a:r>
              <a:rPr sz="1850" b="1" dirty="0">
                <a:solidFill>
                  <a:srgbClr val="0B2F5B"/>
                </a:solidFill>
                <a:latin typeface="Aptos"/>
              </a:rPr>
              <a:t>Key takeaway</a:t>
            </a:r>
          </a:p>
          <a:p>
            <a:pPr algn="ctr">
              <a:defRPr sz="1700"/>
            </a:pPr>
            <a:r>
              <a:rPr sz="1700" dirty="0">
                <a:solidFill>
                  <a:srgbClr val="172B4D"/>
                </a:solidFill>
                <a:latin typeface="Aptos"/>
              </a:rPr>
              <a:t>Tokenization does not understand meaning yet. It creates stable pieces that can be mapped to IDs.</a:t>
            </a:r>
          </a:p>
        </p:txBody>
      </p:sp>
      <p:sp>
        <p:nvSpPr>
          <p:cNvPr id="40" name="Footer"/>
          <p:cNvSpPr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  <a:ln/>
        </p:spPr>
        <p:txBody>
          <a:bodyPr lIns="0" tIns="0" rIns="0" bIns="0" rtlCol="0" anchor="t"/>
          <a:lstStyle/>
          <a:p>
            <a:pPr algn="r">
              <a:defRPr sz="850"/>
            </a:pPr>
            <a:r>
              <a:rPr sz="850" dirty="0">
                <a:solidFill>
                  <a:srgbClr val="6B778C"/>
                </a:solidFill>
                <a:latin typeface="Aptos"/>
              </a:rPr>
              <a:t>MAGPAI Session 1 - Tokens - v1.0 | javaboy-vk | 2026-05-22 | Slide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F5B"/>
                </a:solidFill>
              </a:defRPr>
            </a:pPr>
            <a:r>
              <a:t>Tokenizer Step 2 - Token 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2616B"/>
                </a:solidFill>
              </a:defRPr>
            </a:pPr>
            <a:r>
              <a:t>Use the vocabulary lookup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5212080" cy="2468880"/>
          </a:xfrm>
          <a:prstGeom prst="roundRect">
            <a:avLst/>
          </a:prstGeom>
          <a:solidFill>
            <a:srgbClr val="F5F8FC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82880" rtlCol="0" anchor="ctr"/>
          <a:lstStyle/>
          <a:p>
            <a:pPr algn="ctr">
              <a:defRPr sz="1600">
                <a:solidFill>
                  <a:srgbClr val="172B4D"/>
                </a:solidFill>
                <a:latin typeface="Consolas"/>
              </a:defRPr>
            </a:pPr>
            <a:r>
              <a:rPr dirty="0"/>
              <a:t>Vocabulary</a:t>
            </a:r>
            <a:br>
              <a:rPr dirty="0"/>
            </a:br>
            <a:br>
              <a:rPr dirty="0"/>
            </a:br>
            <a:r>
              <a:rPr dirty="0"/>
              <a:t>"&lt;PAD&gt;"   -&gt; 0</a:t>
            </a:r>
            <a:br>
              <a:rPr dirty="0"/>
            </a:br>
            <a:r>
              <a:rPr dirty="0"/>
              <a:t>"are"     -&gt; 1</a:t>
            </a:r>
            <a:br>
              <a:rPr dirty="0"/>
            </a:br>
            <a:r>
              <a:rPr dirty="0"/>
              <a:t>"MAG"     -&gt; 2</a:t>
            </a:r>
            <a:br>
              <a:rPr dirty="0"/>
            </a:br>
            <a:r>
              <a:rPr dirty="0"/>
              <a:t>"sales"   -&gt; 3</a:t>
            </a:r>
            <a:br>
              <a:rPr dirty="0"/>
            </a:br>
            <a:r>
              <a:rPr dirty="0"/>
              <a:t>"up"      -&gt; 4</a:t>
            </a:r>
            <a:br>
              <a:rPr dirty="0"/>
            </a:br>
            <a:r>
              <a:rPr dirty="0"/>
              <a:t>"in"      -&gt; 5</a:t>
            </a:r>
            <a:br>
              <a:rPr dirty="0"/>
            </a:br>
            <a:r>
              <a:rPr dirty="0"/>
              <a:t>"chicago" -&gt; 6</a:t>
            </a:r>
            <a:br>
              <a:rPr dirty="0"/>
            </a:br>
            <a:r>
              <a:rPr dirty="0"/>
              <a:t>"?"       -&gt;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34440"/>
            <a:ext cx="4937760" cy="2468880"/>
          </a:xfrm>
          <a:prstGeom prst="roundRect">
            <a:avLst/>
          </a:prstGeom>
          <a:solidFill>
            <a:srgbClr val="F5F8FC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82880" rtlCol="0" anchor="ctr"/>
          <a:lstStyle/>
          <a:p>
            <a:pPr algn="ctr">
              <a:defRPr sz="2200">
                <a:solidFill>
                  <a:srgbClr val="172B4D"/>
                </a:solidFill>
                <a:latin typeface="Consolas"/>
              </a:defRPr>
            </a:pPr>
            <a:r>
              <a:rPr dirty="0"/>
              <a:t>[</a:t>
            </a:r>
            <a:r>
              <a:rPr lang="en-US" dirty="0"/>
              <a:t>"are", "MAG", </a:t>
            </a:r>
            <a:r>
              <a:rPr dirty="0"/>
              <a:t>"sales", "up", "in", "</a:t>
            </a:r>
            <a:r>
              <a:rPr dirty="0" err="1"/>
              <a:t>chicago</a:t>
            </a:r>
            <a:r>
              <a:rPr dirty="0"/>
              <a:t>", "?"]</a:t>
            </a:r>
            <a:br>
              <a:rPr dirty="0"/>
            </a:br>
            <a:r>
              <a:rPr dirty="0"/>
              <a:t>        ↓</a:t>
            </a:r>
            <a:br>
              <a:rPr dirty="0"/>
            </a:br>
            <a:r>
              <a:rPr dirty="0"/>
              <a:t>[1, 2, 3, 4, 5, 6, 7]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206240"/>
            <a:ext cx="99669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rtlCol="0" anchor="ctr"/>
          <a:lstStyle/>
          <a:p>
            <a:pPr algn="ctr">
              <a:defRPr sz="1900" b="1">
                <a:solidFill>
                  <a:srgbClr val="0B2F5B"/>
                </a:solidFill>
              </a:defRPr>
            </a:pPr>
            <a:r>
              <a:rPr lang="en-US" dirty="0"/>
              <a:t>Key takeaway</a:t>
            </a:r>
          </a:p>
          <a:p>
            <a:pPr>
              <a:spcAft>
                <a:spcPts val="200"/>
              </a:spcAft>
              <a:defRPr sz="1800">
                <a:solidFill>
                  <a:srgbClr val="172B4D"/>
                </a:solidFill>
              </a:defRPr>
            </a:pPr>
            <a:r>
              <a:rPr dirty="0"/>
              <a:t>The tokenizer does not define meaning. It maps known text pieces to integer IDs.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16B"/>
                </a:solidFill>
              </a:defRPr>
            </a:pPr>
            <a:r>
              <a:t>MAGPAI Session 1 - Tokens - v1.0 | javaboy-vk | 2026-05-22 | Slide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40080" y="365760"/>
            <a:ext cx="10911840" cy="548640"/>
          </a:xfrm>
          <a:prstGeom prst="rect">
            <a:avLst/>
          </a:prstGeom>
          <a:noFill/>
          <a:ln/>
        </p:spPr>
        <p:txBody>
          <a:bodyPr lIns="0" tIns="0" rIns="0" bIns="0" rtlCol="0" anchor="t"/>
          <a:lstStyle/>
          <a:p>
            <a:pPr algn="l">
              <a:defRPr sz="3000"/>
            </a:pPr>
            <a:r>
              <a:rPr sz="3000" b="1" dirty="0">
                <a:solidFill>
                  <a:srgbClr val="0B2F5B"/>
                </a:solidFill>
                <a:latin typeface="Aptos"/>
              </a:rPr>
              <a:t>What Is an Embedding?</a:t>
            </a:r>
          </a:p>
        </p:txBody>
      </p:sp>
      <p:sp>
        <p:nvSpPr>
          <p:cNvPr id="3" name="Subtitle"/>
          <p:cNvSpPr/>
          <p:nvPr/>
        </p:nvSpPr>
        <p:spPr>
          <a:xfrm>
            <a:off x="640080" y="868680"/>
            <a:ext cx="10911840" cy="365760"/>
          </a:xfrm>
          <a:prstGeom prst="rect">
            <a:avLst/>
          </a:prstGeom>
          <a:noFill/>
          <a:ln/>
        </p:spPr>
        <p:txBody>
          <a:bodyPr lIns="0" tIns="0" rIns="0" bIns="0" rtlCol="0" anchor="t"/>
          <a:lstStyle/>
          <a:p>
            <a:pPr algn="l">
              <a:defRPr sz="1600"/>
            </a:pPr>
            <a:r>
              <a:rPr sz="1600" dirty="0">
                <a:solidFill>
                  <a:srgbClr val="5E6C84"/>
                </a:solidFill>
                <a:latin typeface="Aptos"/>
              </a:rPr>
              <a:t>A learned table that turns token IDs into numeric rows</a:t>
            </a:r>
          </a:p>
        </p:txBody>
      </p:sp>
      <p:sp>
        <p:nvSpPr>
          <p:cNvPr id="4" name="Definition"/>
          <p:cNvSpPr/>
          <p:nvPr/>
        </p:nvSpPr>
        <p:spPr>
          <a:xfrm>
            <a:off x="822960" y="1371600"/>
            <a:ext cx="3474720" cy="2194560"/>
          </a:xfrm>
          <a:prstGeom prst="roundRect">
            <a:avLst/>
          </a:prstGeom>
          <a:solidFill>
            <a:srgbClr val="F5F8FC"/>
          </a:solidFill>
          <a:ln>
            <a:solidFill>
              <a:srgbClr val="BED2E6"/>
            </a:solidFill>
          </a:ln>
        </p:spPr>
        <p:txBody>
          <a:bodyPr lIns="137160" tIns="137160" rIns="137160" bIns="137160" rtlCol="0" anchor="t"/>
          <a:lstStyle/>
          <a:p>
            <a:pPr algn="l">
              <a:defRPr sz="1750"/>
            </a:pPr>
            <a:r>
              <a:rPr sz="1750" b="1" dirty="0">
                <a:solidFill>
                  <a:srgbClr val="0B2F5B"/>
                </a:solidFill>
                <a:latin typeface="Aptos"/>
              </a:rPr>
              <a:t>Embedding table</a:t>
            </a:r>
          </a:p>
          <a:p>
            <a:pPr algn="l">
              <a:defRPr sz="1550"/>
            </a:pPr>
            <a:r>
              <a:rPr sz="1550" dirty="0">
                <a:solidFill>
                  <a:srgbClr val="172B4D"/>
                </a:solidFill>
                <a:latin typeface="Aptos"/>
              </a:rPr>
              <a:t>An embedding table is a matrix learned during training. Each token ID selects one row from that matrix.</a:t>
            </a:r>
          </a:p>
        </p:txBody>
      </p:sp>
      <p:sp>
        <p:nvSpPr>
          <p:cNvPr id="5" name="Example Table"/>
          <p:cNvSpPr/>
          <p:nvPr/>
        </p:nvSpPr>
        <p:spPr>
          <a:xfrm>
            <a:off x="4846320" y="1188720"/>
            <a:ext cx="576072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BED2E6"/>
            </a:solidFill>
          </a:ln>
        </p:spPr>
        <p:txBody>
          <a:bodyPr lIns="137160" tIns="137160" rIns="137160" bIns="137160" rtlCol="0" anchor="t"/>
          <a:lstStyle/>
          <a:p>
            <a:pPr algn="l">
              <a:defRPr sz="1750"/>
            </a:pPr>
            <a:r>
              <a:rPr sz="1750" b="1" dirty="0">
                <a:solidFill>
                  <a:srgbClr val="0B2F5B"/>
                </a:solidFill>
                <a:latin typeface="Aptos"/>
              </a:rPr>
              <a:t>Tiny example</a:t>
            </a:r>
          </a:p>
          <a:p>
            <a:pPr algn="l">
              <a:defRPr sz="1500"/>
            </a:pPr>
            <a:r>
              <a:rPr sz="1500" dirty="0">
                <a:solidFill>
                  <a:srgbClr val="172B4D"/>
                </a:solidFill>
                <a:latin typeface="Consolas"/>
              </a:rPr>
              <a:t>ID   token      vector row</a:t>
            </a:r>
          </a:p>
          <a:p>
            <a:pPr algn="l">
              <a:defRPr sz="1500"/>
            </a:pPr>
            <a:r>
              <a:rPr sz="1500" dirty="0">
                <a:solidFill>
                  <a:srgbClr val="172B4D"/>
                </a:solidFill>
                <a:latin typeface="Consolas"/>
              </a:rPr>
              <a:t>1    are        [ 0.21, -0.44,  0.78,  0.12]</a:t>
            </a:r>
          </a:p>
          <a:p>
            <a:pPr algn="l">
              <a:defRPr sz="1500"/>
            </a:pPr>
            <a:r>
              <a:rPr sz="1500" dirty="0">
                <a:solidFill>
                  <a:srgbClr val="172B4D"/>
                </a:solidFill>
                <a:latin typeface="Consolas"/>
              </a:rPr>
              <a:t>2    MAG        [ 0.03,  0.91, -0.14,  0.36]</a:t>
            </a:r>
          </a:p>
          <a:p>
            <a:pPr algn="l">
              <a:defRPr sz="1500"/>
            </a:pPr>
            <a:r>
              <a:rPr sz="1500" dirty="0">
                <a:solidFill>
                  <a:srgbClr val="172B4D"/>
                </a:solidFill>
                <a:latin typeface="Consolas"/>
              </a:rPr>
              <a:t>3    sales      [-0.62,  0.18,  0.45, -0.09]</a:t>
            </a:r>
          </a:p>
        </p:txBody>
      </p:sp>
      <p:sp>
        <p:nvSpPr>
          <p:cNvPr id="6" name="Key takeaway"/>
          <p:cNvSpPr/>
          <p:nvPr/>
        </p:nvSpPr>
        <p:spPr>
          <a:xfrm>
            <a:off x="1097280" y="4206240"/>
            <a:ext cx="9966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B5CAD"/>
            </a:solidFill>
          </a:ln>
        </p:spPr>
        <p:txBody>
          <a:bodyPr lIns="91440" tIns="91440" rIns="91440" bIns="91440" rtlCol="0" anchor="ctr"/>
          <a:lstStyle/>
          <a:p>
            <a:pPr algn="ctr">
              <a:defRPr sz="1850"/>
            </a:pPr>
            <a:r>
              <a:rPr sz="1850" b="1" dirty="0">
                <a:solidFill>
                  <a:srgbClr val="0B2F5B"/>
                </a:solidFill>
                <a:latin typeface="Aptos"/>
              </a:rPr>
              <a:t>Key takeaway</a:t>
            </a:r>
          </a:p>
          <a:p>
            <a:pPr algn="ctr">
              <a:defRPr sz="1700"/>
            </a:pPr>
            <a:r>
              <a:rPr sz="1700" dirty="0">
                <a:solidFill>
                  <a:srgbClr val="172B4D"/>
                </a:solidFill>
                <a:latin typeface="Aptos"/>
              </a:rPr>
              <a:t>During inference, we do not calculate these numbers from spelling. We look up the learned row.</a:t>
            </a:r>
          </a:p>
        </p:txBody>
      </p:sp>
      <p:sp>
        <p:nvSpPr>
          <p:cNvPr id="40" name="Footer"/>
          <p:cNvSpPr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  <a:ln/>
        </p:spPr>
        <p:txBody>
          <a:bodyPr lIns="0" tIns="0" rIns="0" bIns="0" rtlCol="0" anchor="t"/>
          <a:lstStyle/>
          <a:p>
            <a:pPr algn="r">
              <a:defRPr sz="850"/>
            </a:pPr>
            <a:r>
              <a:rPr sz="850" dirty="0">
                <a:solidFill>
                  <a:srgbClr val="6B778C"/>
                </a:solidFill>
                <a:latin typeface="Aptos"/>
              </a:rPr>
              <a:t>MAGPAI Session 1 - Tokens - v1.0 | javaboy-vk | 2026-05-22 | Slide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F5B"/>
                </a:solidFill>
              </a:defRPr>
            </a:pPr>
            <a:r>
              <a:t>Embedding Lookup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2616B"/>
                </a:solidFill>
              </a:defRPr>
            </a:pPr>
            <a:r>
              <a:t>Token IDs become vectors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10424160" cy="1965960"/>
          </a:xfrm>
          <a:prstGeom prst="roundRect">
            <a:avLst/>
          </a:prstGeom>
          <a:solidFill>
            <a:srgbClr val="F5F8FC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82880" rtlCol="0" anchor="ctr"/>
          <a:lstStyle/>
          <a:p>
            <a:pPr algn="ctr">
              <a:defRPr sz="2200">
                <a:solidFill>
                  <a:srgbClr val="172B4D"/>
                </a:solidFill>
                <a:latin typeface="Consolas"/>
              </a:defRPr>
            </a:pPr>
            <a:r>
              <a:rPr dirty="0"/>
              <a:t>1 -&gt; [ 0.21, -0.44,  0.78,  0.12]</a:t>
            </a:r>
            <a:br>
              <a:rPr dirty="0"/>
            </a:br>
            <a:r>
              <a:rPr dirty="0"/>
              <a:t>2 -&gt; [ 0.03,  0.91, -0.14,  0.36]</a:t>
            </a:r>
            <a:br>
              <a:rPr dirty="0"/>
            </a:br>
            <a:r>
              <a:rPr dirty="0"/>
              <a:t>3 -&gt; [-0.62,  0.18,  0.45, -0.09]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749039"/>
            <a:ext cx="10424160" cy="1097280"/>
          </a:xfrm>
          <a:prstGeom prst="roundRect">
            <a:avLst/>
          </a:prstGeom>
          <a:solidFill>
            <a:srgbClr val="EAF3FF"/>
          </a:solidFill>
          <a:ln w="1905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rtlCol="0" anchor="ctr"/>
          <a:lstStyle/>
          <a:p>
            <a:pPr algn="ctr">
              <a:defRPr sz="1900" b="1">
                <a:solidFill>
                  <a:srgbClr val="0B2F5B"/>
                </a:solidFill>
              </a:defRPr>
            </a:pPr>
            <a:r>
              <a:rPr lang="en-US" dirty="0"/>
              <a:t>Key takeaway</a:t>
            </a:r>
          </a:p>
          <a:p>
            <a:pPr>
              <a:spcAft>
                <a:spcPts val="200"/>
              </a:spcAft>
              <a:defRPr sz="1800">
                <a:solidFill>
                  <a:srgbClr val="172B4D"/>
                </a:solidFill>
              </a:defRPr>
            </a:pPr>
            <a:r>
              <a:rPr dirty="0"/>
              <a:t>The token ID is an index. It selects a row from the embedding matrix. The selected row is the token vector.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16B"/>
                </a:solidFill>
              </a:defRPr>
            </a:pPr>
            <a:r>
              <a:t>MAGPAI Session 1 - Tokens - v1.0 | javaboy-vk | 2026-05-22 | Slide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40080" y="365760"/>
            <a:ext cx="10911840" cy="548640"/>
          </a:xfrm>
          <a:prstGeom prst="rect">
            <a:avLst/>
          </a:prstGeom>
          <a:noFill/>
          <a:ln/>
        </p:spPr>
        <p:txBody>
          <a:bodyPr lIns="0" tIns="0" rIns="0" bIns="0" rtlCol="0" anchor="t"/>
          <a:lstStyle/>
          <a:p>
            <a:pPr algn="l">
              <a:defRPr sz="3000"/>
            </a:pPr>
            <a:r>
              <a:rPr sz="3000" b="1" dirty="0">
                <a:solidFill>
                  <a:srgbClr val="0B2F5B"/>
                </a:solidFill>
                <a:latin typeface="Aptos"/>
              </a:rPr>
              <a:t>What Is a Vector?</a:t>
            </a:r>
          </a:p>
        </p:txBody>
      </p:sp>
      <p:sp>
        <p:nvSpPr>
          <p:cNvPr id="3" name="Subtitle"/>
          <p:cNvSpPr/>
          <p:nvPr/>
        </p:nvSpPr>
        <p:spPr>
          <a:xfrm>
            <a:off x="640080" y="868680"/>
            <a:ext cx="10911840" cy="365760"/>
          </a:xfrm>
          <a:prstGeom prst="rect">
            <a:avLst/>
          </a:prstGeom>
          <a:noFill/>
          <a:ln/>
        </p:spPr>
        <p:txBody>
          <a:bodyPr lIns="0" tIns="0" rIns="0" bIns="0" rtlCol="0" anchor="t"/>
          <a:lstStyle/>
          <a:p>
            <a:pPr algn="l">
              <a:defRPr sz="1600"/>
            </a:pPr>
            <a:r>
              <a:rPr sz="1600" dirty="0">
                <a:solidFill>
                  <a:srgbClr val="5E6C84"/>
                </a:solidFill>
                <a:latin typeface="Aptos"/>
              </a:rPr>
              <a:t>A compact list of numbers the neural network can compute with</a:t>
            </a:r>
          </a:p>
        </p:txBody>
      </p:sp>
      <p:sp>
        <p:nvSpPr>
          <p:cNvPr id="4" name="Vector"/>
          <p:cNvSpPr/>
          <p:nvPr/>
        </p:nvSpPr>
        <p:spPr>
          <a:xfrm>
            <a:off x="822960" y="1371600"/>
            <a:ext cx="3474720" cy="2194560"/>
          </a:xfrm>
          <a:prstGeom prst="roundRect">
            <a:avLst/>
          </a:prstGeom>
          <a:solidFill>
            <a:srgbClr val="F5F8FC"/>
          </a:solidFill>
          <a:ln>
            <a:solidFill>
              <a:srgbClr val="BED2E6"/>
            </a:solidFill>
          </a:ln>
        </p:spPr>
        <p:txBody>
          <a:bodyPr lIns="137160" tIns="137160" rIns="137160" bIns="137160" rtlCol="0" anchor="t"/>
          <a:lstStyle/>
          <a:p>
            <a:pPr algn="l">
              <a:defRPr sz="1750"/>
            </a:pPr>
            <a:r>
              <a:rPr sz="1750" b="1" dirty="0">
                <a:solidFill>
                  <a:srgbClr val="0B2F5B"/>
                </a:solidFill>
                <a:latin typeface="Aptos"/>
              </a:rPr>
              <a:t>Vector</a:t>
            </a:r>
          </a:p>
          <a:p>
            <a:pPr algn="l">
              <a:defRPr sz="1500"/>
            </a:pPr>
            <a:r>
              <a:rPr sz="1500" dirty="0">
                <a:solidFill>
                  <a:srgbClr val="172B4D"/>
                </a:solidFill>
                <a:latin typeface="Consolas"/>
              </a:rPr>
              <a:t>sales vector:</a:t>
            </a:r>
          </a:p>
          <a:p>
            <a:pPr algn="l">
              <a:defRPr sz="1500"/>
            </a:pPr>
            <a:r>
              <a:rPr sz="1500" dirty="0">
                <a:solidFill>
                  <a:srgbClr val="172B4D"/>
                </a:solidFill>
                <a:latin typeface="Consolas"/>
              </a:rPr>
              <a:t>[-0.62, 0.18, 0.45, -0.09]</a:t>
            </a:r>
          </a:p>
        </p:txBody>
      </p:sp>
      <p:sp>
        <p:nvSpPr>
          <p:cNvPr id="5" name="Algorithm"/>
          <p:cNvSpPr/>
          <p:nvPr/>
        </p:nvSpPr>
        <p:spPr>
          <a:xfrm>
            <a:off x="4846320" y="1188720"/>
            <a:ext cx="576072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BED2E6"/>
            </a:solidFill>
          </a:ln>
        </p:spPr>
        <p:txBody>
          <a:bodyPr lIns="137160" tIns="137160" rIns="137160" bIns="137160" rtlCol="0" anchor="t"/>
          <a:lstStyle/>
          <a:p>
            <a:pPr algn="l">
              <a:defRPr sz="1750"/>
            </a:pPr>
            <a:r>
              <a:rPr sz="1750" b="1" dirty="0">
                <a:solidFill>
                  <a:srgbClr val="0B2F5B"/>
                </a:solidFill>
                <a:latin typeface="Aptos"/>
              </a:rPr>
              <a:t>Demo algorithm for sales</a:t>
            </a:r>
          </a:p>
          <a:p>
            <a:pPr algn="l">
              <a:defRPr sz="1500"/>
            </a:pPr>
            <a:r>
              <a:rPr sz="1500" dirty="0">
                <a:solidFill>
                  <a:srgbClr val="172B4D"/>
                </a:solidFill>
                <a:latin typeface="Consolas"/>
              </a:rPr>
              <a:t>1. Token: "sales"</a:t>
            </a:r>
          </a:p>
          <a:p>
            <a:pPr algn="l">
              <a:defRPr sz="1500"/>
            </a:pPr>
            <a:r>
              <a:rPr sz="1500" dirty="0">
                <a:solidFill>
                  <a:srgbClr val="172B4D"/>
                </a:solidFill>
                <a:latin typeface="Consolas"/>
              </a:rPr>
              <a:t>2. Vocabulary lookup: "sales" -&gt; 3</a:t>
            </a:r>
          </a:p>
          <a:p>
            <a:pPr algn="l">
              <a:defRPr sz="1500"/>
            </a:pPr>
            <a:r>
              <a:rPr sz="1500" dirty="0">
                <a:solidFill>
                  <a:srgbClr val="172B4D"/>
                </a:solidFill>
                <a:latin typeface="Consolas"/>
              </a:rPr>
              <a:t>3. Embedding lookup: E[3]</a:t>
            </a:r>
          </a:p>
          <a:p>
            <a:pPr algn="l">
              <a:defRPr sz="1500"/>
            </a:pPr>
            <a:r>
              <a:rPr sz="1500" dirty="0">
                <a:solidFill>
                  <a:srgbClr val="172B4D"/>
                </a:solidFill>
                <a:latin typeface="Consolas"/>
              </a:rPr>
              <a:t>4. Output: [-0.62, 0.18, 0.45, -0.09]</a:t>
            </a:r>
          </a:p>
        </p:txBody>
      </p:sp>
      <p:sp>
        <p:nvSpPr>
          <p:cNvPr id="6" name="Key takeaway"/>
          <p:cNvSpPr/>
          <p:nvPr/>
        </p:nvSpPr>
        <p:spPr>
          <a:xfrm>
            <a:off x="1097280" y="4206240"/>
            <a:ext cx="9966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B5CAD"/>
            </a:solidFill>
          </a:ln>
        </p:spPr>
        <p:txBody>
          <a:bodyPr lIns="91440" tIns="91440" rIns="91440" bIns="91440" rtlCol="0" anchor="ctr"/>
          <a:lstStyle/>
          <a:p>
            <a:pPr algn="ctr">
              <a:defRPr sz="1850"/>
            </a:pPr>
            <a:r>
              <a:rPr sz="1850" b="1" dirty="0">
                <a:solidFill>
                  <a:srgbClr val="0B2F5B"/>
                </a:solidFill>
                <a:latin typeface="Aptos"/>
              </a:rPr>
              <a:t>Key takeaway</a:t>
            </a:r>
          </a:p>
          <a:p>
            <a:pPr algn="ctr">
              <a:defRPr sz="1700"/>
            </a:pPr>
            <a:r>
              <a:rPr sz="1700" dirty="0">
                <a:solidFill>
                  <a:srgbClr val="172B4D"/>
                </a:solidFill>
                <a:latin typeface="Aptos"/>
              </a:rPr>
              <a:t>A vector is the numeric representation that moves forward. The values are learned, then selected by ID.</a:t>
            </a:r>
          </a:p>
        </p:txBody>
      </p:sp>
      <p:sp>
        <p:nvSpPr>
          <p:cNvPr id="40" name="Footer"/>
          <p:cNvSpPr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  <a:ln/>
        </p:spPr>
        <p:txBody>
          <a:bodyPr lIns="0" tIns="0" rIns="0" bIns="0" rtlCol="0" anchor="t"/>
          <a:lstStyle/>
          <a:p>
            <a:pPr algn="r">
              <a:defRPr sz="850"/>
            </a:pPr>
            <a:r>
              <a:rPr sz="850" dirty="0">
                <a:solidFill>
                  <a:srgbClr val="6B778C"/>
                </a:solidFill>
                <a:latin typeface="Aptos"/>
              </a:rPr>
              <a:t>MAGPAI Session 1 - Tokens - v1.0 | javaboy-vk | 2026-05-22 | Slide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57774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F5B"/>
                </a:solidFill>
              </a:defRPr>
            </a:pPr>
            <a:r>
              <a:rPr dirty="0"/>
              <a:t>How Token ID </a:t>
            </a:r>
            <a:r>
              <a:rPr lang="en-US" dirty="0"/>
              <a:t>3</a:t>
            </a:r>
            <a:r>
              <a:rPr dirty="0"/>
              <a:t> Becomes a Vector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2616B"/>
                </a:solidFill>
              </a:defRPr>
            </a:pPr>
            <a:r>
              <a:t>The algorithm is a row lookup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289" y="1234440"/>
            <a:ext cx="3062113" cy="914400"/>
          </a:xfrm>
          <a:prstGeom prst="roundRect">
            <a:avLst/>
          </a:prstGeom>
          <a:solidFill>
            <a:srgbClr val="F5F8FC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82880" rtlCol="0" anchor="ctr"/>
          <a:lstStyle/>
          <a:p>
            <a:pPr algn="ctr">
              <a:defRPr sz="2500">
                <a:solidFill>
                  <a:srgbClr val="172B4D"/>
                </a:solidFill>
                <a:latin typeface="Consolas"/>
              </a:defRPr>
            </a:pPr>
            <a:r>
              <a:rPr dirty="0"/>
              <a:t>Token ID </a:t>
            </a:r>
            <a:r>
              <a:rPr lang="en-US" dirty="0"/>
              <a:t>3</a:t>
            </a:r>
            <a:endParaRPr dirty="0"/>
          </a:p>
        </p:txBody>
      </p:sp>
      <p:cxnSp>
        <p:nvCxnSpPr>
          <p:cNvPr id="5" name="Connector 4"/>
          <p:cNvCxnSpPr>
            <a:cxnSpLocks/>
          </p:cNvCxnSpPr>
          <p:nvPr/>
        </p:nvCxnSpPr>
        <p:spPr>
          <a:xfrm>
            <a:off x="3793402" y="1691640"/>
            <a:ext cx="675640" cy="0"/>
          </a:xfrm>
          <a:prstGeom prst="line">
            <a:avLst/>
          </a:prstGeom>
          <a:ln w="3810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96474" y="1234440"/>
            <a:ext cx="2485901" cy="914400"/>
          </a:xfrm>
          <a:prstGeom prst="roundRect">
            <a:avLst/>
          </a:prstGeom>
          <a:solidFill>
            <a:srgbClr val="F5F8FC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82880" rtlCol="0" anchor="ctr"/>
          <a:lstStyle/>
          <a:p>
            <a:pPr algn="ctr">
              <a:defRPr sz="2500">
                <a:solidFill>
                  <a:srgbClr val="172B4D"/>
                </a:solidFill>
                <a:latin typeface="Consolas"/>
              </a:defRPr>
            </a:pPr>
            <a:r>
              <a:rPr dirty="0"/>
              <a:t>E[</a:t>
            </a:r>
            <a:r>
              <a:rPr lang="en-US" dirty="0"/>
              <a:t>3</a:t>
            </a:r>
            <a:r>
              <a:rPr dirty="0"/>
              <a:t>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82375" y="1691640"/>
            <a:ext cx="685800" cy="0"/>
          </a:xfrm>
          <a:prstGeom prst="line">
            <a:avLst/>
          </a:prstGeom>
          <a:ln w="3810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668174" y="1228555"/>
            <a:ext cx="3670385" cy="914400"/>
          </a:xfrm>
          <a:prstGeom prst="roundRect">
            <a:avLst/>
          </a:prstGeom>
          <a:solidFill>
            <a:srgbClr val="F5F8FC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82880" rtlCol="0" anchor="ctr"/>
          <a:lstStyle/>
          <a:p>
            <a:pPr>
              <a:defRPr sz="1600">
                <a:solidFill>
                  <a:srgbClr val="172B4D"/>
                </a:solidFill>
                <a:latin typeface="Consolas"/>
              </a:defRPr>
            </a:pPr>
            <a:r>
              <a:rPr dirty="0"/>
              <a:t>[</a:t>
            </a:r>
            <a:r>
              <a:rPr lang="en-US" dirty="0"/>
              <a:t>-0.62,  0.18,  0.45, -0.09</a:t>
            </a:r>
            <a:r>
              <a:rPr dirty="0"/>
              <a:t>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00400"/>
            <a:ext cx="1042416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rtlCol="0" anchor="ctr"/>
          <a:lstStyle/>
          <a:p>
            <a:pPr algn="ctr">
              <a:defRPr sz="1900" b="1">
                <a:solidFill>
                  <a:srgbClr val="0B2F5B"/>
                </a:solidFill>
              </a:defRPr>
            </a:pPr>
            <a:r>
              <a:rPr dirty="0"/>
              <a:t>Important distinction</a:t>
            </a:r>
          </a:p>
          <a:p>
            <a:pPr>
              <a:spcAft>
                <a:spcPts val="200"/>
              </a:spcAft>
              <a:defRPr sz="1800">
                <a:solidFill>
                  <a:srgbClr val="172B4D"/>
                </a:solidFill>
              </a:defRPr>
            </a:pPr>
            <a:r>
              <a:rPr dirty="0"/>
              <a:t>The integer </a:t>
            </a:r>
            <a:r>
              <a:rPr lang="en-US" dirty="0"/>
              <a:t>3</a:t>
            </a:r>
            <a:r>
              <a:rPr dirty="0"/>
              <a:t> does not contain the meaning of “sales.” It points to a learned row in the embedding matrix.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16B"/>
                </a:solidFill>
              </a:defRPr>
            </a:pPr>
            <a:r>
              <a:t>MAGPAI Session 1 - Tokens - v1.0 | javaboy-vk | 2026-05-22 | Slide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F5B"/>
                </a:solidFill>
              </a:defRPr>
            </a:pPr>
            <a:r>
              <a:t>Linear Algebra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2616B"/>
                </a:solidFill>
              </a:defRPr>
            </a:pPr>
            <a:r>
              <a:t>Embedding lookup is equivalent to one-hot matrix multiplication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10607040" cy="1920240"/>
          </a:xfrm>
          <a:prstGeom prst="roundRect">
            <a:avLst/>
          </a:prstGeom>
          <a:solidFill>
            <a:srgbClr val="F5F8FC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82880" rtlCol="0" anchor="ctr"/>
          <a:lstStyle/>
          <a:p>
            <a:pPr algn="ctr">
              <a:defRPr sz="2600">
                <a:solidFill>
                  <a:srgbClr val="172B4D"/>
                </a:solidFill>
                <a:latin typeface="Consolas"/>
              </a:defRPr>
            </a:pPr>
            <a:r>
              <a:t>[0, 0, 0, 1, 0, 0, 0, 0] x E</a:t>
            </a:r>
            <a:br/>
            <a:r>
              <a:t>=</a:t>
            </a:r>
            <a:br/>
            <a:r>
              <a:t>[-0.62, 0.18, 0.45, -0.09]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749039"/>
            <a:ext cx="10424160" cy="1188720"/>
          </a:xfrm>
          <a:prstGeom prst="roundRect">
            <a:avLst/>
          </a:prstGeom>
          <a:solidFill>
            <a:srgbClr val="EAF3FF"/>
          </a:solidFill>
          <a:ln w="1905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rtlCol="0" anchor="ctr"/>
          <a:lstStyle/>
          <a:p>
            <a:pPr algn="ctr">
              <a:defRPr sz="1900" b="1">
                <a:solidFill>
                  <a:srgbClr val="0B2F5B"/>
                </a:solidFill>
              </a:defRPr>
            </a:pPr>
            <a:r>
              <a:t>Runtime optimization</a:t>
            </a:r>
          </a:p>
          <a:p>
            <a:pPr>
              <a:spcAft>
                <a:spcPts val="200"/>
              </a:spcAft>
              <a:defRPr sz="1800">
                <a:solidFill>
                  <a:srgbClr val="172B4D"/>
                </a:solidFill>
              </a:defRPr>
            </a:pPr>
            <a:r>
              <a:t>In real code, the framework usually skips the one-hot vector and directly retrieves the row. It is faster and memory-efficient.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16B"/>
                </a:solidFill>
              </a:defRPr>
            </a:pPr>
            <a:r>
              <a:t>MAGPAI Session 1 - Tokens - v1.0 | javaboy-vk | 2026-05-22 | Slide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40080" y="365760"/>
            <a:ext cx="10911840" cy="548640"/>
          </a:xfrm>
          <a:prstGeom prst="rect">
            <a:avLst/>
          </a:prstGeom>
          <a:noFill/>
          <a:ln/>
        </p:spPr>
        <p:txBody>
          <a:bodyPr lIns="0" tIns="0" rIns="0" bIns="0" rtlCol="0" anchor="t"/>
          <a:lstStyle/>
          <a:p>
            <a:pPr algn="l">
              <a:defRPr sz="3000"/>
            </a:pPr>
            <a:r>
              <a:rPr sz="3000" b="1" dirty="0">
                <a:solidFill>
                  <a:srgbClr val="0B2F5B"/>
                </a:solidFill>
                <a:latin typeface="Aptos"/>
              </a:rPr>
              <a:t>What Is a Tensor?</a:t>
            </a:r>
          </a:p>
        </p:txBody>
      </p:sp>
      <p:sp>
        <p:nvSpPr>
          <p:cNvPr id="3" name="Subtitle"/>
          <p:cNvSpPr/>
          <p:nvPr/>
        </p:nvSpPr>
        <p:spPr>
          <a:xfrm>
            <a:off x="640080" y="868680"/>
            <a:ext cx="10911840" cy="365760"/>
          </a:xfrm>
          <a:prstGeom prst="rect">
            <a:avLst/>
          </a:prstGeom>
          <a:noFill/>
          <a:ln/>
        </p:spPr>
        <p:txBody>
          <a:bodyPr lIns="0" tIns="0" rIns="0" bIns="0" rtlCol="0" anchor="t"/>
          <a:lstStyle/>
          <a:p>
            <a:pPr algn="l">
              <a:defRPr sz="1600"/>
            </a:pPr>
            <a:r>
              <a:rPr sz="1600" dirty="0">
                <a:solidFill>
                  <a:srgbClr val="5E6C84"/>
                </a:solidFill>
                <a:latin typeface="Aptos"/>
              </a:rPr>
              <a:t>The NN input is a stored grid of token vectors</a:t>
            </a:r>
          </a:p>
        </p:txBody>
      </p:sp>
      <p:sp>
        <p:nvSpPr>
          <p:cNvPr id="4" name="Vector"/>
          <p:cNvSpPr/>
          <p:nvPr/>
        </p:nvSpPr>
        <p:spPr>
          <a:xfrm>
            <a:off x="822960" y="1371600"/>
            <a:ext cx="2926080" cy="15544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ED2E6"/>
            </a:solidFill>
          </a:ln>
        </p:spPr>
        <p:txBody>
          <a:bodyPr lIns="137160" tIns="137160" rIns="137160" bIns="137160" rtlCol="0" anchor="t"/>
          <a:lstStyle/>
          <a:p>
            <a:pPr algn="l">
              <a:defRPr sz="1700"/>
            </a:pPr>
            <a:r>
              <a:rPr sz="1700" b="1" dirty="0">
                <a:solidFill>
                  <a:srgbClr val="0B2F5B"/>
                </a:solidFill>
                <a:latin typeface="Aptos"/>
              </a:rPr>
              <a:t>Vector</a:t>
            </a:r>
          </a:p>
          <a:p>
            <a:pPr algn="l">
              <a:defRPr sz="1450"/>
            </a:pPr>
            <a:r>
              <a:rPr sz="1450" dirty="0">
                <a:solidFill>
                  <a:srgbClr val="172B4D"/>
                </a:solidFill>
                <a:latin typeface="Consolas"/>
              </a:rPr>
              <a:t>1-D list</a:t>
            </a:r>
          </a:p>
          <a:p>
            <a:pPr algn="l">
              <a:defRPr sz="1450"/>
            </a:pPr>
            <a:r>
              <a:rPr sz="1450" dirty="0">
                <a:solidFill>
                  <a:srgbClr val="172B4D"/>
                </a:solidFill>
                <a:latin typeface="Consolas"/>
              </a:rPr>
              <a:t>[0.12, -0.08, 0.44]</a:t>
            </a:r>
          </a:p>
        </p:txBody>
      </p:sp>
      <p:sp>
        <p:nvSpPr>
          <p:cNvPr id="5" name="Matrix"/>
          <p:cNvSpPr/>
          <p:nvPr/>
        </p:nvSpPr>
        <p:spPr>
          <a:xfrm>
            <a:off x="4480560" y="1371600"/>
            <a:ext cx="2926080" cy="15544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ED2E6"/>
            </a:solidFill>
          </a:ln>
        </p:spPr>
        <p:txBody>
          <a:bodyPr lIns="137160" tIns="137160" rIns="137160" bIns="137160" rtlCol="0" anchor="t"/>
          <a:lstStyle/>
          <a:p>
            <a:pPr algn="l">
              <a:defRPr sz="1700"/>
            </a:pPr>
            <a:r>
              <a:rPr sz="1700" b="1" dirty="0">
                <a:solidFill>
                  <a:srgbClr val="0B2F5B"/>
                </a:solidFill>
                <a:latin typeface="Aptos"/>
              </a:rPr>
              <a:t>Matrix</a:t>
            </a:r>
          </a:p>
          <a:p>
            <a:pPr algn="l">
              <a:defRPr sz="1450"/>
            </a:pPr>
            <a:r>
              <a:rPr sz="1450" dirty="0">
                <a:solidFill>
                  <a:srgbClr val="172B4D"/>
                </a:solidFill>
                <a:latin typeface="Consolas"/>
              </a:rPr>
              <a:t>2-D table</a:t>
            </a:r>
          </a:p>
          <a:p>
            <a:pPr algn="l">
              <a:defRPr sz="1450"/>
            </a:pPr>
            <a:r>
              <a:rPr sz="1450" dirty="0">
                <a:solidFill>
                  <a:srgbClr val="172B4D"/>
                </a:solidFill>
                <a:latin typeface="Consolas"/>
              </a:rPr>
              <a:t>rows x columns</a:t>
            </a:r>
          </a:p>
        </p:txBody>
      </p:sp>
      <p:sp>
        <p:nvSpPr>
          <p:cNvPr id="6" name="Tensor"/>
          <p:cNvSpPr/>
          <p:nvPr/>
        </p:nvSpPr>
        <p:spPr>
          <a:xfrm>
            <a:off x="8138160" y="1371600"/>
            <a:ext cx="2926080" cy="15544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ED2E6"/>
            </a:solidFill>
          </a:ln>
        </p:spPr>
        <p:txBody>
          <a:bodyPr lIns="137160" tIns="137160" rIns="137160" bIns="137160" rtlCol="0" anchor="t"/>
          <a:lstStyle/>
          <a:p>
            <a:pPr algn="l">
              <a:defRPr sz="1700"/>
            </a:pPr>
            <a:r>
              <a:rPr sz="1700" b="1" dirty="0">
                <a:solidFill>
                  <a:srgbClr val="0B2F5B"/>
                </a:solidFill>
                <a:latin typeface="Aptos"/>
              </a:rPr>
              <a:t>Tensor</a:t>
            </a:r>
          </a:p>
          <a:p>
            <a:pPr algn="l">
              <a:defRPr sz="1450"/>
            </a:pPr>
            <a:r>
              <a:rPr sz="1450" dirty="0">
                <a:solidFill>
                  <a:srgbClr val="172B4D"/>
                </a:solidFill>
                <a:latin typeface="Consolas"/>
              </a:rPr>
              <a:t>General numeric container</a:t>
            </a:r>
          </a:p>
          <a:p>
            <a:pPr algn="l">
              <a:defRPr sz="1450"/>
            </a:pPr>
            <a:r>
              <a:rPr sz="1450" dirty="0">
                <a:solidFill>
                  <a:srgbClr val="172B4D"/>
                </a:solidFill>
                <a:latin typeface="Consolas"/>
              </a:rPr>
              <a:t>with shape metadata</a:t>
            </a:r>
          </a:p>
        </p:txBody>
      </p:sp>
      <p:sp>
        <p:nvSpPr>
          <p:cNvPr id="7" name="Prompt Shape"/>
          <p:cNvSpPr/>
          <p:nvPr/>
        </p:nvSpPr>
        <p:spPr>
          <a:xfrm>
            <a:off x="1097280" y="3383280"/>
            <a:ext cx="4572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2E6"/>
            </a:solidFill>
          </a:ln>
        </p:spPr>
        <p:txBody>
          <a:bodyPr lIns="137160" tIns="137160" rIns="137160" bIns="137160" rtlCol="0" anchor="t"/>
          <a:lstStyle/>
          <a:p>
            <a:pPr algn="l">
              <a:defRPr sz="1700"/>
            </a:pPr>
            <a:r>
              <a:rPr sz="1700" b="1" dirty="0">
                <a:solidFill>
                  <a:srgbClr val="0B2F5B"/>
                </a:solidFill>
                <a:latin typeface="Aptos"/>
              </a:rPr>
              <a:t>For this prompt</a:t>
            </a:r>
          </a:p>
          <a:p>
            <a:pPr algn="l">
              <a:defRPr sz="1450"/>
            </a:pPr>
            <a:r>
              <a:rPr sz="1450" dirty="0">
                <a:solidFill>
                  <a:srgbClr val="172B4D"/>
                </a:solidFill>
                <a:latin typeface="Consolas"/>
              </a:rPr>
              <a:t>7 tokens x 4 numbers per vector</a:t>
            </a:r>
          </a:p>
          <a:p>
            <a:pPr algn="l">
              <a:defRPr sz="1450"/>
            </a:pPr>
            <a:r>
              <a:rPr sz="1450" dirty="0">
                <a:solidFill>
                  <a:srgbClr val="172B4D"/>
                </a:solidFill>
                <a:latin typeface="Consolas"/>
              </a:rPr>
              <a:t>shape = [7, 4]</a:t>
            </a:r>
          </a:p>
        </p:txBody>
      </p:sp>
      <p:sp>
        <p:nvSpPr>
          <p:cNvPr id="8" name="Activation Tensor"/>
          <p:cNvSpPr/>
          <p:nvPr/>
        </p:nvSpPr>
        <p:spPr>
          <a:xfrm>
            <a:off x="6217920" y="3383280"/>
            <a:ext cx="4572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2E6"/>
            </a:solidFill>
          </a:ln>
        </p:spPr>
        <p:txBody>
          <a:bodyPr lIns="137160" tIns="137160" rIns="137160" bIns="137160" rtlCol="0" anchor="t"/>
          <a:lstStyle/>
          <a:p>
            <a:pPr algn="l">
              <a:defRPr sz="1700"/>
            </a:pPr>
            <a:r>
              <a:rPr sz="1700" b="1" dirty="0">
                <a:solidFill>
                  <a:srgbClr val="0B2F5B"/>
                </a:solidFill>
                <a:latin typeface="Aptos"/>
              </a:rPr>
              <a:t>How the NN sees it</a:t>
            </a:r>
          </a:p>
          <a:p>
            <a:pPr algn="l">
              <a:defRPr sz="1450"/>
            </a:pPr>
            <a:r>
              <a:rPr sz="1450" dirty="0">
                <a:solidFill>
                  <a:srgbClr val="172B4D"/>
                </a:solidFill>
                <a:latin typeface="Aptos"/>
              </a:rPr>
              <a:t>The framework stores the token-vector sequence as an activation tensor before the first neural-network layer.</a:t>
            </a:r>
          </a:p>
        </p:txBody>
      </p:sp>
      <p:sp>
        <p:nvSpPr>
          <p:cNvPr id="9" name="Key takeaway"/>
          <p:cNvSpPr/>
          <p:nvPr/>
        </p:nvSpPr>
        <p:spPr>
          <a:xfrm>
            <a:off x="1097280" y="5212080"/>
            <a:ext cx="99669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CAD"/>
            </a:solidFill>
          </a:ln>
        </p:spPr>
        <p:txBody>
          <a:bodyPr lIns="91440" tIns="91440" rIns="91440" bIns="91440" rtlCol="0" anchor="ctr"/>
          <a:lstStyle/>
          <a:p>
            <a:pPr algn="ctr">
              <a:defRPr sz="1800"/>
            </a:pPr>
            <a:r>
              <a:rPr sz="1800" b="1" dirty="0">
                <a:solidFill>
                  <a:srgbClr val="0B2F5B"/>
                </a:solidFill>
                <a:latin typeface="Aptos"/>
              </a:rPr>
              <a:t>Key takeaway</a:t>
            </a:r>
          </a:p>
          <a:p>
            <a:pPr algn="ctr">
              <a:defRPr sz="1600"/>
            </a:pPr>
            <a:r>
              <a:rPr sz="1600" dirty="0">
                <a:solidFill>
                  <a:srgbClr val="172B4D"/>
                </a:solidFill>
                <a:latin typeface="Aptos"/>
              </a:rPr>
              <a:t>A tensor is the in-memory numeric object that carries vectors into neural-network computation.</a:t>
            </a:r>
          </a:p>
        </p:txBody>
      </p:sp>
      <p:sp>
        <p:nvSpPr>
          <p:cNvPr id="90" name="Footer"/>
          <p:cNvSpPr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  <a:ln/>
        </p:spPr>
        <p:txBody>
          <a:bodyPr lIns="0" tIns="0" rIns="0" bIns="0" rtlCol="0" anchor="t"/>
          <a:lstStyle/>
          <a:p>
            <a:pPr algn="r">
              <a:defRPr sz="850"/>
            </a:pPr>
            <a:r>
              <a:rPr sz="850" dirty="0">
                <a:solidFill>
                  <a:srgbClr val="6B778C"/>
                </a:solidFill>
                <a:latin typeface="Aptos"/>
              </a:rPr>
              <a:t>MAGPAI Session 1 - Tokens - v1.0 | javaboy-vk | 2026-05-22 | Slide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40080" y="365760"/>
            <a:ext cx="10911840" cy="548640"/>
          </a:xfrm>
          <a:prstGeom prst="rect">
            <a:avLst/>
          </a:prstGeom>
          <a:noFill/>
          <a:ln/>
        </p:spPr>
        <p:txBody>
          <a:bodyPr lIns="0" tIns="0" rIns="0" bIns="0" rtlCol="0" anchor="t"/>
          <a:lstStyle/>
          <a:p>
            <a:pPr algn="l">
              <a:defRPr sz="3000"/>
            </a:pPr>
            <a:r>
              <a:rPr sz="3000" b="1" dirty="0">
                <a:solidFill>
                  <a:srgbClr val="0B2F5B"/>
                </a:solidFill>
                <a:latin typeface="Aptos"/>
              </a:rPr>
              <a:t>Prompt Stored as an Input Tensor</a:t>
            </a:r>
          </a:p>
        </p:txBody>
      </p:sp>
      <p:sp>
        <p:nvSpPr>
          <p:cNvPr id="3" name="Subtitle"/>
          <p:cNvSpPr/>
          <p:nvPr/>
        </p:nvSpPr>
        <p:spPr>
          <a:xfrm>
            <a:off x="640080" y="868680"/>
            <a:ext cx="10911840" cy="365760"/>
          </a:xfrm>
          <a:prstGeom prst="rect">
            <a:avLst/>
          </a:prstGeom>
          <a:noFill/>
          <a:ln/>
        </p:spPr>
        <p:txBody>
          <a:bodyPr lIns="0" tIns="0" rIns="0" bIns="0" rtlCol="0" anchor="t"/>
          <a:lstStyle/>
          <a:p>
            <a:pPr algn="l">
              <a:defRPr sz="1600"/>
            </a:pPr>
            <a:r>
              <a:rPr sz="1600" dirty="0">
                <a:solidFill>
                  <a:srgbClr val="5E6C84"/>
                </a:solidFill>
                <a:latin typeface="Aptos"/>
              </a:rPr>
              <a:t>The original prompt becomes a 7 x 4 numeric grid before NN layers run</a:t>
            </a:r>
          </a:p>
        </p:txBody>
      </p:sp>
      <p:sp>
        <p:nvSpPr>
          <p:cNvPr id="4" name="Prompt Text"/>
          <p:cNvSpPr/>
          <p:nvPr/>
        </p:nvSpPr>
        <p:spPr>
          <a:xfrm>
            <a:off x="822960" y="1280160"/>
            <a:ext cx="4754880" cy="5486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0B5CAD"/>
            </a:solidFill>
          </a:ln>
        </p:spPr>
        <p:txBody>
          <a:bodyPr lIns="91440" tIns="91440" rIns="91440" bIns="91440" rtlCol="0" anchor="ctr"/>
          <a:lstStyle/>
          <a:p>
            <a:pPr algn="ctr">
              <a:defRPr sz="1900"/>
            </a:pPr>
            <a:r>
              <a:rPr sz="1900" b="1" dirty="0">
                <a:solidFill>
                  <a:srgbClr val="0B2F5B"/>
                </a:solidFill>
                <a:latin typeface="Consolas"/>
              </a:rPr>
              <a:t>are MAG sales up in chicago?</a:t>
            </a:r>
          </a:p>
        </p:txBody>
      </p:sp>
      <p:sp>
        <p:nvSpPr>
          <p:cNvPr id="5" name="Arrow 1"/>
          <p:cNvSpPr/>
          <p:nvPr/>
        </p:nvSpPr>
        <p:spPr>
          <a:xfrm>
            <a:off x="5760720" y="1397280"/>
            <a:ext cx="731520" cy="36576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algn="ctr">
              <a:defRPr sz="2100"/>
            </a:pPr>
            <a:r>
              <a:rPr sz="2100" b="1" dirty="0">
                <a:solidFill>
                  <a:srgbClr val="0B5CAD"/>
                </a:solidFill>
                <a:latin typeface="Aptos"/>
              </a:rPr>
              <a:t>-&gt;</a:t>
            </a:r>
          </a:p>
        </p:txBody>
      </p:sp>
      <p:sp>
        <p:nvSpPr>
          <p:cNvPr id="6" name="NN Box"/>
          <p:cNvSpPr/>
          <p:nvPr/>
        </p:nvSpPr>
        <p:spPr>
          <a:xfrm>
            <a:off x="9966960" y="2103120"/>
            <a:ext cx="1280160" cy="2377440"/>
          </a:xfrm>
          <a:prstGeom prst="roundRect">
            <a:avLst/>
          </a:prstGeom>
          <a:solidFill>
            <a:srgbClr val="0B5CAD"/>
          </a:solidFill>
          <a:ln w="12700">
            <a:solidFill>
              <a:srgbClr val="0B5CAD"/>
            </a:solidFill>
          </a:ln>
        </p:spPr>
        <p:txBody>
          <a:bodyPr lIns="91440" tIns="91440" rIns="91440" bIns="91440" rtlCol="0" anchor="ctr"/>
          <a:lstStyle/>
          <a:p>
            <a:pPr algn="ctr">
              <a:defRPr sz="1700"/>
            </a:pPr>
            <a:r>
              <a:rPr sz="1700" b="1" dirty="0">
                <a:solidFill>
                  <a:srgbClr val="FFFFFF"/>
                </a:solidFill>
                <a:latin typeface="Aptos"/>
              </a:rPr>
              <a:t>NN layers
start here</a:t>
            </a:r>
          </a:p>
        </p:txBody>
      </p:sp>
      <p:sp>
        <p:nvSpPr>
          <p:cNvPr id="7" name="Arrow 2"/>
          <p:cNvSpPr/>
          <p:nvPr/>
        </p:nvSpPr>
        <p:spPr>
          <a:xfrm>
            <a:off x="9144000" y="3108960"/>
            <a:ext cx="731520" cy="36576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algn="ctr">
              <a:defRPr sz="2100"/>
            </a:pPr>
            <a:r>
              <a:rPr sz="2100" b="1" dirty="0">
                <a:solidFill>
                  <a:srgbClr val="0B5CAD"/>
                </a:solidFill>
                <a:latin typeface="Aptos"/>
              </a:rPr>
              <a:t>-&gt;</a:t>
            </a:r>
          </a:p>
        </p:txBody>
      </p:sp>
      <p:sp>
        <p:nvSpPr>
          <p:cNvPr id="20" name="Cell 20"/>
          <p:cNvSpPr/>
          <p:nvPr/>
        </p:nvSpPr>
        <p:spPr>
          <a:xfrm>
            <a:off x="1158240" y="2194560"/>
            <a:ext cx="1188720" cy="365760"/>
          </a:xfrm>
          <a:prstGeom prst="rect">
            <a:avLst/>
          </a:prstGeom>
          <a:solidFill>
            <a:srgbClr val="0B2F5B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1050"/>
            </a:pPr>
            <a:r>
              <a:rPr sz="1050" b="1" dirty="0">
                <a:solidFill>
                  <a:srgbClr val="FFFFFF"/>
                </a:solidFill>
                <a:latin typeface="Consolas"/>
              </a:rPr>
              <a:t>token</a:t>
            </a:r>
          </a:p>
        </p:txBody>
      </p:sp>
      <p:sp>
        <p:nvSpPr>
          <p:cNvPr id="21" name="Cell 21"/>
          <p:cNvSpPr/>
          <p:nvPr/>
        </p:nvSpPr>
        <p:spPr>
          <a:xfrm>
            <a:off x="2346960" y="2194560"/>
            <a:ext cx="1188720" cy="365760"/>
          </a:xfrm>
          <a:prstGeom prst="rect">
            <a:avLst/>
          </a:prstGeom>
          <a:solidFill>
            <a:srgbClr val="0B2F5B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1050"/>
            </a:pPr>
            <a:r>
              <a:rPr sz="1050" b="1" dirty="0">
                <a:solidFill>
                  <a:srgbClr val="FFFFFF"/>
                </a:solidFill>
                <a:latin typeface="Consolas"/>
              </a:rPr>
              <a:t>v1</a:t>
            </a:r>
          </a:p>
        </p:txBody>
      </p:sp>
      <p:sp>
        <p:nvSpPr>
          <p:cNvPr id="22" name="Cell 22"/>
          <p:cNvSpPr/>
          <p:nvPr/>
        </p:nvSpPr>
        <p:spPr>
          <a:xfrm>
            <a:off x="3535680" y="2194560"/>
            <a:ext cx="1188720" cy="365760"/>
          </a:xfrm>
          <a:prstGeom prst="rect">
            <a:avLst/>
          </a:prstGeom>
          <a:solidFill>
            <a:srgbClr val="0B2F5B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1050"/>
            </a:pPr>
            <a:r>
              <a:rPr sz="1050" b="1" dirty="0">
                <a:solidFill>
                  <a:srgbClr val="FFFFFF"/>
                </a:solidFill>
                <a:latin typeface="Consolas"/>
              </a:rPr>
              <a:t>v2</a:t>
            </a:r>
          </a:p>
        </p:txBody>
      </p:sp>
      <p:sp>
        <p:nvSpPr>
          <p:cNvPr id="23" name="Cell 23"/>
          <p:cNvSpPr/>
          <p:nvPr/>
        </p:nvSpPr>
        <p:spPr>
          <a:xfrm>
            <a:off x="4724400" y="2194560"/>
            <a:ext cx="1188720" cy="365760"/>
          </a:xfrm>
          <a:prstGeom prst="rect">
            <a:avLst/>
          </a:prstGeom>
          <a:solidFill>
            <a:srgbClr val="0B2F5B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1050"/>
            </a:pPr>
            <a:r>
              <a:rPr sz="1050" b="1" dirty="0">
                <a:solidFill>
                  <a:srgbClr val="FFFFFF"/>
                </a:solidFill>
                <a:latin typeface="Consolas"/>
              </a:rPr>
              <a:t>v3</a:t>
            </a:r>
          </a:p>
        </p:txBody>
      </p:sp>
      <p:sp>
        <p:nvSpPr>
          <p:cNvPr id="24" name="Cell 24"/>
          <p:cNvSpPr/>
          <p:nvPr/>
        </p:nvSpPr>
        <p:spPr>
          <a:xfrm>
            <a:off x="5913120" y="2194560"/>
            <a:ext cx="1188720" cy="365760"/>
          </a:xfrm>
          <a:prstGeom prst="rect">
            <a:avLst/>
          </a:prstGeom>
          <a:solidFill>
            <a:srgbClr val="0B2F5B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1050"/>
            </a:pPr>
            <a:r>
              <a:rPr sz="1050" b="1" dirty="0">
                <a:solidFill>
                  <a:srgbClr val="FFFFFF"/>
                </a:solidFill>
                <a:latin typeface="Consolas"/>
              </a:rPr>
              <a:t>v4</a:t>
            </a:r>
          </a:p>
        </p:txBody>
      </p:sp>
      <p:sp>
        <p:nvSpPr>
          <p:cNvPr id="25" name="Cell 25"/>
          <p:cNvSpPr/>
          <p:nvPr/>
        </p:nvSpPr>
        <p:spPr>
          <a:xfrm>
            <a:off x="1158240" y="2560320"/>
            <a:ext cx="1188720" cy="3657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b="1" dirty="0">
                <a:solidFill>
                  <a:srgbClr val="172B4D"/>
                </a:solidFill>
                <a:latin typeface="Consolas"/>
              </a:rPr>
              <a:t>are</a:t>
            </a:r>
          </a:p>
        </p:txBody>
      </p:sp>
      <p:sp>
        <p:nvSpPr>
          <p:cNvPr id="26" name="Cell 26"/>
          <p:cNvSpPr/>
          <p:nvPr/>
        </p:nvSpPr>
        <p:spPr>
          <a:xfrm>
            <a:off x="2346960" y="2560320"/>
            <a:ext cx="1188720" cy="3657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0.21</a:t>
            </a:r>
          </a:p>
        </p:txBody>
      </p:sp>
      <p:sp>
        <p:nvSpPr>
          <p:cNvPr id="27" name="Cell 27"/>
          <p:cNvSpPr/>
          <p:nvPr/>
        </p:nvSpPr>
        <p:spPr>
          <a:xfrm>
            <a:off x="3535680" y="2560320"/>
            <a:ext cx="1188720" cy="3657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-0.44</a:t>
            </a:r>
          </a:p>
        </p:txBody>
      </p:sp>
      <p:sp>
        <p:nvSpPr>
          <p:cNvPr id="28" name="Cell 28"/>
          <p:cNvSpPr/>
          <p:nvPr/>
        </p:nvSpPr>
        <p:spPr>
          <a:xfrm>
            <a:off x="4724400" y="2560320"/>
            <a:ext cx="1188720" cy="3657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0.78</a:t>
            </a:r>
          </a:p>
        </p:txBody>
      </p:sp>
      <p:sp>
        <p:nvSpPr>
          <p:cNvPr id="29" name="Cell 29"/>
          <p:cNvSpPr/>
          <p:nvPr/>
        </p:nvSpPr>
        <p:spPr>
          <a:xfrm>
            <a:off x="5913120" y="2560320"/>
            <a:ext cx="1188720" cy="3657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0.12</a:t>
            </a:r>
          </a:p>
        </p:txBody>
      </p:sp>
      <p:sp>
        <p:nvSpPr>
          <p:cNvPr id="30" name="Cell 30"/>
          <p:cNvSpPr/>
          <p:nvPr/>
        </p:nvSpPr>
        <p:spPr>
          <a:xfrm>
            <a:off x="1158240" y="292608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b="1" dirty="0">
                <a:solidFill>
                  <a:srgbClr val="172B4D"/>
                </a:solidFill>
                <a:latin typeface="Consolas"/>
              </a:rPr>
              <a:t>MAG</a:t>
            </a:r>
          </a:p>
        </p:txBody>
      </p:sp>
      <p:sp>
        <p:nvSpPr>
          <p:cNvPr id="31" name="Cell 31"/>
          <p:cNvSpPr/>
          <p:nvPr/>
        </p:nvSpPr>
        <p:spPr>
          <a:xfrm>
            <a:off x="2346960" y="292608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0.03</a:t>
            </a:r>
          </a:p>
        </p:txBody>
      </p:sp>
      <p:sp>
        <p:nvSpPr>
          <p:cNvPr id="32" name="Cell 32"/>
          <p:cNvSpPr/>
          <p:nvPr/>
        </p:nvSpPr>
        <p:spPr>
          <a:xfrm>
            <a:off x="3535680" y="292608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0.91</a:t>
            </a:r>
          </a:p>
        </p:txBody>
      </p:sp>
      <p:sp>
        <p:nvSpPr>
          <p:cNvPr id="33" name="Cell 33"/>
          <p:cNvSpPr/>
          <p:nvPr/>
        </p:nvSpPr>
        <p:spPr>
          <a:xfrm>
            <a:off x="4724400" y="292608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-0.14</a:t>
            </a:r>
          </a:p>
        </p:txBody>
      </p:sp>
      <p:sp>
        <p:nvSpPr>
          <p:cNvPr id="34" name="Cell 34"/>
          <p:cNvSpPr/>
          <p:nvPr/>
        </p:nvSpPr>
        <p:spPr>
          <a:xfrm>
            <a:off x="5913120" y="292608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0.36</a:t>
            </a:r>
          </a:p>
        </p:txBody>
      </p:sp>
      <p:sp>
        <p:nvSpPr>
          <p:cNvPr id="35" name="Cell 35"/>
          <p:cNvSpPr/>
          <p:nvPr/>
        </p:nvSpPr>
        <p:spPr>
          <a:xfrm>
            <a:off x="1158240" y="3291840"/>
            <a:ext cx="1188720" cy="365760"/>
          </a:xfrm>
          <a:prstGeom prst="rect">
            <a:avLst/>
          </a:prstGeom>
          <a:solidFill>
            <a:srgbClr val="FFF3D6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b="1" dirty="0">
                <a:solidFill>
                  <a:srgbClr val="172B4D"/>
                </a:solidFill>
                <a:latin typeface="Consolas"/>
              </a:rPr>
              <a:t>sales</a:t>
            </a:r>
          </a:p>
        </p:txBody>
      </p:sp>
      <p:sp>
        <p:nvSpPr>
          <p:cNvPr id="36" name="Cell 36"/>
          <p:cNvSpPr/>
          <p:nvPr/>
        </p:nvSpPr>
        <p:spPr>
          <a:xfrm>
            <a:off x="2346960" y="3291840"/>
            <a:ext cx="1188720" cy="365760"/>
          </a:xfrm>
          <a:prstGeom prst="rect">
            <a:avLst/>
          </a:prstGeom>
          <a:solidFill>
            <a:srgbClr val="FFF3D6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b="1" dirty="0">
                <a:solidFill>
                  <a:srgbClr val="172B4D"/>
                </a:solidFill>
                <a:latin typeface="Consolas"/>
              </a:rPr>
              <a:t>-0.62</a:t>
            </a:r>
          </a:p>
        </p:txBody>
      </p:sp>
      <p:sp>
        <p:nvSpPr>
          <p:cNvPr id="37" name="Cell 37"/>
          <p:cNvSpPr/>
          <p:nvPr/>
        </p:nvSpPr>
        <p:spPr>
          <a:xfrm>
            <a:off x="3535680" y="3291840"/>
            <a:ext cx="1188720" cy="365760"/>
          </a:xfrm>
          <a:prstGeom prst="rect">
            <a:avLst/>
          </a:prstGeom>
          <a:solidFill>
            <a:srgbClr val="FFF3D6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b="1" dirty="0">
                <a:solidFill>
                  <a:srgbClr val="172B4D"/>
                </a:solidFill>
                <a:latin typeface="Consolas"/>
              </a:rPr>
              <a:t>0.18</a:t>
            </a:r>
          </a:p>
        </p:txBody>
      </p:sp>
      <p:sp>
        <p:nvSpPr>
          <p:cNvPr id="38" name="Cell 38"/>
          <p:cNvSpPr/>
          <p:nvPr/>
        </p:nvSpPr>
        <p:spPr>
          <a:xfrm>
            <a:off x="4724400" y="3291840"/>
            <a:ext cx="1188720" cy="365760"/>
          </a:xfrm>
          <a:prstGeom prst="rect">
            <a:avLst/>
          </a:prstGeom>
          <a:solidFill>
            <a:srgbClr val="FFF3D6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b="1" dirty="0">
                <a:solidFill>
                  <a:srgbClr val="172B4D"/>
                </a:solidFill>
                <a:latin typeface="Consolas"/>
              </a:rPr>
              <a:t>0.45</a:t>
            </a:r>
          </a:p>
        </p:txBody>
      </p:sp>
      <p:sp>
        <p:nvSpPr>
          <p:cNvPr id="39" name="Cell 39"/>
          <p:cNvSpPr/>
          <p:nvPr/>
        </p:nvSpPr>
        <p:spPr>
          <a:xfrm>
            <a:off x="5913120" y="3291840"/>
            <a:ext cx="1188720" cy="365760"/>
          </a:xfrm>
          <a:prstGeom prst="rect">
            <a:avLst/>
          </a:prstGeom>
          <a:solidFill>
            <a:srgbClr val="FFF3D6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b="1" dirty="0">
                <a:solidFill>
                  <a:srgbClr val="172B4D"/>
                </a:solidFill>
                <a:latin typeface="Consolas"/>
              </a:rPr>
              <a:t>-0.09</a:t>
            </a:r>
          </a:p>
        </p:txBody>
      </p:sp>
      <p:sp>
        <p:nvSpPr>
          <p:cNvPr id="40" name="Cell 40"/>
          <p:cNvSpPr/>
          <p:nvPr/>
        </p:nvSpPr>
        <p:spPr>
          <a:xfrm>
            <a:off x="1158240" y="365760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b="1" dirty="0">
                <a:solidFill>
                  <a:srgbClr val="172B4D"/>
                </a:solidFill>
                <a:latin typeface="Consolas"/>
              </a:rPr>
              <a:t>up</a:t>
            </a:r>
          </a:p>
        </p:txBody>
      </p:sp>
      <p:sp>
        <p:nvSpPr>
          <p:cNvPr id="41" name="Cell 41"/>
          <p:cNvSpPr/>
          <p:nvPr/>
        </p:nvSpPr>
        <p:spPr>
          <a:xfrm>
            <a:off x="2346960" y="365760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-0.31</a:t>
            </a:r>
          </a:p>
        </p:txBody>
      </p:sp>
      <p:sp>
        <p:nvSpPr>
          <p:cNvPr id="42" name="Cell 42"/>
          <p:cNvSpPr/>
          <p:nvPr/>
        </p:nvSpPr>
        <p:spPr>
          <a:xfrm>
            <a:off x="3535680" y="365760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0.67</a:t>
            </a:r>
          </a:p>
        </p:txBody>
      </p:sp>
      <p:sp>
        <p:nvSpPr>
          <p:cNvPr id="43" name="Cell 43"/>
          <p:cNvSpPr/>
          <p:nvPr/>
        </p:nvSpPr>
        <p:spPr>
          <a:xfrm>
            <a:off x="4724400" y="365760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0.11</a:t>
            </a:r>
          </a:p>
        </p:txBody>
      </p:sp>
      <p:sp>
        <p:nvSpPr>
          <p:cNvPr id="44" name="Cell 44"/>
          <p:cNvSpPr/>
          <p:nvPr/>
        </p:nvSpPr>
        <p:spPr>
          <a:xfrm>
            <a:off x="5913120" y="365760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0.28</a:t>
            </a:r>
          </a:p>
        </p:txBody>
      </p:sp>
      <p:sp>
        <p:nvSpPr>
          <p:cNvPr id="45" name="Cell 45"/>
          <p:cNvSpPr/>
          <p:nvPr/>
        </p:nvSpPr>
        <p:spPr>
          <a:xfrm>
            <a:off x="1158240" y="4023360"/>
            <a:ext cx="1188720" cy="3657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b="1" dirty="0">
                <a:solidFill>
                  <a:srgbClr val="172B4D"/>
                </a:solidFill>
                <a:latin typeface="Consolas"/>
              </a:rPr>
              <a:t>in</a:t>
            </a:r>
          </a:p>
        </p:txBody>
      </p:sp>
      <p:sp>
        <p:nvSpPr>
          <p:cNvPr id="46" name="Cell 46"/>
          <p:cNvSpPr/>
          <p:nvPr/>
        </p:nvSpPr>
        <p:spPr>
          <a:xfrm>
            <a:off x="2346960" y="4023360"/>
            <a:ext cx="1188720" cy="3657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0.08</a:t>
            </a:r>
          </a:p>
        </p:txBody>
      </p:sp>
      <p:sp>
        <p:nvSpPr>
          <p:cNvPr id="47" name="Cell 47"/>
          <p:cNvSpPr/>
          <p:nvPr/>
        </p:nvSpPr>
        <p:spPr>
          <a:xfrm>
            <a:off x="3535680" y="4023360"/>
            <a:ext cx="1188720" cy="3657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-0.15</a:t>
            </a:r>
          </a:p>
        </p:txBody>
      </p:sp>
      <p:sp>
        <p:nvSpPr>
          <p:cNvPr id="48" name="Cell 48"/>
          <p:cNvSpPr/>
          <p:nvPr/>
        </p:nvSpPr>
        <p:spPr>
          <a:xfrm>
            <a:off x="4724400" y="4023360"/>
            <a:ext cx="1188720" cy="3657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0.22</a:t>
            </a:r>
          </a:p>
        </p:txBody>
      </p:sp>
      <p:sp>
        <p:nvSpPr>
          <p:cNvPr id="49" name="Cell 49"/>
          <p:cNvSpPr/>
          <p:nvPr/>
        </p:nvSpPr>
        <p:spPr>
          <a:xfrm>
            <a:off x="5913120" y="4023360"/>
            <a:ext cx="1188720" cy="3657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0.64</a:t>
            </a:r>
          </a:p>
        </p:txBody>
      </p:sp>
      <p:sp>
        <p:nvSpPr>
          <p:cNvPr id="50" name="Cell 50"/>
          <p:cNvSpPr/>
          <p:nvPr/>
        </p:nvSpPr>
        <p:spPr>
          <a:xfrm>
            <a:off x="1158240" y="438912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b="1" dirty="0">
                <a:solidFill>
                  <a:srgbClr val="172B4D"/>
                </a:solidFill>
                <a:latin typeface="Consolas"/>
              </a:rPr>
              <a:t>chicago</a:t>
            </a:r>
          </a:p>
        </p:txBody>
      </p:sp>
      <p:sp>
        <p:nvSpPr>
          <p:cNvPr id="51" name="Cell 51"/>
          <p:cNvSpPr/>
          <p:nvPr/>
        </p:nvSpPr>
        <p:spPr>
          <a:xfrm>
            <a:off x="2346960" y="438912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0.41</a:t>
            </a:r>
          </a:p>
        </p:txBody>
      </p:sp>
      <p:sp>
        <p:nvSpPr>
          <p:cNvPr id="52" name="Cell 52"/>
          <p:cNvSpPr/>
          <p:nvPr/>
        </p:nvSpPr>
        <p:spPr>
          <a:xfrm>
            <a:off x="3535680" y="438912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0.12</a:t>
            </a:r>
          </a:p>
        </p:txBody>
      </p:sp>
      <p:sp>
        <p:nvSpPr>
          <p:cNvPr id="53" name="Cell 53"/>
          <p:cNvSpPr/>
          <p:nvPr/>
        </p:nvSpPr>
        <p:spPr>
          <a:xfrm>
            <a:off x="4724400" y="438912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-0.33</a:t>
            </a:r>
          </a:p>
        </p:txBody>
      </p:sp>
      <p:sp>
        <p:nvSpPr>
          <p:cNvPr id="54" name="Cell 54"/>
          <p:cNvSpPr/>
          <p:nvPr/>
        </p:nvSpPr>
        <p:spPr>
          <a:xfrm>
            <a:off x="5913120" y="438912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0.57</a:t>
            </a:r>
          </a:p>
        </p:txBody>
      </p:sp>
      <p:sp>
        <p:nvSpPr>
          <p:cNvPr id="55" name="Cell 55"/>
          <p:cNvSpPr/>
          <p:nvPr/>
        </p:nvSpPr>
        <p:spPr>
          <a:xfrm>
            <a:off x="1158240" y="4754880"/>
            <a:ext cx="1188720" cy="3657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b="1" dirty="0">
                <a:solidFill>
                  <a:srgbClr val="172B4D"/>
                </a:solidFill>
                <a:latin typeface="Consolas"/>
              </a:rPr>
              <a:t>?</a:t>
            </a:r>
          </a:p>
        </p:txBody>
      </p:sp>
      <p:sp>
        <p:nvSpPr>
          <p:cNvPr id="56" name="Cell 56"/>
          <p:cNvSpPr/>
          <p:nvPr/>
        </p:nvSpPr>
        <p:spPr>
          <a:xfrm>
            <a:off x="2346960" y="4754880"/>
            <a:ext cx="1188720" cy="3657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-0.07</a:t>
            </a:r>
          </a:p>
        </p:txBody>
      </p:sp>
      <p:sp>
        <p:nvSpPr>
          <p:cNvPr id="57" name="Cell 57"/>
          <p:cNvSpPr/>
          <p:nvPr/>
        </p:nvSpPr>
        <p:spPr>
          <a:xfrm>
            <a:off x="3535680" y="4754880"/>
            <a:ext cx="1188720" cy="3657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0.04</a:t>
            </a:r>
          </a:p>
        </p:txBody>
      </p:sp>
      <p:sp>
        <p:nvSpPr>
          <p:cNvPr id="58" name="Cell 58"/>
          <p:cNvSpPr/>
          <p:nvPr/>
        </p:nvSpPr>
        <p:spPr>
          <a:xfrm>
            <a:off x="4724400" y="4754880"/>
            <a:ext cx="1188720" cy="3657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0.19</a:t>
            </a:r>
          </a:p>
        </p:txBody>
      </p:sp>
      <p:sp>
        <p:nvSpPr>
          <p:cNvPr id="59" name="Cell 59"/>
          <p:cNvSpPr/>
          <p:nvPr/>
        </p:nvSpPr>
        <p:spPr>
          <a:xfrm>
            <a:off x="5913120" y="4754880"/>
            <a:ext cx="1188720" cy="3657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txBody>
          <a:bodyPr lIns="27432" tIns="27432" rIns="27432" bIns="27432" rtlCol="0" anchor="ctr"/>
          <a:lstStyle/>
          <a:p>
            <a:pPr algn="ctr">
              <a:defRPr sz="980"/>
            </a:pPr>
            <a:r>
              <a:rPr sz="980" dirty="0">
                <a:solidFill>
                  <a:srgbClr val="172B4D"/>
                </a:solidFill>
                <a:latin typeface="Consolas"/>
              </a:rPr>
              <a:t>-0.22</a:t>
            </a:r>
          </a:p>
        </p:txBody>
      </p:sp>
      <p:sp>
        <p:nvSpPr>
          <p:cNvPr id="80" name="Shape Label"/>
          <p:cNvSpPr/>
          <p:nvPr/>
        </p:nvSpPr>
        <p:spPr>
          <a:xfrm>
            <a:off x="1158240" y="5212080"/>
            <a:ext cx="59436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CAD"/>
            </a:solidFill>
          </a:ln>
        </p:spPr>
        <p:txBody>
          <a:bodyPr lIns="45720" tIns="45720" rIns="45720" bIns="45720" rtlCol="0" anchor="ctr"/>
          <a:lstStyle/>
          <a:p>
            <a:pPr algn="ctr">
              <a:defRPr sz="1450"/>
            </a:pPr>
            <a:r>
              <a:rPr sz="1450" b="1" dirty="0">
                <a:solidFill>
                  <a:srgbClr val="0B2F5B"/>
                </a:solidFill>
                <a:latin typeface="Consolas"/>
              </a:rPr>
              <a:t>activation tensor shape = [7 token positions, 4 vector dimensions]</a:t>
            </a:r>
          </a:p>
        </p:txBody>
      </p:sp>
      <p:sp>
        <p:nvSpPr>
          <p:cNvPr id="81" name="Bridge"/>
          <p:cNvSpPr/>
          <p:nvPr/>
        </p:nvSpPr>
        <p:spPr>
          <a:xfrm>
            <a:off x="7437120" y="5212080"/>
            <a:ext cx="3657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2E6"/>
            </a:solidFill>
          </a:ln>
        </p:spPr>
        <p:txBody>
          <a:bodyPr lIns="91440" tIns="91440" rIns="91440" bIns="91440" rtlCol="0" anchor="ctr"/>
          <a:lstStyle/>
          <a:p>
            <a:pPr algn="ctr">
              <a:defRPr sz="1500"/>
            </a:pPr>
            <a:r>
              <a:rPr sz="1500" b="1" dirty="0">
                <a:solidFill>
                  <a:srgbClr val="172B4D"/>
                </a:solidFill>
                <a:latin typeface="Aptos"/>
              </a:rPr>
              <a:t>Next session: how layers transform this tensor.</a:t>
            </a:r>
          </a:p>
        </p:txBody>
      </p:sp>
      <p:sp>
        <p:nvSpPr>
          <p:cNvPr id="90" name="Footer"/>
          <p:cNvSpPr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  <a:ln/>
        </p:spPr>
        <p:txBody>
          <a:bodyPr lIns="0" tIns="0" rIns="0" bIns="0" rtlCol="0" anchor="t"/>
          <a:lstStyle/>
          <a:p>
            <a:pPr algn="r">
              <a:defRPr sz="850"/>
            </a:pPr>
            <a:r>
              <a:rPr sz="850" dirty="0">
                <a:solidFill>
                  <a:srgbClr val="6B778C"/>
                </a:solidFill>
                <a:latin typeface="Aptos"/>
              </a:rPr>
              <a:t>MAGPAI Session 1 - Tokens - v1.0 | javaboy-vk | 2026-05-22 |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GPAI From Question to Insight"/>
          <p:cNvPicPr/>
          <p:nvPr/>
        </p:nvPicPr>
        <p:blipFill>
          <a:blip r:embed="rId2"/>
          <a:stretch>
            <a:fillRect/>
          </a:stretch>
        </p:blipFill>
        <p:spPr>
          <a:xfrm>
            <a:off x="1466850" y="274320"/>
            <a:ext cx="9258300" cy="6172200"/>
          </a:xfrm>
          <a:prstGeom prst="rect">
            <a:avLst/>
          </a:prstGeom>
        </p:spPr>
      </p:pic>
      <p:sp>
        <p:nvSpPr>
          <p:cNvPr id="3" name="Footer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  <a:ln/>
        </p:spPr>
        <p:txBody>
          <a:bodyPr lIns="0" tIns="0" rIns="0" bIns="0" rtlCol="0" anchor="t"/>
          <a:lstStyle/>
          <a:p>
            <a:pPr algn="r"/>
            <a:r>
              <a:rPr sz="850" dirty="0">
                <a:solidFill>
                  <a:srgbClr val="6B778C"/>
                </a:solidFill>
                <a:latin typeface="Aptos"/>
              </a:rPr>
              <a:t>MAGPAI Session 1 - Tokens - v1.0 | javaboy-vk | 2026-05-22 |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F5B"/>
                </a:solidFill>
              </a:defRPr>
            </a:pPr>
            <a:r>
              <a:t>Live Demo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2616B"/>
                </a:solidFill>
              </a:defRPr>
            </a:pPr>
            <a:r>
              <a:t>VS Code runs the demos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481" y="1188720"/>
            <a:ext cx="11887200" cy="1280160"/>
          </a:xfrm>
          <a:prstGeom prst="roundRect">
            <a:avLst/>
          </a:prstGeom>
          <a:solidFill>
            <a:srgbClr val="F5F8FC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82880" rtlCol="0" anchor="ctr"/>
          <a:lstStyle/>
          <a:p>
            <a:pPr algn="ctr">
              <a:defRPr sz="2500">
                <a:solidFill>
                  <a:srgbClr val="172B4D"/>
                </a:solidFill>
                <a:latin typeface="Consolas"/>
              </a:defRPr>
            </a:pPr>
            <a:r>
              <a:rPr dirty="0"/>
              <a:t>Sentence ? Tokens ? Token IDs ? Embedding Table ? Input</a:t>
            </a:r>
            <a:r>
              <a:rPr lang="en-US" dirty="0"/>
              <a:t> </a:t>
            </a:r>
            <a:r>
              <a:rPr dirty="0"/>
              <a:t>Tensor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834640"/>
            <a:ext cx="32004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rtlCol="0" anchor="ctr"/>
          <a:lstStyle/>
          <a:p>
            <a:pPr algn="ctr">
              <a:defRPr sz="1800" b="1">
                <a:solidFill>
                  <a:srgbClr val="0B2F5B"/>
                </a:solidFill>
              </a:defRPr>
            </a:pPr>
            <a:r>
              <a:t>Demo 1</a:t>
            </a:r>
          </a:p>
          <a:p>
            <a:pPr>
              <a:spcAft>
                <a:spcPts val="200"/>
              </a:spcAft>
              <a:defRPr sz="1700">
                <a:solidFill>
                  <a:srgbClr val="172B4D"/>
                </a:solidFill>
              </a:defRPr>
            </a:pPr>
            <a:r>
              <a:t>token_demo.py</a:t>
            </a:r>
          </a:p>
          <a:p>
            <a:pPr>
              <a:spcAft>
                <a:spcPts val="200"/>
              </a:spcAft>
              <a:defRPr sz="1700">
                <a:solidFill>
                  <a:srgbClr val="172B4D"/>
                </a:solidFill>
              </a:defRPr>
            </a:pPr>
            <a:r>
              <a:t>Terminal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834640"/>
            <a:ext cx="32004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rtlCol="0" anchor="ctr"/>
          <a:lstStyle/>
          <a:p>
            <a:pPr algn="ctr">
              <a:defRPr sz="1800" b="1">
                <a:solidFill>
                  <a:srgbClr val="0B2F5B"/>
                </a:solidFill>
              </a:defRPr>
            </a:pPr>
            <a:r>
              <a:t>Demo 2</a:t>
            </a:r>
          </a:p>
          <a:p>
            <a:pPr>
              <a:spcAft>
                <a:spcPts val="200"/>
              </a:spcAft>
              <a:defRPr sz="1700">
                <a:solidFill>
                  <a:srgbClr val="172B4D"/>
                </a:solidFill>
              </a:defRPr>
            </a:pPr>
            <a:r>
              <a:t>token_streamlit_app.py</a:t>
            </a:r>
          </a:p>
          <a:p>
            <a:pPr>
              <a:spcAft>
                <a:spcPts val="200"/>
              </a:spcAft>
              <a:defRPr sz="1700">
                <a:solidFill>
                  <a:srgbClr val="172B4D"/>
                </a:solidFill>
              </a:defRPr>
            </a:pPr>
            <a:r>
              <a:t>Visual 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834640"/>
            <a:ext cx="32004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rtlCol="0" anchor="ctr"/>
          <a:lstStyle/>
          <a:p>
            <a:pPr algn="ctr">
              <a:defRPr sz="1800" b="1">
                <a:solidFill>
                  <a:srgbClr val="0B2F5B"/>
                </a:solidFill>
              </a:defRPr>
            </a:pPr>
            <a:r>
              <a:t>Demo 3</a:t>
            </a:r>
          </a:p>
          <a:p>
            <a:pPr>
              <a:spcAft>
                <a:spcPts val="200"/>
              </a:spcAft>
              <a:defRPr sz="1700">
                <a:solidFill>
                  <a:srgbClr val="172B4D"/>
                </a:solidFill>
              </a:defRPr>
            </a:pPr>
            <a:r>
              <a:t>embedding_lookup_linear_algebra_demo.py</a:t>
            </a:r>
          </a:p>
          <a:p>
            <a:pPr>
              <a:spcAft>
                <a:spcPts val="200"/>
              </a:spcAft>
              <a:defRPr sz="1700">
                <a:solidFill>
                  <a:srgbClr val="172B4D"/>
                </a:solidFill>
              </a:defRPr>
            </a:pPr>
            <a:r>
              <a:t>Lookup vs matrix multiply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16B"/>
                </a:solidFill>
              </a:defRPr>
            </a:pPr>
            <a:r>
              <a:t>MAGPAI Session 1 - Tokens - v1.0 | javaboy-vk | 2026-05-22 |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F5B"/>
                </a:solidFill>
              </a:defRPr>
            </a:pPr>
            <a:r>
              <a:t>Audience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2616B"/>
                </a:solidFill>
              </a:defRPr>
            </a:pPr>
            <a:r>
              <a:t>The first stable mental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424160" cy="1097280"/>
          </a:xfrm>
          <a:prstGeom prst="roundRect">
            <a:avLst/>
          </a:prstGeom>
          <a:solidFill>
            <a:srgbClr val="F5F8FC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82880" rtlCol="0" anchor="ctr"/>
          <a:lstStyle/>
          <a:p>
            <a:pPr algn="ctr">
              <a:defRPr sz="2700">
                <a:solidFill>
                  <a:srgbClr val="172B4D"/>
                </a:solidFill>
                <a:latin typeface="Consolas"/>
              </a:defRPr>
            </a:pPr>
            <a:r>
              <a:t>A model never sees “sales” as a word.</a:t>
            </a:r>
            <a:br/>
            <a:r>
              <a:t>It sees a numeric pattern.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71800"/>
            <a:ext cx="10424160" cy="1600200"/>
          </a:xfrm>
          <a:prstGeom prst="roundRect">
            <a:avLst/>
          </a:prstGeom>
          <a:solidFill>
            <a:srgbClr val="F5F8FC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82880" rtlCol="0" anchor="ctr"/>
          <a:lstStyle/>
          <a:p>
            <a:pPr algn="ctr">
              <a:defRPr sz="2200">
                <a:solidFill>
                  <a:srgbClr val="172B4D"/>
                </a:solidFill>
                <a:latin typeface="Consolas"/>
              </a:defRPr>
            </a:pPr>
            <a:r>
              <a:rPr dirty="0"/>
              <a:t>Text becomes tokens.</a:t>
            </a:r>
            <a:br>
              <a:rPr dirty="0"/>
            </a:br>
            <a:r>
              <a:rPr dirty="0"/>
              <a:t>Tokens become IDs.</a:t>
            </a:r>
            <a:br>
              <a:rPr dirty="0"/>
            </a:br>
            <a:r>
              <a:rPr dirty="0"/>
              <a:t>IDs become vectors.</a:t>
            </a:r>
            <a:br>
              <a:rPr dirty="0"/>
            </a:br>
            <a:r>
              <a:rPr dirty="0"/>
              <a:t>Vectors become an </a:t>
            </a:r>
            <a:r>
              <a:rPr lang="en-US" dirty="0"/>
              <a:t>input tensor for the NN </a:t>
            </a:r>
            <a:r>
              <a:rPr dirty="0"/>
              <a:t>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16B"/>
                </a:solidFill>
              </a:defRPr>
            </a:pPr>
            <a:r>
              <a:t>MAGPAI Session 1 - Tokens - v1.0 | javaboy-vk | 2026-05-22 | Slide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1373</Words>
  <Application>Microsoft Office PowerPoint</Application>
  <PresentationFormat>Widescreen</PresentationFormat>
  <Paragraphs>183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Consolas</vt:lpstr>
      <vt:lpstr>Wingdings</vt:lpstr>
      <vt:lpstr>Office Theme</vt:lpstr>
      <vt:lpstr>MAGPAI   ( mag practical AI , pronounced (/ˈmæɡ.paɪ/) 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Vasilis Katsoulis</cp:lastModifiedBy>
  <cp:revision>5</cp:revision>
  <dcterms:created xsi:type="dcterms:W3CDTF">2013-01-27T09:14:16Z</dcterms:created>
  <dcterms:modified xsi:type="dcterms:W3CDTF">2026-05-24T21:53:48Z</dcterms:modified>
  <cp:category/>
</cp:coreProperties>
</file>