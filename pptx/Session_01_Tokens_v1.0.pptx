
<file path=[Content_Types].xml><?xml version="1.0" encoding="utf-8"?>
<ns0:Types xmlns:ns0="http://schemas.openxmlformats.org/package/2006/content-types">
  <ns0:Default Extension="emf" ContentType="image/x-emf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ppt/slides/slide20.xml" ContentType="application/vnd.openxmlformats-officedocument.presentationml.slide+xml"/>
</ns0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8" r:id="rId11"/>
    <p:sldId id="275" r:id="rId25"/>
    <p:sldId id="261" r:id="rId12"/>
    <p:sldId id="269" r:id="rId13"/>
    <p:sldId id="262" r:id="rId14"/>
    <p:sldId id="263" r:id="rId15"/>
    <p:sldId id="270" r:id="rId16"/>
    <p:sldId id="271" r:id="rId17"/>
    <p:sldId id="272" r:id="rId18"/>
    <p:sldId id="264" r:id="rId19"/>
    <p:sldId id="26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2160">
          <ns3:clr>
            <a:srgbClr val="A4A3A4"/>
          </ns3:clr>
        </ns3:guide>
        <ns3:guide id="2" pos="2880">
          <ns3:clr>
            <a:srgbClr val="A4A3A4"/>
          </ns3:clr>
        </ns3:guide>
      </ns3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298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3" Type="http://schemas.openxmlformats.org/officeDocument/2006/relationships/slide" Target="slides/slide2.xml" /><Relationship Id="rId21" Type="http://schemas.openxmlformats.org/officeDocument/2006/relationships/presProps" Target="presProps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tableStyles" Target="tableStyles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theme" Target="theme/theme1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viewProps" Target="viewProps.xml" /><Relationship Id="rId25" Type="http://schemas.openxmlformats.org/officeDocument/2006/relationships/slide" Target="slides/slide20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1" y="5564188"/>
            <a:ext cx="5486400" cy="10720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AI Under the Hood</a:t>
            </a:r>
          </a:p>
          <a:p>
            <a:r>
              <a:rPr lang="en-US" dirty="0"/>
              <a:t>Text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Tokens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Vectors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Model Input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8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</a:t>
            </a:r>
            <a:r>
              <a:rPr lang="en-US" dirty="0"/>
              <a:t>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55778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During inference, we do not calculate these numbers from spelling. 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10</a:t>
            </a:r>
          </a:p>
        </p:txBody>
      </p:sp>
      <p:sp>
        <p:nvSpPr>
          <p:cNvPr id="9" name="Definition">
            <a:extLst>
              <a:ext uri="{FF2B5EF4-FFF2-40B4-BE49-F238E27FC236}">
                <a16:creationId xmlns:a16="http://schemas.microsoft.com/office/drawing/2014/main" id="{0FCD2D10-DB6A-EBB2-1E45-F3B0AF2ABB4B}"/>
              </a:ext>
            </a:extLst>
          </p:cNvPr>
          <p:cNvSpPr/>
          <p:nvPr/>
        </p:nvSpPr>
        <p:spPr>
          <a:xfrm>
            <a:off x="822959" y="3831882"/>
            <a:ext cx="9784081" cy="1654518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A neural network contains a gigantic Embedding table matrix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Example dimensions:  Vocabulary size * Embedding dimension</a:t>
            </a: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GPT4                                            100,256          *               1,536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Meaning: each token is represented by 1,536 floating point numbers</a:t>
            </a:r>
            <a:endParaRPr lang="en-US" sz="1550" dirty="0">
              <a:latin typeface="Aptos" panose="020B0004020202020204" pitchFamily="34" charset="0"/>
            </a:endParaRPr>
          </a:p>
          <a:p>
            <a:pPr algn="l">
              <a:defRPr sz="1750"/>
            </a:pPr>
            <a:endParaRPr sz="1750" dirty="0">
              <a:solidFill>
                <a:srgbClr val="0B2F5B"/>
              </a:solidFill>
              <a:latin typeface="Aptos"/>
            </a:endParaRPr>
          </a:p>
          <a:p>
            <a:pPr algn="l">
              <a:defRPr sz="15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288128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62C980-9521-DFEE-0DCD-FEEC67E8FE40}"/>
              </a:ext>
            </a:extLst>
          </p:cNvPr>
          <p:cNvSpPr/>
          <p:nvPr/>
        </p:nvSpPr>
        <p:spPr>
          <a:xfrm>
            <a:off x="883920" y="3307531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lang="en-US" dirty="0"/>
              <a:t>Conceptually: </a:t>
            </a:r>
            <a:r>
              <a:rPr lang="en-US" dirty="0" err="1"/>
              <a:t>EmbeddingMatrix</a:t>
            </a:r>
            <a:r>
              <a:rPr lang="en-US" dirty="0"/>
              <a:t>[ </a:t>
            </a:r>
            <a:r>
              <a:rPr lang="en-US" dirty="0" err="1"/>
              <a:t>token_id</a:t>
            </a:r>
            <a:r>
              <a:rPr lang="en-US" dirty="0"/>
              <a:t> ] returns a vector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3774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</a:t>
            </a:r>
            <a:r>
              <a:rPr lang="en-US" sz="1500" dirty="0">
                <a:solidFill>
                  <a:srgbClr val="172B4D"/>
                </a:solidFill>
                <a:latin typeface="Consolas"/>
              </a:rPr>
              <a:t> Vector</a:t>
            </a:r>
            <a:r>
              <a:rPr sz="1500" dirty="0">
                <a:solidFill>
                  <a:srgbClr val="172B4D"/>
                </a:solidFill>
                <a:latin typeface="Consolas"/>
              </a:rPr>
              <a:t>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4346840"/>
            <a:ext cx="9966960" cy="1807072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  <a:endParaRPr lang="en-US" sz="185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The values are learned, then selected by ID.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lang="en-US" sz="1700" dirty="0">
                <a:solidFill>
                  <a:srgbClr val="172B4D"/>
                </a:solidFill>
                <a:latin typeface="Aptos"/>
              </a:rPr>
              <a:t>The word “Sales” </a:t>
            </a:r>
            <a:r>
              <a:rPr lang="en-US"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now is a point in multidimensional space</a:t>
            </a:r>
            <a:r>
              <a:rPr lang="en-US" sz="1700" dirty="0">
                <a:solidFill>
                  <a:srgbClr val="172B4D"/>
                </a:solidFill>
                <a:latin typeface="Aptos"/>
              </a:rPr>
              <a:t>.</a:t>
            </a:r>
            <a:endParaRPr sz="17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integer </a:t>
            </a:r>
            <a:r>
              <a:rPr lang="en-US" dirty="0"/>
              <a:t>3</a:t>
            </a:r>
            <a:r>
              <a:rPr dirty="0"/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0, 0, 1, 0, 0, 0, 0] x E</a:t>
            </a:r>
            <a:br/>
            <a:r>
              <a:t>=</a:t>
            </a:r>
            <a:br/>
            <a:r>
              <a:t>[-0.62, 0.18,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9966960" y="2103120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NN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9144000" y="310896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5943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81" name="Bridge"/>
          <p:cNvSpPr/>
          <p:nvPr/>
        </p:nvSpPr>
        <p:spPr>
          <a:xfrm>
            <a:off x="7437120" y="5212080"/>
            <a:ext cx="3657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/>
            </a:pPr>
            <a:r>
              <a:rPr sz="1500" b="1" dirty="0">
                <a:solidFill>
                  <a:srgbClr val="172B4D"/>
                </a:solidFill>
                <a:latin typeface="Aptos"/>
              </a:rPr>
              <a:t>Next session: how layers transform this tensor.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481" y="1188720"/>
            <a:ext cx="1188720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Sentence ? Tokens ? Token IDs ? Embedding Table ? Input</a:t>
            </a:r>
            <a:r>
              <a:rPr lang="en-US" dirty="0"/>
              <a:t> </a:t>
            </a:r>
            <a:r>
              <a:rPr dirty="0"/>
              <a:t>Tensor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2600"/>
            </a:pPr>
            <a:r>
              <a:rPr sz="2600" b="1" dirty="0">
                <a:solidFill>
                  <a:srgbClr val="0B2F5B"/>
                </a:solidFill>
                <a:latin typeface="Aptos"/>
              </a:rPr>
              <a:t>Embeddings: Learned Geometric Coordinates of Meaning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94360" y="777240"/>
            <a:ext cx="1082040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550"/>
            </a:pPr>
            <a:r>
              <a:rPr sz="1550" dirty="0">
                <a:solidFill>
                  <a:srgbClr val="52616B"/>
                </a:solidFill>
                <a:latin typeface="Aptos"/>
              </a:rPr>
              <a:t>Training turns random vectors into a map where distance carries semantics.</a:t>
            </a:r>
          </a:p>
        </p:txBody>
      </p:sp>
      <p:sp>
        <p:nvSpPr>
          <p:cNvPr id="4" name="Initially Random"/>
          <p:cNvSpPr/>
          <p:nvPr/>
        </p:nvSpPr>
        <p:spPr>
          <a:xfrm>
            <a:off x="640080" y="1280160"/>
            <a:ext cx="329184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Initially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MAG  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sales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Chicago = [random garbage]</a:t>
            </a:r>
          </a:p>
        </p:txBody>
      </p:sp>
      <p:sp>
        <p:nvSpPr>
          <p:cNvPr id="5" name="Training Contexts"/>
          <p:cNvSpPr/>
          <p:nvPr/>
        </p:nvSpPr>
        <p:spPr>
          <a:xfrm>
            <a:off x="4389120" y="1280160"/>
            <a:ext cx="320040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During training</a:t>
            </a:r>
          </a:p>
          <a:p>
            <a:pPr algn="l">
              <a:defRPr sz="1350"/>
            </a:pPr>
            <a:r>
              <a:rPr sz="1350" dirty="0">
                <a:solidFill>
                  <a:srgbClr val="172B4D"/>
                </a:solidFill>
                <a:latin typeface="Consolas"/>
              </a:rPr>
              <a:t>sales up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sales increased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revenue growth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Chicago region</a:t>
            </a:r>
          </a:p>
        </p:txBody>
      </p:sp>
      <p:sp>
        <p:nvSpPr>
          <p:cNvPr id="6" name="Geometry Meaning"/>
          <p:cNvSpPr/>
          <p:nvPr/>
        </p:nvSpPr>
        <p:spPr>
          <a:xfrm>
            <a:off x="8138160" y="1280160"/>
            <a:ext cx="3200400" cy="1737360"/>
          </a:xfrm>
          <a:prstGeom prst="roundRect">
            <a:avLst/>
          </a:prstGeom>
          <a:solidFill>
            <a:srgbClr val="EAF3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Backprop moves vectors</a:t>
            </a:r>
          </a:p>
          <a:p>
            <a:pPr algn="l">
              <a:defRPr sz="1375"/>
            </a:pPr>
            <a:r>
              <a:rPr sz="1375" dirty="0">
                <a:solidFill>
                  <a:srgbClr val="172B4D"/>
                </a:solidFill>
                <a:latin typeface="Aptos"/>
              </a:rPr>
              <a:t>similar words move closer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unrelated words move apart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geometry stores meaning</a:t>
            </a:r>
          </a:p>
        </p:txBody>
      </p:sp>
      <p:sp>
        <p:nvSpPr>
          <p:cNvPr id="7" name="Visual Intuition"/>
          <p:cNvSpPr/>
          <p:nvPr/>
        </p:nvSpPr>
        <p:spPr>
          <a:xfrm>
            <a:off x="640080" y="3370320"/>
            <a:ext cx="5029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Visual intuition: distances encode relationships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king   (2, 9, 4)    queen  (2, 9, 5)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man    (1, 4, 3)    woman  (1, 4, 4)</a:t>
            </a:r>
          </a:p>
          <a:p>
            <a:pPr algn="l">
              <a:defRPr sz="1550"/>
            </a:pPr>
            <a:r>
              <a:rPr sz="1550" b="1" dirty="0">
                <a:solidFill>
                  <a:srgbClr val="0B5CAD"/>
                </a:solidFill>
                <a:latin typeface="Consolas"/>
              </a:rPr>
              <a:t>king - man + woman ~= queen</a:t>
            </a:r>
          </a:p>
        </p:txBody>
      </p:sp>
      <p:sp>
        <p:nvSpPr>
          <p:cNvPr id="8" name="Sentence Embeddings"/>
          <p:cNvSpPr/>
          <p:nvPr/>
        </p:nvSpPr>
        <p:spPr>
          <a:xfrm>
            <a:off x="5989320" y="3370320"/>
            <a:ext cx="5394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Sentence embeddings combine token vectors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Aptos"/>
              </a:rPr>
              <a:t>averaging | attention | transformers | pooling</a:t>
            </a:r>
          </a:p>
          <a:p>
            <a:pPr algn="l">
              <a:defRPr sz="1200"/>
            </a:pPr>
            <a:r>
              <a:rPr sz="1200" dirty="0">
                <a:solidFill>
                  <a:srgbClr val="172B4D"/>
                </a:solidFill>
                <a:latin typeface="Consolas"/>
              </a:rPr>
              <a:t>"MAG sales are up in Chicago"</a:t>
            </a:r>
            <a:br/>
            <a:r>
              <a:rPr sz="1200" dirty="0">
                <a:solidFill>
                  <a:srgbClr val="172B4D"/>
                </a:solidFill>
                <a:latin typeface="Consolas"/>
              </a:rPr>
              <a:t>-&gt; [0.192, -0.551, 0.882, ... 1536 dims ...]</a:t>
            </a:r>
          </a:p>
          <a:p>
            <a:pPr algn="l">
              <a:defRPr sz="1225"/>
            </a:pPr>
            <a:r>
              <a:rPr sz="1225" dirty="0">
                <a:solidFill>
                  <a:srgbClr val="52616B"/>
                </a:solidFill>
                <a:latin typeface="Aptos"/>
              </a:rPr>
              <a:t>captures business context, trend, location, and organization semantics</a:t>
            </a:r>
          </a:p>
        </p:txBody>
      </p:sp>
      <p:sp>
        <p:nvSpPr>
          <p:cNvPr id="9" name="Why This Works"/>
          <p:cNvSpPr/>
          <p:nvPr/>
        </p:nvSpPr>
        <p:spPr>
          <a:xfrm>
            <a:off x="914400" y="5791200"/>
            <a:ext cx="10393680" cy="5486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Why it works: language has statistical structure. Context patterns -&gt; geometric relationships. Foundation for Word2Vec, GloVe, BERT, GPT, and LLMs.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1429</Words>
  <Application>Microsoft Office PowerPoint</Application>
  <PresentationFormat>Widescreen</PresentationFormat>
  <Paragraphs>208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Consolas</vt:lpstr>
      <vt:lpstr>Wingdings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12</cp:revision>
  <dcterms:created xsi:type="dcterms:W3CDTF">2013-01-27T09:14:16Z</dcterms:created>
  <dcterms:modified xsi:type="dcterms:W3CDTF">2026-05-27T02:31:54Z</dcterms:modified>
  <cp:category/>
</cp:coreProperties>
</file>